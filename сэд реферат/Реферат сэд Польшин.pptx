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710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Тема моего реферата — «Нормативно-правовая база систем электронного документооборота». Систему электронного документооборота, или СЭД, можно описать как информационную систему, в которой документы создаются, согласуются, подписываются, исполняются и хранятся в электронном виде.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Начну с главной мысли: электронный документ сам по себе — просто файл. Юридическую силу ему дают закон, стандарты и правильно применённая электронная подпись. Для специалиста по информационным системам это не абстрактная теория: требования закона превращаются в требования к программе — обязательная регистрация документа, проверка подписи, журнал действий пользователей. Поэтому цель работы — понять, как устроена нормативная база СЭД и как она меняется.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Единого закона об электронном документообороте в России нет. Регулирование многоуровневое. Сверху — конституционные гарантии, например право свободно получать и передавать информацию и тайна переписки. Ниже — федеральные законы и кодексы. Затем акты Правительства и ведомств: Росархива, ФСТЭК, ФСБ, Минтруда. Ещё ниже — национальные стандарты ГОСТ Р, и на последнем уровне — локальные акты самой организации, например регламент документооборота.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базовых закона. Закон 149-ФЗ вводит само понятие электронного документа и определяет защиту информации. Закон 63-ФЗ регулирует электронную подпись. Закон 125-ФЗ — об архивном деле: он определяет, как документы хранятся и учитываются. И закон 152-ФЗ о персональных данных, потому что в кадровых и многих других документах они почти всегда есть.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Электронная подпись — центральный институт. Закон выделяет три вида. Простая подпись — это, например, логин и пароль; она признаётся только в случаях, которые установлены законом или соглашением сторон. Усиленная неквалифицированная создаётся с помощью криптографического ключа: по ней можно определить, кто подписал документ, и обнаружить любые изменения. Квалифицированная подпись выдаётся аккредитованным удостоверяющим центром и приравнивается к собственноручной подписи на бумаге. Именно она даёт документу наибольшую юридическую силу.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1 сентября 2023 года появилось важное правило: подпись физического лица, которое действует от имени организации, применяется вместе с машиночитаемой доверенностью — МЧД. Это электронная доверенность в формализованном виде, которую информационные системы проверяют автоматически. Для разработчика СЭД это значит, что система должна не только проверять саму подпись, но и хранить доверенности, проверять полномочия и учитывать их отзыв.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Работу с документами в органах власти регулируют приказы Росархива. Приказ номер 71 — это правила делопроизводства. Приказ 69 — типовые функциональные требования к СЭД и к системам хранения электронных документов. Приказ 77 — правила архивного хранения, где есть отдельная глава об электронных документах. Приказ 236 — перечень типовых документов со сроками хранения. И, что важно, приказом 91 в этом году в правила делопроизводства внесли изменения, они действуют с 23 августа 2026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отдельных видов документооборота свои правила. Кадровый электронный документооборот закреплён в статьях 22.1–22.3 Трудового кодекса; перейти на него — право работодателя, а не обязанность. В бухгалтерии и налогах допускаются электронные первичные документы и счета-фактуры, обычно через операторов электронного документооборота. Межведомственный обмен идёт через системы СМЭДО и СМЭВ. А в суде электронные документы признаются письменными доказательствами.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хранение и защита. Для документов на архивное хранение важны правила приказа 77: отдельный порядок для электронных документов, опись и акт конвертации — то есть преобразования файла из одного формата в другой. Подпись и метаданные нужно сохранять вместе с документом, потому что срок действия сертификата ограничен. Для СЭД государственных органов с 1 марта 2026 года действует приказ ФСТЭК номер 117, он заменил приказ номер 17. Для персональных данных пока применяется приказ ФСТЭК номер 21: проект нового приказа опубликован, но на конец сентября он не был зарегистрирован.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Нормативная база меняется быстро. С 18 августа 2025 года действует ГОСТ Р 7.0.97-2025 об оформлении организационно-распорядительных документов вместо версии 2016 года. С 1 марта 2026 — приказ ФСТЭК номер 117. С 23 августа 2026 — изменения в правилах делопроизводства. Поэтому организации нужен постоянный мониторинг, а настройки СЭД и локальные акты приходится регулярно обновлять.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итоги. Основные проблемы — разрозненность регулирования, вопросы совместимости систем, сложность долговременного хранения подписанных документов и высокая скорость изменений. Главный вывод: для специалиста по информационным системам знание нормативной базы — практическая необходимость. Именно оно позволяет правильно сформулировать требования к СЭД и избежать правовых рисков.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Готов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4101"/>
            <a:ext cx="10566400" cy="419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4101"/>
            <a:ext cx="10566400" cy="419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РЕФЕРАТ · </a:t>
            </a:r>
            <a:r>
              <a:rPr lang="ru-RU" sz="1200" b="1" dirty="0" smtClean="0">
                <a:solidFill>
                  <a:srgbClr val="E0A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Системы электронного документооборота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75620"/>
            <a:ext cx="10883392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4E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Нормативно-правовая база систем электронного документооборота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46615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Польшин Артем Денисович, </a:t>
            </a:r>
            <a:r>
              <a:rPr lang="en-US" sz="1600" dirty="0" smtClean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ИСИТ-О-24/4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81412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Ставропольский государственный </a:t>
            </a:r>
            <a:r>
              <a:rPr lang="en-US" sz="1300" dirty="0" err="1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аграрный</a:t>
            </a:r>
            <a:r>
              <a:rPr lang="en-US" sz="13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 err="1" smtClean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университет</a:t>
            </a:r>
            <a:r>
              <a:rPr lang="en-US" sz="1300" dirty="0" smtClean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3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ЦЕЛЬ РАБОТЫ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13792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Электронный документ без правовой базы остаётся файлом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54101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Цель: рассмотреть, как закон и стандарты регулируют создание, использование и хранение электронных документов в СЭД.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5975" y="2725837"/>
            <a:ext cx="3380284" cy="1603772"/>
          </a:xfrm>
          <a:prstGeom prst="roundRect">
            <a:avLst>
              <a:gd name="adj" fmla="val 6137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957612"/>
            <a:ext cx="30042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Закон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7750" y="3351312"/>
            <a:ext cx="300423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Определяет, что такое электронный документ и когда он имеет силу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09" y="2725837"/>
            <a:ext cx="3380383" cy="1603772"/>
          </a:xfrm>
          <a:prstGeom prst="roundRect">
            <a:avLst>
              <a:gd name="adj" fmla="val 6137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7584" y="2957612"/>
            <a:ext cx="30043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Подпись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37584" y="3351312"/>
            <a:ext cx="300433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Подтверждает, кто подписал документ и не менялся ли он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741" y="2725837"/>
            <a:ext cx="3380284" cy="1603772"/>
          </a:xfrm>
          <a:prstGeom prst="roundRect">
            <a:avLst>
              <a:gd name="adj" fmla="val 6137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7516" y="2957612"/>
            <a:ext cx="30042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Требования к СЭД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7516" y="3351312"/>
            <a:ext cx="300423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Регистрация, учёт, хранение и защита становятся функциями системы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Нормативно-правовая база систем электронного документооборота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092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6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СТРУКТУРА БАЗЫ</a:t>
            </a:r>
            <a:endParaRPr lang="en-US" sz="1088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9798"/>
            <a:ext cx="10883392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68"/>
              </a:lnSpc>
              <a:buNone/>
            </a:pPr>
            <a:r>
              <a:rPr lang="en-US" sz="2880" b="1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Регулирование строится на пяти уровнях</a:t>
            </a:r>
            <a:endParaRPr lang="en-US" sz="2880" dirty="0"/>
          </a:p>
        </p:txBody>
      </p:sp>
      <p:sp>
        <p:nvSpPr>
          <p:cNvPr id="4" name="Shape 2"/>
          <p:cNvSpPr/>
          <p:nvPr/>
        </p:nvSpPr>
        <p:spPr>
          <a:xfrm>
            <a:off x="815975" y="1787426"/>
            <a:ext cx="10560050" cy="734120"/>
          </a:xfrm>
          <a:prstGeom prst="roundRect">
            <a:avLst>
              <a:gd name="adj" fmla="val 11677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976636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1421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5750" y="1875135"/>
            <a:ext cx="317817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Конституция РФ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5750" y="2202755"/>
            <a:ext cx="370272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свобода информации, тайна переписки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5975" y="2616795"/>
            <a:ext cx="10052050" cy="734020"/>
          </a:xfrm>
          <a:prstGeom prst="roundRect">
            <a:avLst>
              <a:gd name="adj" fmla="val 11679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2350" y="280600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1421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5750" y="2704505"/>
            <a:ext cx="414170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Федеральные законы и кодексы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5750" y="3032125"/>
            <a:ext cx="355496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149-ФЗ, 63-ФЗ, 125-ФЗ, 152-ФЗ, ТК РФ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3446066"/>
            <a:ext cx="9544050" cy="734120"/>
          </a:xfrm>
          <a:prstGeom prst="roundRect">
            <a:avLst>
              <a:gd name="adj" fmla="val 11677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" y="3635276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1421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5750" y="3533775"/>
            <a:ext cx="409670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Акты Правительства и ведомств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5750" y="3861395"/>
            <a:ext cx="351633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Росархив, ФСТЭК, ФСБ, Минтруд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4275435"/>
            <a:ext cx="9036050" cy="734020"/>
          </a:xfrm>
          <a:prstGeom prst="roundRect">
            <a:avLst>
              <a:gd name="adj" fmla="val 11679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2350" y="446464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1421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5750" y="4363145"/>
            <a:ext cx="377315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Национальные стандарты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5750" y="4690765"/>
            <a:ext cx="43959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ГОСТ Р 7.0.97-2025, ГОСТ Р ИСО 15489-1-2019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975" y="5104705"/>
            <a:ext cx="8528050" cy="734120"/>
          </a:xfrm>
          <a:prstGeom prst="roundRect">
            <a:avLst>
              <a:gd name="adj" fmla="val 11677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2350" y="5293916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1421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5750" y="5192415"/>
            <a:ext cx="3734217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Локальные акты организации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5750" y="5520035"/>
            <a:ext cx="435054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регламент и инструкция по документообороту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Нормативно-правовая база систем электронного документооборота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092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ФЕДЕРАЛЬНЫЕ ЗАКОНЫ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Четыре базовых закона образуют основу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10553700" cy="2628800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Закон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Что регулирует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№ 149-ФЗ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Понятие электронного документа, обмен информацией, защита информации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№ 63-ФЗ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Виды электронной подписи, удостоверяющие центры, МЧД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№ 125-ФЗ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Архивное дело: хранение и учёт документов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№ 152-ФЗ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Обработка и защита персональных данных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Нормативно-правовая база систем электронного документооборота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1092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ЭЛЕКТРОННАЯ ПОДПИСЬ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Закон 63-ФЗ выделяет три вида подписи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276"/>
            <a:ext cx="3380284" cy="2464594"/>
          </a:xfrm>
          <a:prstGeom prst="roundRect">
            <a:avLst>
              <a:gd name="adj" fmla="val 3994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89051"/>
            <a:ext cx="30042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ПЭП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2391271"/>
            <a:ext cx="3004236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Простая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7750" y="2787452"/>
            <a:ext cx="300423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Коды и пароли. Признаётся, если это предусмотрено законом или соглашением сторон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09" y="1857276"/>
            <a:ext cx="3380383" cy="2464594"/>
          </a:xfrm>
          <a:prstGeom prst="roundRect">
            <a:avLst>
              <a:gd name="adj" fmla="val 3994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7584" y="2089051"/>
            <a:ext cx="300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НЭП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7584" y="2391271"/>
            <a:ext cx="300433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Усиленная неквалифицированная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37584" y="3094732"/>
            <a:ext cx="300433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Создаётся ключом ЭП. Определяет подписавшего и выявляет изменения в документе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41" y="1857276"/>
            <a:ext cx="3380284" cy="2464594"/>
          </a:xfrm>
          <a:prstGeom prst="roundRect">
            <a:avLst>
              <a:gd name="adj" fmla="val 3994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7516" y="2089051"/>
            <a:ext cx="30042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КЭП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7516" y="2391271"/>
            <a:ext cx="30042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6F4E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Усиленная квалифицированная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7516" y="3094732"/>
            <a:ext cx="3004236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Сертификат выдан аккредитованным УЦ. Равнозначна собственноручной подписи на бумаге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Нормативно-правовая база систем электронного документооборота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092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ВАЖНОЕ НОВШЕСТВО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E0A04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С 1 сентября 2023 года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001441"/>
            <a:ext cx="10883392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2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подпись физического лица от имени организации применяется вместе с машиночитаемой доверенностью (МЧД)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2908102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МЧД — электронная доверенность в формализованном виде, полномочия по которой информационные системы проверяют автоматически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5975" y="5210175"/>
            <a:ext cx="3414117" cy="628650"/>
          </a:xfrm>
          <a:prstGeom prst="roundRect">
            <a:avLst>
              <a:gd name="adj" fmla="val 13636"/>
            </a:avLst>
          </a:prstGeom>
          <a:noFill/>
          <a:ln w="6350">
            <a:solidFill>
              <a:srgbClr val="3A4A73"/>
            </a:solidFill>
            <a:prstDash val="solid"/>
          </a:ln>
        </p:spPr>
        <p:txBody>
          <a:bodyPr wrap="square" lIns="181267" tIns="155867" rIns="91226" bIns="13046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Хранить доверенности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8842" y="5210175"/>
            <a:ext cx="3414216" cy="628650"/>
          </a:xfrm>
          <a:prstGeom prst="roundRect">
            <a:avLst>
              <a:gd name="adj" fmla="val 13636"/>
            </a:avLst>
          </a:prstGeom>
          <a:noFill/>
          <a:ln w="6350">
            <a:solidFill>
              <a:srgbClr val="3A4A73"/>
            </a:solidFill>
            <a:prstDash val="solid"/>
          </a:ln>
        </p:spPr>
        <p:txBody>
          <a:bodyPr wrap="square" lIns="181267" tIns="155867" rIns="91223" bIns="13046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Проверять полномочия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61809" y="5210175"/>
            <a:ext cx="3414216" cy="628650"/>
          </a:xfrm>
          <a:prstGeom prst="roundRect">
            <a:avLst>
              <a:gd name="adj" fmla="val 13636"/>
            </a:avLst>
          </a:prstGeom>
          <a:noFill/>
          <a:ln w="6350">
            <a:solidFill>
              <a:srgbClr val="3A4A73"/>
            </a:solidFill>
            <a:prstDash val="solid"/>
          </a:ln>
        </p:spPr>
        <p:txBody>
          <a:bodyPr wrap="square" lIns="181267" tIns="155867" rIns="91223" bIns="13046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Учитывать отзыв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это значит для СЭД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092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ВЕДОМСТВЕННЫЕ АКТЫ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Работу с документами в органах власти задаёт Росархив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10553700" cy="3723480"/>
        </p:xfrm>
        <a:graphic>
          <a:graphicData uri="http://schemas.openxmlformats.org/drawingml/2006/table">
            <a:tbl>
              <a:tblPr/>
              <a:tblGrid>
                <a:gridCol w="274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9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Акт Росархива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Что устанавливает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2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Приказ № 71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Правила делопроизводства в государственных органах и органах местного самоуправления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2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Приказ № 69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Типовые функциональные требования к СЭД и системам хранения электронных документов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Приказ № 77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Правила хранения и учёта архивных документов, включая электронные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Приказ № 236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Перечень типовых управленческих документов со сроками хранения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Приказ № 91 (2026)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Изменения в Правила делопроизводства, действуют с 23.08.2026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Нормативно-правовая база систем электронного документооборота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1092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ВИДЫ ДОКУМЕНТООБОРОТА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У каждой сферы свои правила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276"/>
            <a:ext cx="5175250" cy="1631752"/>
          </a:xfrm>
          <a:prstGeom prst="roundRect">
            <a:avLst>
              <a:gd name="adj" fmla="val 6032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89051"/>
            <a:ext cx="48530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Кадровый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7750" y="2457351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ТК РФ, ст. 22.1–22.3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2759571"/>
            <a:ext cx="485305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Переход на КЭДО — право работодателя; формы унифицированы приказом Минтруда № 578н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857276"/>
            <a:ext cx="5175250" cy="1631752"/>
          </a:xfrm>
          <a:prstGeom prst="roundRect">
            <a:avLst>
              <a:gd name="adj" fmla="val 6032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2550" y="2089051"/>
            <a:ext cx="48530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Бухгалтерский и налоговый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32550" y="2457351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402-ФЗ, НК РФ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32550" y="2759571"/>
            <a:ext cx="485305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Допускаются электронные первичные документы и счета-фактуры, подписанные ЭП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698577"/>
            <a:ext cx="5175250" cy="1631752"/>
          </a:xfrm>
          <a:prstGeom prst="roundRect">
            <a:avLst>
              <a:gd name="adj" fmla="val 6032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7750" y="3930352"/>
            <a:ext cx="48530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Межведомственный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7750" y="4298652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Постановления № 754 и № 697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7750" y="4600873"/>
            <a:ext cx="485305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Обмен между органами власти через СМЭДО и СМЭВ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00775" y="3698577"/>
            <a:ext cx="5175250" cy="1631752"/>
          </a:xfrm>
          <a:prstGeom prst="roundRect">
            <a:avLst>
              <a:gd name="adj" fmla="val 6032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2550" y="3930352"/>
            <a:ext cx="48530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Судебный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32550" y="4298652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АПК РФ, ст. 75; ГПК РФ, ст. 71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32550" y="4600873"/>
            <a:ext cx="485305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Документы в цифровой форме признаются письменными доказательствами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Нормативно-правовая база систем электронного документооборота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092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ХРАНЕНИЕ И ЗАЩИТА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Документы нужно сохранить и защитить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276"/>
            <a:ext cx="5175250" cy="2594471"/>
          </a:xfrm>
          <a:prstGeom prst="roundRect">
            <a:avLst>
              <a:gd name="adj" fmla="val 3794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89051"/>
            <a:ext cx="485305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Хранение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5408" y="2513211"/>
            <a:ext cx="4787773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Приказ Росархива № 77: отдельный порядок для электронных документов</a:t>
            </a:r>
            <a:endParaRPr lang="en-US" sz="1600" dirty="0"/>
          </a:p>
          <a:p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Опись и акт конвертации (смены формата файла)</a:t>
            </a:r>
            <a:endParaRPr lang="en-US" sz="1600" dirty="0"/>
          </a:p>
          <a:p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Подпись и метаданные хранятся вместе с документом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0775" y="1857276"/>
            <a:ext cx="5175250" cy="2594471"/>
          </a:xfrm>
          <a:prstGeom prst="roundRect">
            <a:avLst>
              <a:gd name="adj" fmla="val 3794"/>
            </a:avLst>
          </a:prstGeom>
          <a:solidFill>
            <a:srgbClr val="FDFC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089051"/>
            <a:ext cx="485305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Защита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0208" y="2513211"/>
            <a:ext cx="4787773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Приказ ФСТЭК № 117 для СЭД госорганов действует с 01.03.2026</a:t>
            </a:r>
            <a:endParaRPr lang="en-US" sz="1600" dirty="0"/>
          </a:p>
          <a:p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Приказ ФСТЭК № 21 для персональных данных пока применяется</a:t>
            </a:r>
            <a:endParaRPr lang="en-US" sz="1600" dirty="0"/>
          </a:p>
          <a:p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152-ФЗ и 187-ФЗ (критическая информационная инфраструктура)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Нормативно-правовая база систем электронного документооборота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092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5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ИЗМЕНИЛОСЬ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Нормативная база обновляется каждый год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3151"/>
            <a:ext cx="3352800" cy="0"/>
          </a:xfrm>
          <a:prstGeom prst="line">
            <a:avLst/>
          </a:prstGeom>
          <a:noFill/>
          <a:ln w="38100">
            <a:solidFill>
              <a:srgbClr val="8F54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070001"/>
            <a:ext cx="345338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18.08.2025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2585541"/>
            <a:ext cx="3453384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ГОСТ Р 7.0.97-2025 заменил версию 2016 года: оформление организационно-распорядительных документов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9600" y="1873151"/>
            <a:ext cx="3352800" cy="0"/>
          </a:xfrm>
          <a:prstGeom prst="line">
            <a:avLst/>
          </a:prstGeom>
          <a:noFill/>
          <a:ln w="38100">
            <a:solidFill>
              <a:srgbClr val="8F54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9600" y="2070001"/>
            <a:ext cx="345338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01.03.2026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19600" y="2585541"/>
            <a:ext cx="3453384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Приказ ФСТЭК № 117 заменил приказ № 17: защита информации в государственных системах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26400" y="1873151"/>
            <a:ext cx="3352800" cy="0"/>
          </a:xfrm>
          <a:prstGeom prst="line">
            <a:avLst/>
          </a:prstGeom>
          <a:noFill/>
          <a:ln w="38100">
            <a:solidFill>
              <a:srgbClr val="8F54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6400" y="2070001"/>
            <a:ext cx="345338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23.08.2026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026400" y="2585541"/>
            <a:ext cx="3453384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Изменения в Правила делопроизводства: приказ Росархива № 91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396984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Организациям нужен постоянный мониторинг норм и обновление локальных актов и настроек СЭД.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Нормативно-правовая база систем электронного документооборота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092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Проблемы и выводы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276"/>
            <a:ext cx="5130800" cy="2317651"/>
          </a:xfrm>
          <a:prstGeom prst="roundRect">
            <a:avLst>
              <a:gd name="adj" fmla="val 4247"/>
            </a:avLst>
          </a:prstGeom>
          <a:noFill/>
          <a:ln w="6350">
            <a:solidFill>
              <a:srgbClr val="3A4A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89051"/>
            <a:ext cx="48072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A04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Проблемы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5408" y="2520851"/>
            <a:ext cx="4741990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Разрозненность регулирования</a:t>
            </a:r>
            <a:endParaRPr lang="en-US" sz="1600" dirty="0"/>
          </a:p>
          <a:p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Совместимость систем и форматов</a:t>
            </a:r>
            <a:endParaRPr lang="en-US" sz="1600" dirty="0"/>
          </a:p>
          <a:p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Долговременное хранение подписанных документов</a:t>
            </a:r>
            <a:endParaRPr lang="en-US" sz="1600" dirty="0"/>
          </a:p>
          <a:p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Высокая скорость изменения норм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54750" y="1854101"/>
            <a:ext cx="5124450" cy="2324001"/>
          </a:xfrm>
          <a:prstGeom prst="roundRect">
            <a:avLst>
              <a:gd name="adj" fmla="val 4372"/>
            </a:avLst>
          </a:prstGeom>
          <a:solidFill>
            <a:srgbClr val="E0A04A"/>
          </a:solidFill>
          <a:ln/>
        </p:spPr>
      </p:sp>
      <p:sp>
        <p:nvSpPr>
          <p:cNvPr id="8" name="Text 6"/>
          <p:cNvSpPr/>
          <p:nvPr/>
        </p:nvSpPr>
        <p:spPr>
          <a:xfrm>
            <a:off x="6483350" y="2082701"/>
            <a:ext cx="48072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Вывод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83350" y="2514501"/>
            <a:ext cx="4807268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Знание нормативной базы помогает специалисту по информационным системам правильно сформулировать требования к СЭД и избежать правовых рисков.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Нормативно-правовая база систем электронного документооборота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092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71274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6F4E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Спасибо за внимание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Нормативно-правовая база систем электронного документооборота">
  <a:themeElements>
    <a:clrScheme name="Нормативно-правовая база систем электронного документооборота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8F5410"/>
      </a:accent1>
      <a:accent2>
        <a:srgbClr val="E0A04A"/>
      </a:accent2>
      <a:accent3>
        <a:srgbClr val="4A5568"/>
      </a:accent3>
      <a:accent4>
        <a:srgbClr val="5B6470"/>
      </a:accent4>
      <a:accent5>
        <a:srgbClr val="C9D1E3"/>
      </a:accent5>
      <a:accent6>
        <a:srgbClr val="9AA0A6"/>
      </a:accent6>
      <a:hlink>
        <a:srgbClr val="0563C1"/>
      </a:hlink>
      <a:folHlink>
        <a:srgbClr val="954F72"/>
      </a:folHlink>
    </a:clrScheme>
    <a:fontScheme name="Нормативно-правовая база систем электронного документооборота">
      <a:majorFont>
        <a:latin typeface="EB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1445</Words>
  <Application>Microsoft Office PowerPoint</Application>
  <PresentationFormat>Широкоэкранный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EB Garamond</vt:lpstr>
      <vt:lpstr>IBM Plex Sans</vt:lpstr>
      <vt:lpstr>Нормативно-правовая база систем электронного документооборота</vt:lpstr>
      <vt:lpstr>Нормативно-правовая база систем электронного документооборота</vt:lpstr>
      <vt:lpstr>Электронный документ без правовой базы остаётся файлом</vt:lpstr>
      <vt:lpstr>Регулирование строится на пяти уровнях</vt:lpstr>
      <vt:lpstr>Четыре базовых закона образуют основу</vt:lpstr>
      <vt:lpstr>Закон 63-ФЗ выделяет три вида подписи</vt:lpstr>
      <vt:lpstr>С 1 сентября 2023 года</vt:lpstr>
      <vt:lpstr>Работу с документами в органах власти задаёт Росархив</vt:lpstr>
      <vt:lpstr>У каждой сферы свои правила</vt:lpstr>
      <vt:lpstr>Документы нужно сохранить и защитить</vt:lpstr>
      <vt:lpstr>Нормативная база обновляется каждый год</vt:lpstr>
      <vt:lpstr>Проблемы и выводы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Нормативно-правовая база систем электронного документооборота</dc:title>
  <dc:subject/>
  <dc:creator/>
  <cp:lastModifiedBy>user</cp:lastModifiedBy>
  <cp:revision>3</cp:revision>
  <dcterms:created xsi:type="dcterms:W3CDTF">2026-10-12T19:24:20Z</dcterms:created>
  <dcterms:modified xsi:type="dcterms:W3CDTF">2026-10-12T21:22:45Z</dcterms:modified>
</cp:coreProperties>
</file>