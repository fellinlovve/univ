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AB870-BA0E-42A8-A654-6F72E53BA8B2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02D35-77E7-405D-899B-06106778A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62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2D35-77E7-405D-899B-06106778AF3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85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1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6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17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6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62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84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45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56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75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92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999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044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0798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004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547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47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62545-FBDD-44DC-9A2E-251578F22CE8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B2DF40-9351-4ABF-B7D7-36D5493ADA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24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6" y="104680"/>
            <a:ext cx="10795769" cy="1049865"/>
          </a:xfrm>
        </p:spPr>
        <p:txBody>
          <a:bodyPr/>
          <a:lstStyle/>
          <a:p>
            <a:pPr algn="ctr"/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Ставропольский государственный аграрный университет</a:t>
            </a:r>
            <a:b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Информационных систем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1662545"/>
            <a:ext cx="9650460" cy="4221019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Лабораторная работа № 8 на тему</a:t>
            </a:r>
          </a:p>
          <a:p>
            <a:pPr algn="ctr"/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«ИССЛЕДОВАНИЕ ФОРМИРОВАНИЯ АРХИТЕКТУРЫ ЭШЕЛОНИРОВАННОЙ СИСТЕМЫ ЗАЩИТЫ ПРОГРАММНОГО ОБЕСПЕЧЕНИЯ </a:t>
            </a:r>
            <a:r>
              <a:rPr lang="ru-RU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СПЕЦИАЛИСТА</a:t>
            </a:r>
            <a:endParaRPr lang="ru-RU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Ставрополь 2025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6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554084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1 - График роста компьютерных вирусов до </a:t>
            </a:r>
            <a:r>
              <a:rPr lang="ru-RU" b="1" dirty="0" smtClean="0"/>
              <a:t>2024 </a:t>
            </a:r>
            <a:r>
              <a:rPr lang="ru-RU" b="1" dirty="0"/>
              <a:t>года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 descr="http://citforum.ru/security/articles/kazarin/2.gif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52"/>
          <a:stretch/>
        </p:blipFill>
        <p:spPr bwMode="auto">
          <a:xfrm>
            <a:off x="3366414" y="1782618"/>
            <a:ext cx="4974022" cy="4572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114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57018"/>
            <a:ext cx="10591030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2 - Классификация систем защиты программного обеспечения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 descr="https://moluch.ru/blmcbn/59688/59688.008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909" y="1717964"/>
            <a:ext cx="7472218" cy="447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7809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932775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3  Классификация уязвимости программного обеспечения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 descr="https://normativ.kontur.ru/image?moduleId=1&amp;imageId=2166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908" y="2160588"/>
            <a:ext cx="4832221" cy="38814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134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1080557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</a:t>
            </a:r>
            <a:r>
              <a:rPr lang="ru-RU" b="1" dirty="0" smtClean="0"/>
              <a:t>4 </a:t>
            </a:r>
            <a:r>
              <a:rPr lang="ru-RU" b="1" dirty="0"/>
              <a:t>– Схема-угроз типовой вид которой применительно к ПО</a:t>
            </a:r>
            <a:r>
              <a:rPr lang="ru-RU" dirty="0"/>
              <a:t>  </a:t>
            </a:r>
            <a:br>
              <a:rPr lang="ru-RU" dirty="0"/>
            </a:br>
            <a:r>
              <a:rPr lang="ru-RU" dirty="0"/>
              <a:t> 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 descr="https://geum.ru/next/images/142185-nomer-79dd2946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483" y="1579418"/>
            <a:ext cx="5337153" cy="50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013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1108266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</a:t>
            </a:r>
            <a:r>
              <a:rPr lang="ru-RU" b="1" dirty="0" smtClean="0"/>
              <a:t>5 </a:t>
            </a:r>
            <a:r>
              <a:rPr lang="ru-RU" b="1" dirty="0"/>
              <a:t>Типовая модель сложных комплексов программного обеспечения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 </a:t>
            </a:r>
            <a:endParaRPr lang="ru-RU" dirty="0"/>
          </a:p>
        </p:txBody>
      </p:sp>
      <p:pic>
        <p:nvPicPr>
          <p:cNvPr id="4" name="Объект 3" descr="https://www.intel-audit.ru/uploads/73201346.png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0"/>
          <a:stretch/>
        </p:blipFill>
        <p:spPr bwMode="auto">
          <a:xfrm>
            <a:off x="3147373" y="1551709"/>
            <a:ext cx="5719535" cy="53940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84267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1015902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</a:t>
            </a:r>
            <a:r>
              <a:rPr lang="ru-RU" b="1" dirty="0" smtClean="0"/>
              <a:t>6 </a:t>
            </a:r>
            <a:r>
              <a:rPr lang="ru-RU" b="1" dirty="0"/>
              <a:t>Задачи моделирования угроз безопасности </a:t>
            </a:r>
            <a:r>
              <a:rPr lang="ru-RU" b="1" dirty="0" smtClean="0"/>
              <a:t>программного </a:t>
            </a:r>
            <a:r>
              <a:rPr lang="ru-RU" b="1" dirty="0"/>
              <a:t>обеспечения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 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 descr="https://studfile.net/html/2706/278/html_g56pKX3wim.UzgS/img-k_HtsY.png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" t="34815" b="-1"/>
          <a:stretch/>
        </p:blipFill>
        <p:spPr bwMode="auto">
          <a:xfrm>
            <a:off x="3065420" y="1634836"/>
            <a:ext cx="6337198" cy="492298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65909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988193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</a:t>
            </a:r>
            <a:r>
              <a:rPr lang="ru-RU" b="1" dirty="0" smtClean="0"/>
              <a:t>7 </a:t>
            </a:r>
            <a:r>
              <a:rPr lang="ru-RU" b="1" dirty="0"/>
              <a:t>-</a:t>
            </a:r>
            <a:r>
              <a:rPr lang="ru-RU" dirty="0"/>
              <a:t> </a:t>
            </a:r>
            <a:r>
              <a:rPr lang="ru-RU" b="1" dirty="0"/>
              <a:t>Угрозы несанкционированного </a:t>
            </a:r>
            <a:r>
              <a:rPr lang="ru-RU" b="1" dirty="0" smtClean="0"/>
              <a:t>использования.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662545"/>
            <a:ext cx="8596312" cy="422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00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1025139" cy="1320800"/>
          </a:xfrm>
        </p:spPr>
        <p:txBody>
          <a:bodyPr/>
          <a:lstStyle/>
          <a:p>
            <a:r>
              <a:rPr lang="ru-RU" b="1" dirty="0"/>
              <a:t>Слайд </a:t>
            </a:r>
            <a:r>
              <a:rPr lang="ru-RU" b="1" dirty="0" smtClean="0"/>
              <a:t>8 </a:t>
            </a:r>
            <a:r>
              <a:rPr lang="ru-RU" b="1" dirty="0"/>
              <a:t>-</a:t>
            </a:r>
            <a:r>
              <a:rPr lang="ru-RU" dirty="0"/>
              <a:t> </a:t>
            </a:r>
            <a:r>
              <a:rPr lang="ru-RU" b="1" dirty="0"/>
              <a:t>Основная защита программного обеспечения от НСД.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808" y="1764146"/>
            <a:ext cx="7956374" cy="42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1329939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12 -</a:t>
            </a:r>
            <a:r>
              <a:rPr lang="ru-RU" dirty="0"/>
              <a:t> </a:t>
            </a:r>
            <a:r>
              <a:rPr lang="ru-RU" b="1" dirty="0"/>
              <a:t>Схемотехническая блок-схема эшелонированной защиты ПО.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251" y="1607127"/>
            <a:ext cx="6820313" cy="49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11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1256048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13 -</a:t>
            </a:r>
            <a:r>
              <a:rPr lang="ru-RU" dirty="0"/>
              <a:t> </a:t>
            </a:r>
            <a:r>
              <a:rPr lang="ru-RU" b="1" dirty="0"/>
              <a:t>Алгоритм функционирование устройства программно-аппаратной защиты 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 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5181" y="1838036"/>
            <a:ext cx="5863945" cy="470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8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1403830" cy="13208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Слайд 14 Оценка принятых научно-технических решений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699" y="2068945"/>
            <a:ext cx="5574702" cy="3612862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780440"/>
              </p:ext>
            </p:extLst>
          </p:nvPr>
        </p:nvGraphicFramePr>
        <p:xfrm>
          <a:off x="5913438" y="1649412"/>
          <a:ext cx="5934075" cy="1369696"/>
        </p:xfrm>
        <a:graphic>
          <a:graphicData uri="http://schemas.openxmlformats.org/drawingml/2006/table">
            <a:tbl>
              <a:tblPr firstRow="1" firstCol="1" bandRow="1"/>
              <a:tblGrid>
                <a:gridCol w="927735">
                  <a:extLst>
                    <a:ext uri="{9D8B030D-6E8A-4147-A177-3AD203B41FA5}">
                      <a16:colId xmlns:a16="http://schemas.microsoft.com/office/drawing/2014/main" val="3748791529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3677337416"/>
                    </a:ext>
                  </a:extLst>
                </a:gridCol>
                <a:gridCol w="1164590">
                  <a:extLst>
                    <a:ext uri="{9D8B030D-6E8A-4147-A177-3AD203B41FA5}">
                      <a16:colId xmlns:a16="http://schemas.microsoft.com/office/drawing/2014/main" val="3036830348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583951272"/>
                    </a:ext>
                  </a:extLst>
                </a:gridCol>
                <a:gridCol w="1329055">
                  <a:extLst>
                    <a:ext uri="{9D8B030D-6E8A-4147-A177-3AD203B41FA5}">
                      <a16:colId xmlns:a16="http://schemas.microsoft.com/office/drawing/2014/main" val="3799374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Рассчитанные значения и показатели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97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Годовые затраты, 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Годовой экономический эффект,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Расчет срока окупаемости,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lang="ru-RU" sz="1400" baseline="-25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ок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Трудоёмкость затрат,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lang="ru-RU" sz="1400" baseline="-25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итп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Эффективность внедрения,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242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60000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149.700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1год 1мес.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164 дня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40000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073875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5814797" y="349710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 показал возможность внедрения представленного проекта и выполнения решения задач, поставленных в задании выпускной магистерской работе.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Доклад закончен, спасибо за внимание!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266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 логического элемента</a:t>
            </a:r>
            <a:endParaRPr lang="ru-RU" dirty="0"/>
          </a:p>
        </p:txBody>
      </p:sp>
      <p:pic>
        <p:nvPicPr>
          <p:cNvPr id="1026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394" y="2160588"/>
            <a:ext cx="5175249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059713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167</TotalTime>
  <Words>177</Words>
  <Application>Microsoft Office PowerPoint</Application>
  <PresentationFormat>Широкоэкранный</PresentationFormat>
  <Paragraphs>36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Wingdings 3</vt:lpstr>
      <vt:lpstr>Аспект</vt:lpstr>
      <vt:lpstr>Ставропольский государственный аграрный университет Кафедра Информационных систем</vt:lpstr>
      <vt:lpstr>Слайд 1 - График роста компьютерных вирусов до 2024 года </vt:lpstr>
      <vt:lpstr>Слайд 2 - Классификация систем защиты программного обеспечения </vt:lpstr>
      <vt:lpstr>Слайд 3  Классификация уязвимости программного обеспечения </vt:lpstr>
      <vt:lpstr>Слайд 4 – Схема-угроз типовой вид которой применительно к ПО     </vt:lpstr>
      <vt:lpstr>Слайд 5 Типовая модель сложных комплексов программного обеспечения  </vt:lpstr>
      <vt:lpstr>Слайд 6 Задачи моделирования угроз безопасности программного обеспечения     </vt:lpstr>
      <vt:lpstr>Слайд 7 - Угрозы несанкционированного использования. </vt:lpstr>
      <vt:lpstr>Слайд 8 - Основная защита программного обеспечения от НСД.</vt:lpstr>
      <vt:lpstr>Слайд 12 - Схемотехническая блок-схема эшелонированной защиты ПО. </vt:lpstr>
      <vt:lpstr>Слайд 13 - Алгоритм функционирование устройства программно-аппаратной защиты    </vt:lpstr>
      <vt:lpstr>Слайд 14 Оценка принятых научно-технических решений </vt:lpstr>
      <vt:lpstr>Выбор логического элемента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Ставропольский государственный аграрный университет Кафедра Информационных систем</dc:title>
  <dc:creator>USER</dc:creator>
  <cp:lastModifiedBy>Admin</cp:lastModifiedBy>
  <cp:revision>15</cp:revision>
  <dcterms:created xsi:type="dcterms:W3CDTF">2024-04-23T13:30:12Z</dcterms:created>
  <dcterms:modified xsi:type="dcterms:W3CDTF">2025-10-06T12:53:47Z</dcterms:modified>
</cp:coreProperties>
</file>