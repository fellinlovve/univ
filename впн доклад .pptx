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7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VPN-твой лучший друг в наше время ;)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Безопасность и конфиденциальность в интернете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055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такое VPN?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6614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 (Virtual Private Network)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это технология, которая создаёт защищённое соединение между вашим устройством и интернетом через удалённый сервер.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20605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294"/>
            <a:ext cx="31897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Как работает VPN?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84" y="1073646"/>
            <a:ext cx="7336557" cy="3301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08852" y="1143307"/>
            <a:ext cx="1283870" cy="19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Подключение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08852" y="1398141"/>
            <a:ext cx="1283870" cy="45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Устройство соединяется с VPN‑сервером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278614" y="3694733"/>
            <a:ext cx="1290924" cy="19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Шифрование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78614" y="3949568"/>
            <a:ext cx="1290924" cy="30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Трафик шифруется перед отправкой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4534267" y="1118617"/>
            <a:ext cx="1283870" cy="19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Туннель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34267" y="1373451"/>
            <a:ext cx="1283870" cy="452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Шифрованные данные проходят через туннель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5804028" y="3694733"/>
            <a:ext cx="1283870" cy="19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Маскировка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804028" y="3949568"/>
            <a:ext cx="1283870" cy="301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заменяется на адрес сервера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496119" y="4504209"/>
            <a:ext cx="81517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</a:t>
            </a:r>
            <a:endParaRPr lang="en-US" sz="10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608" y="4771973"/>
            <a:ext cx="2191056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3487"/>
            <a:ext cx="43554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функции VPN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59991"/>
            <a:ext cx="2622724" cy="1614860"/>
          </a:xfrm>
          <a:prstGeom prst="roundRect">
            <a:avLst>
              <a:gd name="adj" fmla="val 368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4842" y="150651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856655" y="2073548"/>
            <a:ext cx="19015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Шифрование данных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260601" y="1359991"/>
            <a:ext cx="2622724" cy="1614860"/>
          </a:xfrm>
          <a:prstGeom prst="roundRect">
            <a:avLst>
              <a:gd name="adj" fmla="val 368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59325" y="150651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sp>
        <p:nvSpPr>
          <p:cNvPr id="10" name="Text 6"/>
          <p:cNvSpPr/>
          <p:nvPr/>
        </p:nvSpPr>
        <p:spPr>
          <a:xfrm>
            <a:off x="3685952" y="207354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Скрытие IP-адреса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07122" y="238005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25083" y="1359991"/>
            <a:ext cx="2622724" cy="1614860"/>
          </a:xfrm>
          <a:prstGeom prst="roundRect">
            <a:avLst>
              <a:gd name="adj" fmla="val 368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23807" y="150651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sp>
        <p:nvSpPr>
          <p:cNvPr id="15" name="Text 10"/>
          <p:cNvSpPr/>
          <p:nvPr/>
        </p:nvSpPr>
        <p:spPr>
          <a:xfrm>
            <a:off x="6171605" y="2073548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Обход географических ограничений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71605" y="2601516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6119" y="3116610"/>
            <a:ext cx="8151688" cy="1393403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359325" y="3263131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4950BC"/>
          </a:solidFill>
          <a:ln/>
        </p:spPr>
      </p:sp>
      <p:sp>
        <p:nvSpPr>
          <p:cNvPr id="20" name="Text 14"/>
          <p:cNvSpPr/>
          <p:nvPr/>
        </p:nvSpPr>
        <p:spPr>
          <a:xfrm>
            <a:off x="3367980" y="3830166"/>
            <a:ext cx="2407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Защита в публичных сетях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2640" y="4136678"/>
            <a:ext cx="78586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944" y="4771973"/>
            <a:ext cx="2191056" cy="371527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905" y="1491058"/>
            <a:ext cx="472213" cy="440731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145" y="1506500"/>
            <a:ext cx="470943" cy="447782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808" y="1491059"/>
            <a:ext cx="471210" cy="463224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7659" y="3247030"/>
            <a:ext cx="492429" cy="452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66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Типы VPN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562475" y="1585168"/>
            <a:ext cx="19050" cy="2699668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4165774" y="2144762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518868" y="2101155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585168"/>
            <a:ext cx="3650605" cy="1138238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1731690"/>
            <a:ext cx="3357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52451" y="2043559"/>
            <a:ext cx="22477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 удалённого доступа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640" y="2350071"/>
            <a:ext cx="3357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52950" y="2995315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4518868" y="2951708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97276" y="2435721"/>
            <a:ext cx="3650605" cy="1138238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798" y="2582242"/>
            <a:ext cx="3357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3798" y="28941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Site-to-Site VPN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43798" y="3200623"/>
            <a:ext cx="3357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5774" y="3706192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18868" y="3662586"/>
            <a:ext cx="106263" cy="106263"/>
          </a:xfrm>
          <a:prstGeom prst="roundRect">
            <a:avLst>
              <a:gd name="adj" fmla="val 268908"/>
            </a:avLst>
          </a:prstGeom>
          <a:solidFill>
            <a:srgbClr val="4950BC"/>
          </a:solidFill>
          <a:ln/>
        </p:spPr>
      </p:sp>
      <p:sp>
        <p:nvSpPr>
          <p:cNvPr id="18" name="Shape 16"/>
          <p:cNvSpPr/>
          <p:nvPr/>
        </p:nvSpPr>
        <p:spPr>
          <a:xfrm>
            <a:off x="496119" y="3146599"/>
            <a:ext cx="3650605" cy="1138238"/>
          </a:xfrm>
          <a:prstGeom prst="roundRect">
            <a:avLst>
              <a:gd name="adj" fmla="val 523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640" y="3293120"/>
            <a:ext cx="3357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26394" y="3604989"/>
            <a:ext cx="17738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Персональный VPN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640" y="3911501"/>
            <a:ext cx="33575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944" y="4760172"/>
            <a:ext cx="2191056" cy="3715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511820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VPN-протоколы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96119" y="963662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правильного VPN-протокола критичен для обеспечения безопасности, скорости и стабильности соединения. Каждый протокол имеет свои уникальные преимущества и области применения.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96119" y="1350987"/>
            <a:ext cx="8151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[20, 35, 45]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1589484"/>
            <a:ext cx="8151763" cy="2654796"/>
          </a:xfrm>
          <a:prstGeom prst="roundRect">
            <a:avLst>
              <a:gd name="adj" fmla="val 16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37" y="164678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Протокол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23927" y="164678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Назначение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7436" y="1646783"/>
            <a:ext cx="16199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Ключевые особенности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37" y="192271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OpenVPN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23927" y="1922711"/>
            <a:ext cx="249622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из самых популярных и надёжных протоколов.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37436" y="1922711"/>
            <a:ext cx="249860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Открытый исходный код, высокая гибкость и настраиваемость, отличная безопасность, подходит для обхода цензуры.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8037" y="247903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WireGuard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23927" y="2479030"/>
            <a:ext cx="249622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Современный, быстрый и эффективный протокол нового поколения.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37436" y="2479030"/>
            <a:ext cx="249860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Минимальный объём кода, высокая скорость соединения, низкое потребление ресурсов, простота настройки.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8037" y="303535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IKEv2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23927" y="3035350"/>
            <a:ext cx="249622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 Microsoft и Cisco, обеспечивает стабильность на мобильных устройствах.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037436" y="3035350"/>
            <a:ext cx="249860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Отличная стабильность при переключении между сетями (Wi-Fi/мобильная связь), быстрое восстановление соединения, поддерживается многими платформами.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8037" y="374049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IPsec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23927" y="3740497"/>
            <a:ext cx="249622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Комплекс протоколов, часто используется вместе с другими (например, IKEv2).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37436" y="3740497"/>
            <a:ext cx="2498601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Корпоративный стандарт для защиты IP-трафика, надёжен для построения защищенных магистралей и VPN-шлюзов.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6119" y="4333949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из этих протоколов предлагает уникальный баланс между скоростью, безопасностью и совместимостью, позволяя выбрать оптимальное решение для конкретных задач.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557"/>
            <a:ext cx="431080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Статистика использования VPN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97285"/>
            <a:ext cx="8151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73076"/>
            <a:ext cx="2959596" cy="16918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70422" y="1805241"/>
            <a:ext cx="103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41%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1053939" y="2816454"/>
            <a:ext cx="103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25%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547788" y="1650318"/>
            <a:ext cx="1035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34%</a:t>
            </a:r>
            <a:endParaRPr lang="en-US" sz="400" dirty="0"/>
          </a:p>
        </p:txBody>
      </p:sp>
      <p:sp>
        <p:nvSpPr>
          <p:cNvPr id="8" name="Shape 5"/>
          <p:cNvSpPr/>
          <p:nvPr/>
        </p:nvSpPr>
        <p:spPr>
          <a:xfrm>
            <a:off x="2234431" y="1893763"/>
            <a:ext cx="991046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69" y="1916609"/>
            <a:ext cx="57150" cy="571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63019" y="1908051"/>
            <a:ext cx="84817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Частное использование·41%</a:t>
            </a:r>
            <a:endParaRPr lang="en-US" sz="450" dirty="0"/>
          </a:p>
        </p:txBody>
      </p:sp>
      <p:sp>
        <p:nvSpPr>
          <p:cNvPr id="11" name="Text 7"/>
          <p:cNvSpPr/>
          <p:nvPr/>
        </p:nvSpPr>
        <p:spPr>
          <a:xfrm>
            <a:off x="3037284" y="1609725"/>
            <a:ext cx="173906" cy="372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endParaRPr lang="en-US" sz="450" dirty="0"/>
          </a:p>
        </p:txBody>
      </p:sp>
      <p:sp>
        <p:nvSpPr>
          <p:cNvPr id="12" name="Text 8"/>
          <p:cNvSpPr/>
          <p:nvPr/>
        </p:nvSpPr>
        <p:spPr>
          <a:xfrm>
            <a:off x="3060129" y="1908051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3" name="Shape 9"/>
          <p:cNvSpPr/>
          <p:nvPr/>
        </p:nvSpPr>
        <p:spPr>
          <a:xfrm>
            <a:off x="2234431" y="2034704"/>
            <a:ext cx="1202234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769" y="2057549"/>
            <a:ext cx="57150" cy="571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63019" y="2048991"/>
            <a:ext cx="105935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Корпоративное использование·25%</a:t>
            </a:r>
            <a:endParaRPr lang="en-US" sz="450" dirty="0"/>
          </a:p>
        </p:txBody>
      </p:sp>
      <p:sp>
        <p:nvSpPr>
          <p:cNvPr id="16" name="Text 11"/>
          <p:cNvSpPr/>
          <p:nvPr/>
        </p:nvSpPr>
        <p:spPr>
          <a:xfrm flipV="1">
            <a:off x="3248471" y="2123256"/>
            <a:ext cx="820490" cy="3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endParaRPr lang="en-US" sz="450" dirty="0"/>
          </a:p>
        </p:txBody>
      </p:sp>
      <p:sp>
        <p:nvSpPr>
          <p:cNvPr id="17" name="Text 12"/>
          <p:cNvSpPr/>
          <p:nvPr/>
        </p:nvSpPr>
        <p:spPr>
          <a:xfrm>
            <a:off x="3271317" y="2048991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8" name="Shape 13"/>
          <p:cNvSpPr/>
          <p:nvPr/>
        </p:nvSpPr>
        <p:spPr>
          <a:xfrm>
            <a:off x="2234431" y="2175644"/>
            <a:ext cx="840804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769" y="2198489"/>
            <a:ext cx="57150" cy="571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363019" y="2189931"/>
            <a:ext cx="6979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Другое/Не указано·34%</a:t>
            </a:r>
            <a:endParaRPr lang="en-US" sz="450" dirty="0"/>
          </a:p>
        </p:txBody>
      </p:sp>
      <p:sp>
        <p:nvSpPr>
          <p:cNvPr id="22" name="Text 16"/>
          <p:cNvSpPr/>
          <p:nvPr/>
        </p:nvSpPr>
        <p:spPr>
          <a:xfrm>
            <a:off x="2909888" y="2189931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23" name="Text 17"/>
          <p:cNvSpPr/>
          <p:nvPr/>
        </p:nvSpPr>
        <p:spPr>
          <a:xfrm>
            <a:off x="496119" y="3026941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Распределение использования VPN по целям.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199757" y="1278582"/>
            <a:ext cx="2959596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23.1%</a:t>
            </a:r>
            <a:endParaRPr lang="en-US" sz="2750" dirty="0"/>
          </a:p>
        </p:txBody>
      </p:sp>
      <p:sp>
        <p:nvSpPr>
          <p:cNvPr id="25" name="Text 19"/>
          <p:cNvSpPr/>
          <p:nvPr/>
        </p:nvSpPr>
        <p:spPr>
          <a:xfrm>
            <a:off x="6015038" y="174233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Мировой тренд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706466" y="1988121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Пользователи VPN во всем мире.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199757" y="2349550"/>
            <a:ext cx="2959596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1.6 млрд</a:t>
            </a:r>
            <a:endParaRPr lang="en-US" sz="2750" dirty="0"/>
          </a:p>
        </p:txBody>
      </p:sp>
      <p:sp>
        <p:nvSpPr>
          <p:cNvPr id="28" name="Text 22"/>
          <p:cNvSpPr/>
          <p:nvPr/>
        </p:nvSpPr>
        <p:spPr>
          <a:xfrm>
            <a:off x="5785396" y="2813298"/>
            <a:ext cx="17882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Глобальные пользователи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706466" y="3059088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Пользуются безопасным соединением.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199757" y="3420517"/>
            <a:ext cx="2959596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93%</a:t>
            </a:r>
            <a:endParaRPr lang="en-US" sz="2750" dirty="0"/>
          </a:p>
        </p:txBody>
      </p:sp>
      <p:sp>
        <p:nvSpPr>
          <p:cNvPr id="31" name="Text 25"/>
          <p:cNvSpPr/>
          <p:nvPr/>
        </p:nvSpPr>
        <p:spPr>
          <a:xfrm>
            <a:off x="5978277" y="3884265"/>
            <a:ext cx="140248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Защита организаций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706466" y="4130055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Компаний используют VPN для защиты данных.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706466" y="4368552"/>
            <a:ext cx="39461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Эти цифры подчеркивают растущую потребность в конфиденциальности и безопасности в современном цифровом пространстве.</a:t>
            </a:r>
            <a:endParaRPr lang="en-US" sz="800" dirty="0"/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944" y="4693518"/>
            <a:ext cx="2191056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115423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Ограничения VPN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809824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Хотя VPN предлагает значительные преимущества, важно осознавать его потенциальные недостатки и риски.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098575" y="21961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Риск деанона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98575" y="2502619"/>
            <a:ext cx="1996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874889" y="21961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DPI-</a:t>
            </a:r>
            <a:r>
              <a:rPr lang="en-US" sz="1350" b="1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фильтрация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874889" y="2502619"/>
            <a:ext cx="1996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651203" y="2196108"/>
            <a:ext cx="199667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Законодательные ограничения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651203" y="2724076"/>
            <a:ext cx="1996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098575" y="3234407"/>
            <a:ext cx="199667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Снижение скорости соединения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98575" y="3762375"/>
            <a:ext cx="1996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3874889" y="3234407"/>
            <a:ext cx="199667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Вопрос доверия к провайдеру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874889" y="3762375"/>
            <a:ext cx="1996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56" y="2122248"/>
            <a:ext cx="446456" cy="439369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563" y="2094328"/>
            <a:ext cx="713326" cy="515180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1300" y="2174656"/>
            <a:ext cx="533714" cy="485816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518" y="3114926"/>
            <a:ext cx="562394" cy="562394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1563" y="3230103"/>
            <a:ext cx="630693" cy="451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478259"/>
            <a:ext cx="46622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Будущее VPN-технологии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13384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Развитие VPN не стоит на месте, адаптируясь к новым угрозам и технологическим вызовам. Вот ключевые тренды, которые будут формировать будущее VPN-решений.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1746945"/>
            <a:ext cx="2622724" cy="138826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7069" y="1746945"/>
            <a:ext cx="76200" cy="138826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714077" y="1907753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50044" y="22196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Интеграция с SASE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4077" y="2526134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1746945"/>
            <a:ext cx="2622724" cy="138826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1551" y="1746945"/>
            <a:ext cx="76200" cy="138826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3478560" y="1907753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8560" y="2219623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Квантово-устойчивое шифрование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78560" y="2747590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25083" y="1746945"/>
            <a:ext cx="2622724" cy="138826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06033" y="1746945"/>
            <a:ext cx="76200" cy="138826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243042" y="1907753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43042" y="2219623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Улучшение производительности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43042" y="2747590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78360" y="3276972"/>
            <a:ext cx="2622724" cy="138826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59310" y="3276972"/>
            <a:ext cx="76200" cy="138826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2096319" y="3437781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332286" y="37496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в IoT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2096319" y="4056162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42842" y="3276972"/>
            <a:ext cx="2622724" cy="1388269"/>
          </a:xfrm>
          <a:prstGeom prst="roundRect">
            <a:avLst>
              <a:gd name="adj" fmla="val 658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23792" y="3276972"/>
            <a:ext cx="76200" cy="138826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8" name="Text 25"/>
          <p:cNvSpPr/>
          <p:nvPr/>
        </p:nvSpPr>
        <p:spPr>
          <a:xfrm>
            <a:off x="4860801" y="3437781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60801" y="3749650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Модель "Нулевого доверия"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860801" y="4277618"/>
            <a:ext cx="224395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350219"/>
            <a:ext cx="40154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Спасибо за внимание!</a:t>
            </a: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409</Words>
  <Application>Microsoft Office PowerPoint</Application>
  <PresentationFormat>Экран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Inter</vt:lpstr>
      <vt:lpstr>-apple-system, BlinkMacSystemFont, Segoe UI, Roboto, Helvetica Neue, Arial, sans-serif Medium</vt:lpstr>
      <vt:lpstr>Calibri</vt:lpstr>
      <vt:lpstr>Inter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user</cp:lastModifiedBy>
  <cp:revision>2</cp:revision>
  <dcterms:created xsi:type="dcterms:W3CDTF">2026-05-11T18:58:36Z</dcterms:created>
  <dcterms:modified xsi:type="dcterms:W3CDTF">2026-05-11T19:07:42Z</dcterms:modified>
</cp:coreProperties>
</file>