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84" r:id="rId3"/>
    <p:sldId id="287" r:id="rId5"/>
    <p:sldId id="325" r:id="rId6"/>
    <p:sldId id="334" r:id="rId7"/>
    <p:sldId id="331" r:id="rId8"/>
    <p:sldId id="339" r:id="rId9"/>
    <p:sldId id="326" r:id="rId10"/>
    <p:sldId id="327" r:id="rId11"/>
    <p:sldId id="340" r:id="rId12"/>
    <p:sldId id="328" r:id="rId13"/>
    <p:sldId id="329" r:id="rId14"/>
    <p:sldId id="338" r:id="rId15"/>
    <p:sldId id="333" r:id="rId16"/>
    <p:sldId id="341" r:id="rId17"/>
    <p:sldId id="330" r:id="rId18"/>
    <p:sldId id="337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AE0B5"/>
    <a:srgbClr val="996633"/>
    <a:srgbClr val="FCC133"/>
    <a:srgbClr val="643F07"/>
    <a:srgbClr val="EA0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59" autoAdjust="0"/>
    <p:restoredTop sz="94206" autoAdjust="0"/>
  </p:normalViewPr>
  <p:slideViewPr>
    <p:cSldViewPr snapToGrid="0" showGuides="1">
      <p:cViewPr varScale="1">
        <p:scale>
          <a:sx n="127" d="100"/>
          <a:sy n="127" d="100"/>
        </p:scale>
        <p:origin x="372" y="120"/>
      </p:cViewPr>
      <p:guideLst>
        <p:guide orient="horz" pos="2183"/>
        <p:guide pos="3812"/>
      </p:guideLst>
    </p:cSldViewPr>
  </p:slideViewPr>
  <p:notesTextViewPr>
    <p:cViewPr>
      <p:scale>
        <a:sx n="400" d="100"/>
        <a:sy n="400" d="100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FEA3B-4E9F-41E1-87FF-3E012EC78E33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1AE05-8AAA-4D06-AE4C-2482BAF7A3F7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72E1C-1F8D-49E2-B299-7468A682693B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46E24-2A5B-4557-B645-3FBA5ABFE9AE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946E24-2A5B-4557-B645-3FBA5ABFE9AE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Прямая соединительная линия 11"/>
          <p:cNvCxnSpPr/>
          <p:nvPr/>
        </p:nvCxnSpPr>
        <p:spPr>
          <a:xfrm flipH="1">
            <a:off x="485236" y="4789854"/>
            <a:ext cx="543464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Текст 2"/>
          <p:cNvSpPr>
            <a:spLocks noGrp="1"/>
          </p:cNvSpPr>
          <p:nvPr>
            <p:ph type="body" sz="quarter" idx="11" hasCustomPrompt="1"/>
          </p:nvPr>
        </p:nvSpPr>
        <p:spPr>
          <a:xfrm>
            <a:off x="500332" y="1699406"/>
            <a:ext cx="6484485" cy="2978131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36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ru-RU" dirty="0"/>
              <a:t>Тема презентации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500332" y="4949746"/>
            <a:ext cx="6694099" cy="277858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ru-RU" dirty="0"/>
              <a:t>Иванов Иван Иванович,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371" y="471644"/>
            <a:ext cx="2392481" cy="471689"/>
          </a:xfrm>
          <a:prstGeom prst="rect">
            <a:avLst/>
          </a:prstGeom>
        </p:spPr>
      </p:pic>
      <p:cxnSp>
        <p:nvCxnSpPr>
          <p:cNvPr id="22" name="Прямая соединительная линия 21"/>
          <p:cNvCxnSpPr/>
          <p:nvPr userDrawn="1"/>
        </p:nvCxnSpPr>
        <p:spPr>
          <a:xfrm>
            <a:off x="370936" y="1232501"/>
            <a:ext cx="114903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500331" y="5286073"/>
            <a:ext cx="6694100" cy="435735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ru-RU" dirty="0"/>
              <a:t>кандидат экономических наук, доцент (заведующий) кафедры(ой) …полное название кафедры… ставропольского ГАУ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36" y="338400"/>
            <a:ext cx="2392481" cy="75341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811" y="1639019"/>
            <a:ext cx="4439953" cy="43873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1" hasCustomPrompt="1"/>
          </p:nvPr>
        </p:nvSpPr>
        <p:spPr>
          <a:xfrm>
            <a:off x="439947" y="2079683"/>
            <a:ext cx="10843403" cy="4485020"/>
          </a:xfrm>
          <a:prstGeom prst="rect">
            <a:avLst/>
          </a:prstGeom>
        </p:spPr>
        <p:txBody>
          <a:bodyPr anchor="t"/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 sz="2000" b="1">
                <a:solidFill>
                  <a:schemeClr val="tx1"/>
                </a:solidFill>
              </a:defRPr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Название пункта лекции</a:t>
            </a:r>
            <a:endParaRPr lang="ru-RU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Название пункта лекции</a:t>
            </a:r>
            <a:endParaRPr lang="ru-RU" dirty="0"/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defRPr/>
            </a:pPr>
            <a:r>
              <a:rPr lang="ru-RU" dirty="0"/>
              <a:t>…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ru-RU" dirty="0"/>
          </a:p>
        </p:txBody>
      </p:sp>
      <p:cxnSp>
        <p:nvCxnSpPr>
          <p:cNvPr id="22" name="Прямая соединительная линия 21"/>
          <p:cNvCxnSpPr/>
          <p:nvPr userDrawn="1"/>
        </p:nvCxnSpPr>
        <p:spPr>
          <a:xfrm>
            <a:off x="370936" y="1232501"/>
            <a:ext cx="114903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439947" y="1382400"/>
            <a:ext cx="9318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3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План:</a:t>
            </a:r>
            <a:endParaRPr lang="ru-RU" sz="32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09" y="450622"/>
            <a:ext cx="1850927" cy="5828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омер и название пункта лек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/>
          <p:cNvCxnSpPr/>
          <p:nvPr userDrawn="1"/>
        </p:nvCxnSpPr>
        <p:spPr>
          <a:xfrm>
            <a:off x="370936" y="1232501"/>
            <a:ext cx="114903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756443" y="2035175"/>
            <a:ext cx="10679113" cy="2881313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4000" b="1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ru-RU" dirty="0"/>
              <a:t>Номер и название пункта лекции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009" y="450622"/>
            <a:ext cx="1850927" cy="5828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1_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>
            <a:fillRect/>
          </a:stretch>
        </p:blipFill>
        <p:spPr>
          <a:xfrm>
            <a:off x="479393" y="2064452"/>
            <a:ext cx="4959475" cy="4793548"/>
          </a:xfrm>
          <a:prstGeom prst="rect">
            <a:avLst/>
          </a:prstGeom>
        </p:spPr>
      </p:pic>
      <p:cxnSp>
        <p:nvCxnSpPr>
          <p:cNvPr id="15" name="Прямая соединительная линия 14"/>
          <p:cNvCxnSpPr/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1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>
            <a:fillRect/>
          </a:stretch>
        </p:blipFill>
        <p:spPr>
          <a:xfrm>
            <a:off x="479393" y="2064452"/>
            <a:ext cx="4959475" cy="4793548"/>
          </a:xfrm>
          <a:prstGeom prst="rect">
            <a:avLst/>
          </a:prstGeom>
        </p:spPr>
      </p:pic>
      <p:cxnSp>
        <p:nvCxnSpPr>
          <p:cNvPr id="19" name="Прямая соединительная линия 18"/>
          <p:cNvCxnSpPr/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  <a:endParaRPr lang="ru-RU" dirty="0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3"/>
          </p:nvPr>
        </p:nvSpPr>
        <p:spPr>
          <a:xfrm>
            <a:off x="6263296" y="1846142"/>
            <a:ext cx="4495800" cy="3802062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1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>
            <a:fillRect/>
          </a:stretch>
        </p:blipFill>
        <p:spPr>
          <a:xfrm>
            <a:off x="479393" y="2064452"/>
            <a:ext cx="4959475" cy="4793548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  <a:endParaRPr lang="ru-RU" dirty="0"/>
          </a:p>
        </p:txBody>
      </p:sp>
      <p:sp>
        <p:nvSpPr>
          <p:cNvPr id="17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5346754" y="1447863"/>
            <a:ext cx="6365853" cy="4499996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400"/>
            </a:lvl1pPr>
            <a:lvl2pPr>
              <a:buClr>
                <a:schemeClr val="accent2"/>
              </a:buClr>
              <a:defRPr sz="1400"/>
            </a:lvl2pPr>
          </a:lstStyle>
          <a:p>
            <a:pPr lvl="0"/>
            <a:r>
              <a:rPr lang="ru-RU" dirty="0"/>
              <a:t>Образец текста:</a:t>
            </a:r>
            <a:endParaRPr lang="ru-RU" dirty="0"/>
          </a:p>
          <a:p>
            <a:pPr lvl="1"/>
            <a:r>
              <a:rPr lang="ru-RU" dirty="0"/>
              <a:t>Текст</a:t>
            </a:r>
            <a:endParaRPr lang="ru-RU" dirty="0"/>
          </a:p>
          <a:p>
            <a:pPr lvl="1"/>
            <a:r>
              <a:rPr lang="ru-RU" dirty="0"/>
              <a:t>Текст</a:t>
            </a:r>
            <a:endParaRPr lang="ru-RU" dirty="0"/>
          </a:p>
          <a:p>
            <a:pPr lvl="1"/>
            <a:r>
              <a:rPr lang="ru-RU" dirty="0"/>
              <a:t>…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1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>
            <a:fillRect/>
          </a:stretch>
        </p:blipFill>
        <p:spPr>
          <a:xfrm>
            <a:off x="479393" y="2064452"/>
            <a:ext cx="4959475" cy="4793548"/>
          </a:xfrm>
          <a:prstGeom prst="rect">
            <a:avLst/>
          </a:prstGeom>
        </p:spPr>
      </p:pic>
      <p:cxnSp>
        <p:nvCxnSpPr>
          <p:cNvPr id="15" name="Прямая соединительная линия 14"/>
          <p:cNvCxnSpPr/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  <a:endParaRPr lang="ru-RU" dirty="0"/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5438868" y="4583998"/>
            <a:ext cx="6365853" cy="1711803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buClr>
                <a:schemeClr val="accent2"/>
              </a:buClr>
              <a:defRPr sz="1050"/>
            </a:lvl2pPr>
          </a:lstStyle>
          <a:p>
            <a:pPr lvl="0"/>
            <a:r>
              <a:rPr lang="ru-RU" dirty="0"/>
              <a:t>Образец текста:</a:t>
            </a:r>
            <a:endParaRPr lang="ru-RU" dirty="0"/>
          </a:p>
          <a:p>
            <a:pPr lvl="1"/>
            <a:r>
              <a:rPr lang="ru-RU" dirty="0"/>
              <a:t>Текст</a:t>
            </a:r>
            <a:endParaRPr lang="ru-RU" dirty="0"/>
          </a:p>
          <a:p>
            <a:pPr lvl="1"/>
            <a:r>
              <a:rPr lang="ru-RU" dirty="0"/>
              <a:t>Текст</a:t>
            </a:r>
            <a:endParaRPr lang="ru-RU" dirty="0"/>
          </a:p>
          <a:p>
            <a:pPr lvl="1"/>
            <a:r>
              <a:rPr lang="ru-RU" dirty="0"/>
              <a:t>…</a:t>
            </a:r>
            <a:endParaRPr lang="ru-RU" dirty="0"/>
          </a:p>
        </p:txBody>
      </p:sp>
      <p:sp>
        <p:nvSpPr>
          <p:cNvPr id="19" name="Рисунок 9"/>
          <p:cNvSpPr>
            <a:spLocks noGrp="1"/>
          </p:cNvSpPr>
          <p:nvPr>
            <p:ph type="pic" sz="quarter" idx="14"/>
          </p:nvPr>
        </p:nvSpPr>
        <p:spPr>
          <a:xfrm>
            <a:off x="6767374" y="1419299"/>
            <a:ext cx="3708840" cy="304504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1.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>
            <a:fillRect/>
          </a:stretch>
        </p:blipFill>
        <p:spPr>
          <a:xfrm>
            <a:off x="479393" y="2064452"/>
            <a:ext cx="4959475" cy="4793548"/>
          </a:xfrm>
          <a:prstGeom prst="rect">
            <a:avLst/>
          </a:prstGeom>
        </p:spPr>
      </p:pic>
      <p:cxnSp>
        <p:nvCxnSpPr>
          <p:cNvPr id="15" name="Прямая соединительная линия 14"/>
          <p:cNvCxnSpPr/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  <a:endParaRPr lang="ru-RU" dirty="0"/>
          </a:p>
        </p:txBody>
      </p:sp>
      <p:sp>
        <p:nvSpPr>
          <p:cNvPr id="18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5411864" y="4544747"/>
            <a:ext cx="6365853" cy="170940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buClr>
                <a:schemeClr val="accent2"/>
              </a:buClr>
              <a:defRPr sz="1050"/>
            </a:lvl2pPr>
          </a:lstStyle>
          <a:p>
            <a:pPr lvl="0"/>
            <a:r>
              <a:rPr lang="ru-RU" dirty="0"/>
              <a:t>Образец текста:</a:t>
            </a:r>
            <a:endParaRPr lang="ru-RU" dirty="0"/>
          </a:p>
          <a:p>
            <a:pPr lvl="1"/>
            <a:r>
              <a:rPr lang="ru-RU" dirty="0"/>
              <a:t>Текст</a:t>
            </a:r>
            <a:endParaRPr lang="ru-RU" dirty="0"/>
          </a:p>
          <a:p>
            <a:pPr lvl="1"/>
            <a:r>
              <a:rPr lang="ru-RU" dirty="0"/>
              <a:t>Текст</a:t>
            </a:r>
            <a:endParaRPr lang="ru-RU" dirty="0"/>
          </a:p>
          <a:p>
            <a:pPr lvl="1"/>
            <a:r>
              <a:rPr lang="ru-RU" dirty="0"/>
              <a:t>…</a:t>
            </a:r>
            <a:endParaRPr lang="ru-RU" dirty="0"/>
          </a:p>
        </p:txBody>
      </p:sp>
      <p:sp>
        <p:nvSpPr>
          <p:cNvPr id="19" name="Рисунок 9"/>
          <p:cNvSpPr>
            <a:spLocks noGrp="1"/>
          </p:cNvSpPr>
          <p:nvPr>
            <p:ph type="pic" sz="quarter" idx="14"/>
          </p:nvPr>
        </p:nvSpPr>
        <p:spPr>
          <a:xfrm>
            <a:off x="5791207" y="1958206"/>
            <a:ext cx="2803584" cy="226596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7" name="Рисунок 9"/>
          <p:cNvSpPr>
            <a:spLocks noGrp="1"/>
          </p:cNvSpPr>
          <p:nvPr>
            <p:ph type="pic" sz="quarter" idx="15"/>
          </p:nvPr>
        </p:nvSpPr>
        <p:spPr>
          <a:xfrm>
            <a:off x="8750978" y="1958206"/>
            <a:ext cx="2803584" cy="226596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>
            <a:spLocks noChangeAspect="1"/>
          </p:cNvSpPr>
          <p:nvPr userDrawn="1"/>
        </p:nvSpPr>
        <p:spPr>
          <a:xfrm rot="16200000">
            <a:off x="9847227" y="1802376"/>
            <a:ext cx="1855315" cy="181599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lumMod val="80000"/>
                    <a:lumOff val="20000"/>
                  </a:schemeClr>
                </a:gs>
                <a:gs pos="35000">
                  <a:schemeClr val="accent2"/>
                </a:gs>
                <a:gs pos="65000">
                  <a:srgbClr val="1D2E71">
                    <a:alpha val="70000"/>
                  </a:srgbClr>
                </a:gs>
                <a:gs pos="100000">
                  <a:srgbClr val="1D2E71">
                    <a:lumMod val="90000"/>
                    <a:lumOff val="1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>
            <a:fillRect/>
          </a:stretch>
        </p:blipFill>
        <p:spPr>
          <a:xfrm>
            <a:off x="9866885" y="1833994"/>
            <a:ext cx="1866485" cy="1804039"/>
          </a:xfrm>
          <a:prstGeom prst="ellipse">
            <a:avLst/>
          </a:prstGeom>
        </p:spPr>
      </p:pic>
      <p:cxnSp>
        <p:nvCxnSpPr>
          <p:cNvPr id="16" name="Прямая соединительная линия 15"/>
          <p:cNvCxnSpPr/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2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Овал 23"/>
          <p:cNvSpPr>
            <a:spLocks noChangeAspect="1"/>
          </p:cNvSpPr>
          <p:nvPr userDrawn="1"/>
        </p:nvSpPr>
        <p:spPr>
          <a:xfrm rot="16200000">
            <a:off x="9847227" y="1802376"/>
            <a:ext cx="1855315" cy="181599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lumMod val="80000"/>
                    <a:lumOff val="20000"/>
                  </a:schemeClr>
                </a:gs>
                <a:gs pos="35000">
                  <a:schemeClr val="accent2"/>
                </a:gs>
                <a:gs pos="65000">
                  <a:srgbClr val="1D2E71">
                    <a:alpha val="70000"/>
                  </a:srgbClr>
                </a:gs>
                <a:gs pos="100000">
                  <a:srgbClr val="1D2E71">
                    <a:lumMod val="90000"/>
                    <a:lumOff val="1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>
            <a:fillRect/>
          </a:stretch>
        </p:blipFill>
        <p:spPr>
          <a:xfrm>
            <a:off x="9866885" y="1833994"/>
            <a:ext cx="1866485" cy="1804039"/>
          </a:xfrm>
          <a:prstGeom prst="ellipse">
            <a:avLst/>
          </a:prstGeom>
        </p:spPr>
      </p:pic>
      <p:cxnSp>
        <p:nvCxnSpPr>
          <p:cNvPr id="12" name="Прямая соединительная линия 11"/>
          <p:cNvCxnSpPr/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  <a:endParaRPr lang="ru-RU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3"/>
          </p:nvPr>
        </p:nvSpPr>
        <p:spPr>
          <a:xfrm>
            <a:off x="1417288" y="1471687"/>
            <a:ext cx="3691948" cy="295776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15" name="Рисунок 9"/>
          <p:cNvSpPr>
            <a:spLocks noGrp="1"/>
          </p:cNvSpPr>
          <p:nvPr>
            <p:ph type="pic" sz="quarter" idx="14"/>
          </p:nvPr>
        </p:nvSpPr>
        <p:spPr>
          <a:xfrm>
            <a:off x="5503339" y="1471687"/>
            <a:ext cx="3691948" cy="295776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16" name="Текст 2"/>
          <p:cNvSpPr>
            <a:spLocks noGrp="1"/>
          </p:cNvSpPr>
          <p:nvPr>
            <p:ph type="body" sz="quarter" idx="15" hasCustomPrompt="1"/>
          </p:nvPr>
        </p:nvSpPr>
        <p:spPr>
          <a:xfrm>
            <a:off x="756681" y="4586406"/>
            <a:ext cx="10720062" cy="170940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buClr>
                <a:schemeClr val="accent2"/>
              </a:buClr>
              <a:defRPr sz="1050"/>
            </a:lvl2pPr>
          </a:lstStyle>
          <a:p>
            <a:pPr lvl="0"/>
            <a:r>
              <a:rPr lang="ru-RU" dirty="0"/>
              <a:t>Образец текста:</a:t>
            </a:r>
            <a:endParaRPr lang="ru-RU" dirty="0"/>
          </a:p>
          <a:p>
            <a:pPr lvl="1"/>
            <a:r>
              <a:rPr lang="ru-RU" dirty="0"/>
              <a:t>Текст</a:t>
            </a:r>
            <a:endParaRPr lang="ru-RU" dirty="0"/>
          </a:p>
          <a:p>
            <a:pPr lvl="1"/>
            <a:r>
              <a:rPr lang="ru-RU" dirty="0"/>
              <a:t>Текст</a:t>
            </a:r>
            <a:endParaRPr lang="ru-RU" dirty="0"/>
          </a:p>
          <a:p>
            <a:pPr lvl="1"/>
            <a:r>
              <a:rPr lang="ru-RU" dirty="0"/>
              <a:t>…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2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Овал 23"/>
          <p:cNvSpPr>
            <a:spLocks noChangeAspect="1"/>
          </p:cNvSpPr>
          <p:nvPr userDrawn="1"/>
        </p:nvSpPr>
        <p:spPr>
          <a:xfrm rot="16200000">
            <a:off x="9847227" y="1802376"/>
            <a:ext cx="1855315" cy="181599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lumMod val="80000"/>
                    <a:lumOff val="20000"/>
                  </a:schemeClr>
                </a:gs>
                <a:gs pos="35000">
                  <a:schemeClr val="accent2"/>
                </a:gs>
                <a:gs pos="65000">
                  <a:srgbClr val="1D2E71">
                    <a:alpha val="70000"/>
                  </a:srgbClr>
                </a:gs>
                <a:gs pos="100000">
                  <a:srgbClr val="1D2E71">
                    <a:lumMod val="90000"/>
                    <a:lumOff val="1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>
            <a:fillRect/>
          </a:stretch>
        </p:blipFill>
        <p:spPr>
          <a:xfrm>
            <a:off x="9866885" y="1833994"/>
            <a:ext cx="1866485" cy="1804039"/>
          </a:xfrm>
          <a:prstGeom prst="ellipse">
            <a:avLst/>
          </a:prstGeom>
        </p:spPr>
      </p:pic>
      <p:cxnSp>
        <p:nvCxnSpPr>
          <p:cNvPr id="12" name="Прямая соединительная линия 11"/>
          <p:cNvCxnSpPr/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  <a:endParaRPr lang="ru-RU" dirty="0"/>
          </a:p>
        </p:txBody>
      </p:sp>
      <p:sp>
        <p:nvSpPr>
          <p:cNvPr id="14" name="Рисунок 9"/>
          <p:cNvSpPr>
            <a:spLocks noGrp="1"/>
          </p:cNvSpPr>
          <p:nvPr>
            <p:ph type="pic" sz="quarter" idx="13"/>
          </p:nvPr>
        </p:nvSpPr>
        <p:spPr>
          <a:xfrm>
            <a:off x="1883114" y="1471688"/>
            <a:ext cx="3123076" cy="24102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15" name="Рисунок 9"/>
          <p:cNvSpPr>
            <a:spLocks noGrp="1"/>
          </p:cNvSpPr>
          <p:nvPr>
            <p:ph type="pic" sz="quarter" idx="14"/>
          </p:nvPr>
        </p:nvSpPr>
        <p:spPr>
          <a:xfrm>
            <a:off x="5184182" y="1471688"/>
            <a:ext cx="3123076" cy="24102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9" name="Рисунок 9"/>
          <p:cNvSpPr>
            <a:spLocks noGrp="1"/>
          </p:cNvSpPr>
          <p:nvPr>
            <p:ph type="pic" sz="quarter" idx="15"/>
          </p:nvPr>
        </p:nvSpPr>
        <p:spPr>
          <a:xfrm>
            <a:off x="1883114" y="4039035"/>
            <a:ext cx="3123076" cy="24102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6"/>
          </p:nvPr>
        </p:nvSpPr>
        <p:spPr>
          <a:xfrm>
            <a:off x="5184182" y="4039035"/>
            <a:ext cx="3123076" cy="24102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2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>
            <a:spLocks noChangeAspect="1"/>
          </p:cNvSpPr>
          <p:nvPr userDrawn="1"/>
        </p:nvSpPr>
        <p:spPr>
          <a:xfrm rot="16200000">
            <a:off x="9847227" y="1802376"/>
            <a:ext cx="1855315" cy="181599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lumMod val="80000"/>
                    <a:lumOff val="20000"/>
                  </a:schemeClr>
                </a:gs>
                <a:gs pos="35000">
                  <a:schemeClr val="accent2"/>
                </a:gs>
                <a:gs pos="65000">
                  <a:srgbClr val="1D2E71">
                    <a:alpha val="70000"/>
                  </a:srgbClr>
                </a:gs>
                <a:gs pos="100000">
                  <a:srgbClr val="1D2E71">
                    <a:lumMod val="90000"/>
                    <a:lumOff val="1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>
            <a:fillRect/>
          </a:stretch>
        </p:blipFill>
        <p:spPr>
          <a:xfrm>
            <a:off x="9866885" y="1833994"/>
            <a:ext cx="1866485" cy="1804039"/>
          </a:xfrm>
          <a:prstGeom prst="ellipse">
            <a:avLst/>
          </a:prstGeom>
        </p:spPr>
      </p:pic>
      <p:cxnSp>
        <p:nvCxnSpPr>
          <p:cNvPr id="16" name="Прямая соединительная линия 15"/>
          <p:cNvCxnSpPr/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  <a:endParaRPr lang="ru-RU" dirty="0"/>
          </a:p>
        </p:txBody>
      </p:sp>
      <p:sp>
        <p:nvSpPr>
          <p:cNvPr id="27" name="Текст 2"/>
          <p:cNvSpPr>
            <a:spLocks noGrp="1"/>
          </p:cNvSpPr>
          <p:nvPr>
            <p:ph type="body" sz="quarter" idx="15" hasCustomPrompt="1"/>
          </p:nvPr>
        </p:nvSpPr>
        <p:spPr>
          <a:xfrm>
            <a:off x="951478" y="1753520"/>
            <a:ext cx="8123511" cy="431652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400"/>
            </a:lvl1pPr>
            <a:lvl2pPr>
              <a:buClr>
                <a:schemeClr val="accent2"/>
              </a:buClr>
              <a:defRPr sz="2000"/>
            </a:lvl2pPr>
          </a:lstStyle>
          <a:p>
            <a:pPr lvl="0"/>
            <a:r>
              <a:rPr lang="ru-RU" dirty="0"/>
              <a:t>Образец текста:</a:t>
            </a:r>
            <a:endParaRPr lang="ru-RU" dirty="0"/>
          </a:p>
          <a:p>
            <a:pPr lvl="1"/>
            <a:r>
              <a:rPr lang="ru-RU" dirty="0"/>
              <a:t>Текст</a:t>
            </a:r>
            <a:endParaRPr lang="ru-RU" dirty="0"/>
          </a:p>
          <a:p>
            <a:pPr lvl="1"/>
            <a:r>
              <a:rPr lang="ru-RU" dirty="0"/>
              <a:t>Текст</a:t>
            </a:r>
            <a:endParaRPr lang="ru-RU" dirty="0"/>
          </a:p>
          <a:p>
            <a:pPr lvl="1"/>
            <a:r>
              <a:rPr lang="ru-RU" dirty="0"/>
              <a:t>…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2.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>
            <a:spLocks noChangeAspect="1"/>
          </p:cNvSpPr>
          <p:nvPr userDrawn="1"/>
        </p:nvSpPr>
        <p:spPr>
          <a:xfrm rot="16200000">
            <a:off x="9847227" y="1802376"/>
            <a:ext cx="1855315" cy="181599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chemeClr val="accent2">
                    <a:lumMod val="80000"/>
                    <a:lumOff val="20000"/>
                  </a:schemeClr>
                </a:gs>
                <a:gs pos="35000">
                  <a:schemeClr val="accent2"/>
                </a:gs>
                <a:gs pos="65000">
                  <a:srgbClr val="1D2E71">
                    <a:alpha val="70000"/>
                  </a:srgbClr>
                </a:gs>
                <a:gs pos="100000">
                  <a:srgbClr val="1D2E71">
                    <a:lumMod val="90000"/>
                    <a:lumOff val="1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773" t="23582" b="8497"/>
          <a:stretch>
            <a:fillRect/>
          </a:stretch>
        </p:blipFill>
        <p:spPr>
          <a:xfrm>
            <a:off x="9866885" y="1833994"/>
            <a:ext cx="1866485" cy="1804039"/>
          </a:xfrm>
          <a:prstGeom prst="ellipse">
            <a:avLst/>
          </a:prstGeom>
        </p:spPr>
      </p:pic>
      <p:cxnSp>
        <p:nvCxnSpPr>
          <p:cNvPr id="16" name="Прямая соединительная линия 15"/>
          <p:cNvCxnSpPr/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  <a:endParaRPr lang="ru-RU" dirty="0"/>
          </a:p>
        </p:txBody>
      </p:sp>
      <p:sp>
        <p:nvSpPr>
          <p:cNvPr id="7" name="Рисунок 9"/>
          <p:cNvSpPr>
            <a:spLocks noGrp="1"/>
          </p:cNvSpPr>
          <p:nvPr>
            <p:ph type="pic" sz="quarter" idx="13"/>
          </p:nvPr>
        </p:nvSpPr>
        <p:spPr>
          <a:xfrm>
            <a:off x="1891741" y="1661470"/>
            <a:ext cx="6441376" cy="460130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Прямая соединительная линия 15"/>
          <p:cNvCxnSpPr/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3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Прямая соединительная линия 15"/>
          <p:cNvCxnSpPr/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  <a:endParaRPr lang="ru-RU" dirty="0"/>
          </a:p>
        </p:txBody>
      </p:sp>
      <p:sp>
        <p:nvSpPr>
          <p:cNvPr id="23" name="Рисунок 9"/>
          <p:cNvSpPr>
            <a:spLocks noGrp="1"/>
          </p:cNvSpPr>
          <p:nvPr>
            <p:ph type="pic" sz="quarter" idx="13"/>
          </p:nvPr>
        </p:nvSpPr>
        <p:spPr>
          <a:xfrm>
            <a:off x="2064269" y="1471687"/>
            <a:ext cx="3691948" cy="295776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27" name="Рисунок 9"/>
          <p:cNvSpPr>
            <a:spLocks noGrp="1"/>
          </p:cNvSpPr>
          <p:nvPr>
            <p:ph type="pic" sz="quarter" idx="14"/>
          </p:nvPr>
        </p:nvSpPr>
        <p:spPr>
          <a:xfrm>
            <a:off x="6650652" y="1471687"/>
            <a:ext cx="3691948" cy="2957767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28" name="Текст 2"/>
          <p:cNvSpPr>
            <a:spLocks noGrp="1"/>
          </p:cNvSpPr>
          <p:nvPr>
            <p:ph type="body" sz="quarter" idx="15" hasCustomPrompt="1"/>
          </p:nvPr>
        </p:nvSpPr>
        <p:spPr>
          <a:xfrm>
            <a:off x="735969" y="4531611"/>
            <a:ext cx="10720062" cy="170940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buClr>
                <a:schemeClr val="accent2"/>
              </a:buClr>
              <a:defRPr sz="1050"/>
            </a:lvl2pPr>
          </a:lstStyle>
          <a:p>
            <a:pPr lvl="0"/>
            <a:r>
              <a:rPr lang="ru-RU" dirty="0"/>
              <a:t>Образец текста:</a:t>
            </a:r>
            <a:endParaRPr lang="ru-RU" dirty="0"/>
          </a:p>
          <a:p>
            <a:pPr lvl="1"/>
            <a:r>
              <a:rPr lang="ru-RU" dirty="0"/>
              <a:t>Текст</a:t>
            </a:r>
            <a:endParaRPr lang="ru-RU" dirty="0"/>
          </a:p>
          <a:p>
            <a:pPr lvl="1"/>
            <a:r>
              <a:rPr lang="ru-RU" dirty="0"/>
              <a:t>Текст</a:t>
            </a:r>
            <a:endParaRPr lang="ru-RU" dirty="0"/>
          </a:p>
          <a:p>
            <a:pPr lvl="1"/>
            <a:r>
              <a:rPr lang="ru-RU" dirty="0"/>
              <a:t>…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_3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Прямая соединительная линия 15"/>
          <p:cNvCxnSpPr/>
          <p:nvPr userDrawn="1"/>
        </p:nvCxnSpPr>
        <p:spPr>
          <a:xfrm>
            <a:off x="365158" y="1045599"/>
            <a:ext cx="11376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365158" y="40876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lvl="0"/>
            <a:r>
              <a:rPr lang="ru-RU" dirty="0"/>
              <a:t>Заголовок слайда</a:t>
            </a:r>
            <a:endParaRPr lang="ru-RU" dirty="0"/>
          </a:p>
        </p:txBody>
      </p:sp>
      <p:sp>
        <p:nvSpPr>
          <p:cNvPr id="7" name="Рисунок 9"/>
          <p:cNvSpPr>
            <a:spLocks noGrp="1"/>
          </p:cNvSpPr>
          <p:nvPr>
            <p:ph type="pic" sz="quarter" idx="13"/>
          </p:nvPr>
        </p:nvSpPr>
        <p:spPr>
          <a:xfrm>
            <a:off x="994595" y="1906444"/>
            <a:ext cx="3646417" cy="3742055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ru-RU" dirty="0"/>
          </a:p>
        </p:txBody>
      </p:sp>
      <p:sp>
        <p:nvSpPr>
          <p:cNvPr id="8" name="Текст 2"/>
          <p:cNvSpPr>
            <a:spLocks noGrp="1"/>
          </p:cNvSpPr>
          <p:nvPr>
            <p:ph type="body" sz="quarter" idx="15" hasCustomPrompt="1"/>
          </p:nvPr>
        </p:nvSpPr>
        <p:spPr>
          <a:xfrm>
            <a:off x="5834347" y="1619211"/>
            <a:ext cx="5363058" cy="431652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2400"/>
            </a:lvl1pPr>
            <a:lvl2pPr>
              <a:buClr>
                <a:schemeClr val="accent2"/>
              </a:buClr>
              <a:defRPr sz="2000"/>
            </a:lvl2pPr>
          </a:lstStyle>
          <a:p>
            <a:pPr lvl="0"/>
            <a:r>
              <a:rPr lang="ru-RU" dirty="0"/>
              <a:t>Образец текста:</a:t>
            </a:r>
            <a:endParaRPr lang="ru-RU" dirty="0"/>
          </a:p>
          <a:p>
            <a:pPr lvl="1"/>
            <a:r>
              <a:rPr lang="ru-RU" dirty="0"/>
              <a:t>Текст</a:t>
            </a:r>
            <a:endParaRPr lang="ru-RU" dirty="0"/>
          </a:p>
          <a:p>
            <a:pPr lvl="1"/>
            <a:r>
              <a:rPr lang="ru-RU" dirty="0"/>
              <a:t>Текст</a:t>
            </a:r>
            <a:endParaRPr lang="ru-RU" dirty="0"/>
          </a:p>
          <a:p>
            <a:pPr lvl="1"/>
            <a:r>
              <a:rPr lang="ru-RU" dirty="0"/>
              <a:t>…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85" y="6383370"/>
            <a:ext cx="973316" cy="3065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за внимание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Прямая соединительная линия 21"/>
          <p:cNvCxnSpPr/>
          <p:nvPr userDrawn="1"/>
        </p:nvCxnSpPr>
        <p:spPr>
          <a:xfrm>
            <a:off x="370936" y="1232501"/>
            <a:ext cx="114903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1406800" y="3090469"/>
            <a:ext cx="93783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Спасибо за внимание!</a:t>
            </a:r>
            <a:endParaRPr lang="ru-RU" sz="54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371" y="471644"/>
            <a:ext cx="2392481" cy="4716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36" y="338400"/>
            <a:ext cx="2392481" cy="753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пасибо за внимание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>
          <a:xfrm>
            <a:off x="500331" y="1079647"/>
            <a:ext cx="7192937" cy="4206426"/>
          </a:xfrm>
        </p:spPr>
        <p:txBody>
          <a:bodyPr/>
          <a:lstStyle/>
          <a:p>
            <a:r>
              <a:rPr lang="ru-RU" dirty="0"/>
              <a:t>Социальный проект </a:t>
            </a:r>
            <a:r>
              <a:rPr lang="ru-RU" dirty="0" smtClean="0"/>
              <a:t>«</a:t>
            </a:r>
            <a:r>
              <a:rPr lang="ru-RU" dirty="0"/>
              <a:t>Добро в </a:t>
            </a:r>
            <a:r>
              <a:rPr lang="ru-RU" dirty="0" smtClean="0"/>
              <a:t>кармане»</a:t>
            </a:r>
            <a:endParaRPr lang="ru-RU" sz="2800" i="1" dirty="0"/>
          </a:p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73722" y="4890123"/>
            <a:ext cx="86718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/>
              <a:t>Руководитель проекта</a:t>
            </a:r>
            <a:r>
              <a:rPr lang="ru-RU" b="1" i="1" dirty="0" smtClean="0"/>
              <a:t>: Левушкина Светлана Владимировна</a:t>
            </a:r>
            <a:endParaRPr lang="ru-RU" b="1" i="1" dirty="0"/>
          </a:p>
          <a:p>
            <a:endParaRPr lang="ru-RU" b="1" i="1" dirty="0"/>
          </a:p>
          <a:p>
            <a:r>
              <a:rPr lang="ru-RU" b="1" i="1" dirty="0"/>
              <a:t>Р</a:t>
            </a:r>
            <a:r>
              <a:rPr lang="ru-RU" b="1" i="1" dirty="0" smtClean="0"/>
              <a:t>азработчик </a:t>
            </a:r>
            <a:r>
              <a:rPr lang="ru-RU" b="1" i="1" dirty="0"/>
              <a:t>проекта</a:t>
            </a:r>
            <a:r>
              <a:rPr lang="ru-RU" b="1" i="1" dirty="0" smtClean="0"/>
              <a:t>: Польшин Артем Денисович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Потенциальные заказчики проекта</a:t>
            </a:r>
            <a:endParaRPr lang="ru-RU" dirty="0"/>
          </a:p>
        </p:txBody>
      </p:sp>
      <p:sp>
        <p:nvSpPr>
          <p:cNvPr id="7" name="Текст 2"/>
          <p:cNvSpPr txBox="1"/>
          <p:nvPr/>
        </p:nvSpPr>
        <p:spPr>
          <a:xfrm>
            <a:off x="686369" y="4860386"/>
            <a:ext cx="11376000" cy="199761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61645" y="1439545"/>
          <a:ext cx="11280140" cy="4451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215"/>
                <a:gridCol w="3142615"/>
                <a:gridCol w="4013200"/>
                <a:gridCol w="3293110"/>
              </a:tblGrid>
              <a:tr h="1483995">
                <a:tc>
                  <a:txBody>
                    <a:bodyPr/>
                    <a:lstStyle/>
                    <a:p>
                      <a:r>
                        <a:rPr lang="ru-RU" sz="2000" dirty="0"/>
                        <a:t>№ п/п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Наименование заказчика 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Отраслевая</a:t>
                      </a:r>
                      <a:r>
                        <a:rPr lang="ru-RU" sz="2000" baseline="0" dirty="0"/>
                        <a:t> </a:t>
                      </a:r>
                      <a:r>
                        <a:rPr lang="ru-RU" sz="2000" dirty="0"/>
                        <a:t>принадлежность (сфера деятельности)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Место</a:t>
                      </a:r>
                      <a:r>
                        <a:rPr lang="ru-RU" sz="2000" baseline="0" dirty="0"/>
                        <a:t> нахождения (территория действия)</a:t>
                      </a:r>
                      <a:endParaRPr lang="ru-RU" sz="2000" dirty="0"/>
                    </a:p>
                  </a:txBody>
                  <a:tcPr/>
                </a:tc>
              </a:tr>
              <a:tr h="1483995">
                <a:tc>
                  <a:txBody>
                    <a:bodyPr/>
                    <a:lstStyle/>
                    <a:p>
                      <a:r>
                        <a:rPr lang="ru-RU" sz="2000" dirty="0"/>
                        <a:t>1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 dirty="0"/>
                        <a:t>Некоммерческие организации </a:t>
                      </a:r>
                      <a:endParaRPr lang="ru-RU" sz="2000" dirty="0"/>
                    </a:p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ночлежки, медицинские услуги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>
                          <a:sym typeface="+mn-ea"/>
                        </a:rPr>
                        <a:t>Ставропольский край</a:t>
                      </a:r>
                      <a:endParaRPr lang="ru-RU" sz="2000" dirty="0"/>
                    </a:p>
                    <a:p>
                      <a:endParaRPr lang="ru-RU" sz="2000" dirty="0"/>
                    </a:p>
                  </a:txBody>
                  <a:tcPr/>
                </a:tc>
              </a:tr>
              <a:tr h="1483995">
                <a:tc>
                  <a:txBody>
                    <a:bodyPr/>
                    <a:lstStyle/>
                    <a:p>
                      <a:r>
                        <a:rPr lang="ru-RU" sz="2000" dirty="0"/>
                        <a:t>2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 dirty="0"/>
                        <a:t>Общественные объединения </a:t>
                      </a:r>
                      <a:endParaRPr lang="ru-RU" sz="2000" dirty="0"/>
                    </a:p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Волонтёрство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Ставропольский край</a:t>
                      </a:r>
                      <a:endParaRPr lang="ru-RU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Разработчики проекта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878449" y="1434905"/>
          <a:ext cx="10657059" cy="2854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2353"/>
                <a:gridCol w="3552353"/>
                <a:gridCol w="3552353"/>
              </a:tblGrid>
              <a:tr h="568047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ФИО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Роль в проекте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Функционал</a:t>
                      </a:r>
                      <a:endParaRPr lang="ru-RU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Польшин Артем Денисович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Главный разработчик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Разработка проекта</a:t>
                      </a:r>
                      <a:endParaRPr lang="ru-RU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Оберемко Анна Алексеевна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altLang="en-US" sz="2000" dirty="0"/>
                        <a:t>Генератор идей, мотиватор, работник</a:t>
                      </a:r>
                      <a:endParaRPr lang="ru-RU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Сборка и раскладка «пакетов»</a:t>
                      </a:r>
                      <a:endParaRPr lang="ru-RU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/>
                        <a:t>Азарян Роман Каренович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Исследователь ресурсов 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sym typeface="+mn-ea"/>
                        </a:rPr>
                        <a:t>Сборка и раскладка «пакетов»</a:t>
                      </a:r>
                      <a:endParaRPr lang="ru-RU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Участники (партнеры) проекта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878449" y="1434905"/>
          <a:ext cx="10657059" cy="4987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2353"/>
                <a:gridCol w="3552353"/>
                <a:gridCol w="3552353"/>
              </a:tblGrid>
              <a:tr h="568047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ФИО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Роль в проекте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/>
                        <a:t>Функционал</a:t>
                      </a:r>
                      <a:endParaRPr lang="ru-RU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Местные</a:t>
                      </a:r>
                      <a:r>
                        <a:rPr lang="ru-RU" sz="2000" baseline="0" dirty="0" smtClean="0"/>
                        <a:t> отделения красного креста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Стратегический</a:t>
                      </a:r>
                      <a:r>
                        <a:rPr lang="ru-RU" sz="2000" baseline="0" dirty="0" smtClean="0"/>
                        <a:t> спонсор проекта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Предоставление медицинских препаратов первой необходимости</a:t>
                      </a:r>
                      <a:endParaRPr lang="ru-RU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Благотворительная организация «Ночлежка»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Стратегический</a:t>
                      </a:r>
                      <a:r>
                        <a:rPr lang="ru-RU" sz="2000" baseline="0" dirty="0" smtClean="0"/>
                        <a:t> спонсор проекта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Предоставление</a:t>
                      </a:r>
                      <a:r>
                        <a:rPr lang="ru-RU" sz="2000" baseline="0" dirty="0" smtClean="0"/>
                        <a:t> мест для ночёвки</a:t>
                      </a:r>
                      <a:endParaRPr lang="ru-RU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Краевой центр социального обслуживания граждан пожилого возраста и инвалидов.</a:t>
                      </a:r>
                      <a:endParaRPr lang="ru-RU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Стратегический</a:t>
                      </a:r>
                      <a:r>
                        <a:rPr lang="ru-RU" sz="2000" baseline="0" dirty="0" smtClean="0"/>
                        <a:t> спонсор проекта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Предоставление медицинских услуг пожилым</a:t>
                      </a:r>
                      <a:r>
                        <a:rPr lang="ru-RU" sz="2000" baseline="0" dirty="0" smtClean="0"/>
                        <a:t> людям, попавшим в сложную жизненную ситуацию</a:t>
                      </a:r>
                      <a:endParaRPr lang="ru-RU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0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Актуальность и социальная значимость проекта</a:t>
            </a:r>
            <a:endParaRPr lang="ru-RU" dirty="0"/>
          </a:p>
        </p:txBody>
      </p:sp>
      <p:sp>
        <p:nvSpPr>
          <p:cNvPr id="4" name="Текст 2"/>
          <p:cNvSpPr txBox="1"/>
          <p:nvPr/>
        </p:nvSpPr>
        <p:spPr>
          <a:xfrm>
            <a:off x="365158" y="1756917"/>
            <a:ext cx="11376000" cy="436124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Решаемая проблема</a:t>
            </a:r>
            <a:r>
              <a:rPr lang="ru-RU" dirty="0" smtClean="0"/>
              <a:t>: Тяжёлое положение бездомных и малоимущих </a:t>
            </a:r>
            <a:endParaRPr lang="ru-RU" dirty="0"/>
          </a:p>
          <a:p>
            <a:endParaRPr lang="ru-RU" dirty="0"/>
          </a:p>
          <a:p>
            <a:r>
              <a:rPr lang="ru-RU" dirty="0" smtClean="0"/>
              <a:t>Проект связан с государственным направлением сохранения населения, здоровья и благополучия людей; программой социальной поддержки.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Адресная направленность проекта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623454" y="1679171"/>
            <a:ext cx="10947861" cy="2095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ru-RU" sz="2400" dirty="0" smtClean="0"/>
              <a:t>Жители </a:t>
            </a:r>
            <a:r>
              <a:rPr lang="ru-RU" sz="2400" dirty="0"/>
              <a:t>С</a:t>
            </a:r>
            <a:r>
              <a:rPr lang="ru-RU" sz="2400" dirty="0" smtClean="0"/>
              <a:t>таврополя, попавшие в сложную жизненную ситуацию</a:t>
            </a:r>
            <a:endParaRPr lang="ru-RU" sz="2400" dirty="0" smtClean="0"/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ru-RU" sz="2400" dirty="0" smtClean="0"/>
              <a:t>Люди без определенного места жительства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Гипотеза проекта:</a:t>
            </a:r>
            <a:endParaRPr lang="ru-RU" dirty="0"/>
          </a:p>
        </p:txBody>
      </p:sp>
      <p:sp>
        <p:nvSpPr>
          <p:cNvPr id="4" name="Текст 2"/>
          <p:cNvSpPr txBox="1"/>
          <p:nvPr/>
        </p:nvSpPr>
        <p:spPr>
          <a:xfrm>
            <a:off x="365158" y="3656057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Цель проекта:</a:t>
            </a:r>
            <a:endParaRPr lang="ru-RU" dirty="0"/>
          </a:p>
        </p:txBody>
      </p:sp>
      <p:sp>
        <p:nvSpPr>
          <p:cNvPr id="2" name="Багетная рамка 1"/>
          <p:cNvSpPr/>
          <p:nvPr/>
        </p:nvSpPr>
        <p:spPr>
          <a:xfrm>
            <a:off x="1434905" y="1280160"/>
            <a:ext cx="9383150" cy="2039815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Багетная рамка 4"/>
          <p:cNvSpPr/>
          <p:nvPr/>
        </p:nvSpPr>
        <p:spPr>
          <a:xfrm>
            <a:off x="1434905" y="4428978"/>
            <a:ext cx="9383150" cy="2039815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2061556" y="1895302"/>
            <a:ext cx="8079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В современном обществе бездомным и малоимущим людям предоставляется недостаточное количество льгот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03120" y="4896196"/>
            <a:ext cx="81132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До 1 июня 2026 года начать обеспечение материальной</a:t>
            </a:r>
            <a:r>
              <a:rPr lang="ru-RU" i="1" dirty="0" smtClean="0">
                <a:solidFill>
                  <a:schemeClr val="bg1"/>
                </a:solidFill>
              </a:rPr>
              <a:t> </a:t>
            </a:r>
            <a:r>
              <a:rPr lang="ru-RU" dirty="0" smtClean="0">
                <a:solidFill>
                  <a:schemeClr val="bg1"/>
                </a:solidFill>
              </a:rPr>
              <a:t>помощью</a:t>
            </a:r>
            <a:r>
              <a:rPr lang="ru-RU" i="1" dirty="0" smtClean="0">
                <a:solidFill>
                  <a:schemeClr val="bg1"/>
                </a:solidFill>
              </a:rPr>
              <a:t> </a:t>
            </a:r>
            <a:r>
              <a:rPr lang="ru-RU" dirty="0" smtClean="0">
                <a:solidFill>
                  <a:schemeClr val="bg1"/>
                </a:solidFill>
              </a:rPr>
              <a:t>людей без определённого места жительства, а также малоимущих, попавших в сложную жизненную ситуацию.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Задачи проекта:</a:t>
            </a:r>
            <a:endParaRPr lang="ru-RU" dirty="0"/>
          </a:p>
        </p:txBody>
      </p:sp>
      <p:sp>
        <p:nvSpPr>
          <p:cNvPr id="4" name="Багетная рамка 3"/>
          <p:cNvSpPr/>
          <p:nvPr/>
        </p:nvSpPr>
        <p:spPr>
          <a:xfrm>
            <a:off x="365158" y="1286111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Багетная рамка 4"/>
          <p:cNvSpPr/>
          <p:nvPr/>
        </p:nvSpPr>
        <p:spPr>
          <a:xfrm>
            <a:off x="365157" y="2065607"/>
            <a:ext cx="11378460" cy="837199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агетная рамка 5"/>
          <p:cNvSpPr/>
          <p:nvPr/>
        </p:nvSpPr>
        <p:spPr>
          <a:xfrm>
            <a:off x="365157" y="3117813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агетная рамка 6"/>
          <p:cNvSpPr/>
          <p:nvPr/>
        </p:nvSpPr>
        <p:spPr>
          <a:xfrm>
            <a:off x="365157" y="3911903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агетная рамка 7"/>
          <p:cNvSpPr/>
          <p:nvPr/>
        </p:nvSpPr>
        <p:spPr>
          <a:xfrm>
            <a:off x="365157" y="4705993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агетная рамка 8"/>
          <p:cNvSpPr/>
          <p:nvPr/>
        </p:nvSpPr>
        <p:spPr>
          <a:xfrm>
            <a:off x="365157" y="5582177"/>
            <a:ext cx="11376000" cy="562707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544105" y="1382798"/>
            <a:ext cx="1090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Создание условий для более комфортной жизни бездомных</a:t>
            </a:r>
            <a:endParaRPr lang="ru-RU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4105" y="2144588"/>
            <a:ext cx="1111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Создание условий для уменьшения эмоциональной нагрузки на людей, попавших в сложную жизненную ситуацию</a:t>
            </a:r>
            <a:endParaRPr lang="ru-RU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 err="1"/>
              <a:t>Прототипирование</a:t>
            </a:r>
            <a:r>
              <a:rPr lang="ru-RU" dirty="0"/>
              <a:t> (описание социального проекта)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65158" y="1219981"/>
            <a:ext cx="11564245" cy="5077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Мини-помощь для бездомных и нуждающихся </a:t>
            </a:r>
            <a:r>
              <a:rPr lang="ru-RU" sz="13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через карманные наборы-«спасатели».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Суть проекта: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Добровольцы собирают небольшие пакетики (или конвертики) с самыми необходимыми вещами </a:t>
            </a:r>
            <a:r>
              <a:rPr lang="ru-RU" sz="13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оставляют их в местах, где могут оказаться </a:t>
            </a:r>
            <a:r>
              <a:rPr lang="ru-RU" sz="13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люди, находящиеся </a:t>
            </a: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трудной жизненной ситуации: у станций метро, на вокзалах, у социальных служб, в церквях/мечетях/храмах, на лавочках в парках.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кладут в такой набор (всё можно собрать бесплатно или почти бесплатно):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Пара </a:t>
            </a:r>
            <a:r>
              <a:rPr lang="ru-RU" sz="13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носков</a:t>
            </a:r>
            <a:endParaRPr lang="ru-RU" sz="1300" dirty="0" smtClean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Одноразовые </a:t>
            </a: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перчатки или влажные салфетки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Питьевая вода или сок в маленькой упаковке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Батончик, печенье или сухой </a:t>
            </a:r>
            <a:r>
              <a:rPr lang="ru-RU" sz="13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паёк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Записка: </a:t>
            </a: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где можно получить помощь (адреса ночлежек, </a:t>
            </a:r>
            <a:r>
              <a:rPr lang="ru-RU" sz="13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соцслужб</a:t>
            </a: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горячих линий)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это работает без денег: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Сбор </a:t>
            </a:r>
            <a:r>
              <a:rPr lang="ru-RU" sz="13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наборов </a:t>
            </a: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3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через </a:t>
            </a:r>
            <a:r>
              <a:rPr lang="ru-RU" sz="13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</a:t>
            </a: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соседских </a:t>
            </a:r>
            <a:r>
              <a:rPr lang="ru-RU" sz="13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чатах/через благотворительные фонды.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Упаковка </a:t>
            </a:r>
            <a:r>
              <a:rPr lang="ru-RU" sz="13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обычные пакеты или даже свёрнутые газеты.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Распространение </a:t>
            </a:r>
            <a:r>
              <a:rPr lang="ru-RU" sz="13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волонтёры просто оставляют пакетики в безопасных, заметных местах.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записки -</a:t>
            </a:r>
            <a:r>
              <a:rPr lang="ru-RU" sz="13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распечатываются бесплатно (например, в школе, библиотеке или на работе).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это работает: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требует регистрации, аренды, разрешений.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Помогает конкретному человеку здесь и сейчас.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Вовлекает сообщество: каждый может внести хоть что-то.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Повышает осознанность </a:t>
            </a:r>
            <a:r>
              <a:rPr lang="ru-RU" sz="13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300" dirty="0">
                <a:solidFill>
                  <a:schemeClr val="tx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люди начинают замечать других и проявлять заботу.</a:t>
            </a:r>
            <a:endParaRPr lang="ru-RU" sz="13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200" dirty="0">
              <a:solidFill>
                <a:schemeClr val="tx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Сроки и результаты реализации проекта: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886460" y="1102181"/>
          <a:ext cx="10333501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3905"/>
                <a:gridCol w="3733800"/>
                <a:gridCol w="329579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Этапы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Сроки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Результаты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Привлечение партнёров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 01.12.2025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получение финансирования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Сбор первых «пакетов»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до 01.03.2026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сбор определенного массива готовых «пакетов»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Распределение первых «пакетов»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до 01.06.2025</a:t>
                      </a: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распределение готового массива «пакетов» в общественных местах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Сбор обратной связ</a:t>
                      </a:r>
                      <a:r>
                        <a:rPr lang="ru-RU" baseline="0" dirty="0" smtClean="0"/>
                        <a:t>и через надписи на пакетах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 01.07.2025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Получение обратной связи и модернизация «пакетов» в соответствии с требованиями потребимтелей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Текст 2"/>
          <p:cNvSpPr txBox="1"/>
          <p:nvPr/>
        </p:nvSpPr>
        <p:spPr>
          <a:xfrm>
            <a:off x="200512" y="5549045"/>
            <a:ext cx="11376000" cy="5492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Место (география) реализации проекта</a:t>
            </a:r>
            <a:r>
              <a:rPr lang="ru-RU" dirty="0" smtClean="0"/>
              <a:t>: Ставропольский край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365158" y="464233"/>
            <a:ext cx="11376000" cy="493807"/>
          </a:xfrm>
        </p:spPr>
        <p:txBody>
          <a:bodyPr/>
          <a:lstStyle/>
          <a:p>
            <a:pPr algn="ctr"/>
            <a:r>
              <a:rPr lang="ru-RU" dirty="0"/>
              <a:t>Перечень приоритетных мероприятий</a:t>
            </a:r>
            <a:endParaRPr lang="ru-RU" dirty="0"/>
          </a:p>
          <a:p>
            <a:pPr algn="ctr"/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86460" y="1110615"/>
          <a:ext cx="10737215" cy="4157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355"/>
                <a:gridCol w="6096000"/>
                <a:gridCol w="3578860"/>
              </a:tblGrid>
              <a:tr h="906145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 п/п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Мероприятия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Сроки</a:t>
                      </a:r>
                      <a:endParaRPr lang="ru-RU" dirty="0"/>
                    </a:p>
                  </a:txBody>
                  <a:tcPr/>
                </a:tc>
              </a:tr>
              <a:tr h="525145"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1.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Формирование инициативной группы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ДО 01.11.2025</a:t>
                      </a:r>
                      <a:endParaRPr lang="ru-RU"/>
                    </a:p>
                  </a:txBody>
                  <a:tcPr/>
                </a:tc>
              </a:tr>
              <a:tr h="733425"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2.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Разработка минимального состава набора и дизайн информационной записки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до 01.03.2026</a:t>
                      </a:r>
                      <a:endParaRPr lang="ru-RU"/>
                    </a:p>
                  </a:txBody>
                  <a:tcPr/>
                </a:tc>
              </a:tr>
              <a:tr h="525145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ru-RU" sz="1800"/>
                        <a:t>3.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sz="1800"/>
                        <a:t>Составление списка точек размещения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до 01.05.2025</a:t>
                      </a:r>
                      <a:endParaRPr lang="ru-RU"/>
                    </a:p>
                  </a:txBody>
                  <a:tcPr/>
                </a:tc>
              </a:tr>
              <a:tr h="734060"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4.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Создание шаблона записки с контактами соцслужб, ночлежек, горячих линий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sym typeface="+mn-ea"/>
                        </a:rPr>
                        <a:t>до 01.05.2025</a:t>
                      </a:r>
                      <a:endParaRPr lang="ru-RU" sz="1800"/>
                    </a:p>
                    <a:p>
                      <a:endParaRPr lang="ru-RU"/>
                    </a:p>
                  </a:txBody>
                  <a:tcPr/>
                </a:tc>
              </a:tr>
              <a:tr h="733425">
                <a:tc>
                  <a:txBody>
                    <a:bodyPr/>
                    <a:lstStyle/>
                    <a:p>
                      <a:pPr algn="ctr"/>
                      <a:r>
                        <a:rPr lang="ru-RU" sz="1800"/>
                        <a:t>5.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Поиск точек бесплатной печати (библиотеки, школы) и точек сбора вещей (церкви, волонтерские сообщества)</a:t>
                      </a:r>
                      <a:endParaRPr lang="ru-RU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sym typeface="+mn-ea"/>
                        </a:rPr>
                        <a:t>до 01.06.2025</a:t>
                      </a:r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Ресурсное обеспечение проекта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45745" y="958215"/>
          <a:ext cx="11838305" cy="5636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040"/>
                <a:gridCol w="3696970"/>
                <a:gridCol w="4099560"/>
                <a:gridCol w="2959735"/>
              </a:tblGrid>
              <a:tr h="40449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0" dirty="0">
                          <a:solidFill>
                            <a:schemeClr val="bg1"/>
                          </a:solidFill>
                        </a:rPr>
                        <a:t>№ п/п</a:t>
                      </a:r>
                      <a:endParaRPr lang="ru-RU" alt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0" dirty="0">
                          <a:solidFill>
                            <a:schemeClr val="bg1"/>
                          </a:solidFill>
                        </a:rPr>
                        <a:t>Этап/мероприятие</a:t>
                      </a:r>
                      <a:endParaRPr lang="ru-RU" alt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0" dirty="0">
                          <a:solidFill>
                            <a:schemeClr val="bg1"/>
                          </a:solidFill>
                        </a:rPr>
                        <a:t>Финансовые ресурсы, тыс. руб.</a:t>
                      </a:r>
                      <a:endParaRPr lang="ru-RU" alt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0" dirty="0">
                          <a:solidFill>
                            <a:schemeClr val="bg1"/>
                          </a:solidFill>
                        </a:rPr>
                        <a:t>Источник финансирования</a:t>
                      </a:r>
                      <a:endParaRPr lang="ru-RU" altLang="en-US" sz="12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 Этап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-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57086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1.1</a:t>
                      </a: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 Проведение опроса о готовности окружающих принять участие в проекте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-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1.2</a:t>
                      </a: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 Создание инициативной группы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-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0449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1.3</a:t>
                      </a: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 Распределение ролей и обязанностей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-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21971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2 Этап 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-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0513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2.1</a:t>
                      </a: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 Сбор информации о вещах первой необходимости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-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7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2.2</a:t>
                      </a: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 Сбор первых «пакетов»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 ~25р/пакет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привлечённые партнёры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3 Этап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endParaRPr lang="ru-RU" altLang="en-US" sz="12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</a:pPr>
                      <a:r>
                        <a:rPr lang="ru-RU" altLang="en-US" sz="12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-</a:t>
                      </a:r>
                      <a:endParaRPr lang="ru-RU" altLang="en-US" sz="12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5715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9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3.1</a:t>
                      </a: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 Сбор информации и точках размещения и рапспределение точек между участниками 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-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10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4 Этап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-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11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4.1</a:t>
                      </a: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 Сбор информации о службах и добавление их контактов к записке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-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12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5 Этап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-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13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5.1</a:t>
                      </a: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 Распространение информации о проекте 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-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24384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14</a:t>
                      </a:r>
                      <a:endParaRPr lang="ru-RU" altLang="en-US" sz="1200" b="1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1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5.2</a:t>
                      </a: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 Сбор пакетов и использование ресурсов откликнувшихся организаций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ru-RU" altLang="en-US" sz="1200" b="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-</a:t>
                      </a:r>
                      <a:endParaRPr lang="ru-RU" altLang="en-US" sz="1200" b="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>
          <a:xfrm>
            <a:off x="365158" y="228601"/>
            <a:ext cx="11376000" cy="729440"/>
          </a:xfrm>
        </p:spPr>
        <p:txBody>
          <a:bodyPr/>
          <a:lstStyle/>
          <a:p>
            <a:pPr algn="ctr"/>
            <a:r>
              <a:rPr lang="ru-RU" dirty="0"/>
              <a:t>Нормативные и этические ограничения реализации социального проекта</a:t>
            </a:r>
            <a:endParaRPr lang="ru-RU" dirty="0"/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645795" y="1779905"/>
            <a:ext cx="1081468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ru-RU" altLang="en-US" sz="2400"/>
              <a:t>Нормативные ограничения реализации социального проекта:</a:t>
            </a:r>
            <a:br>
              <a:rPr lang="ru-RU" altLang="en-US" sz="2400"/>
            </a:br>
            <a:r>
              <a:rPr lang="ru-RU" altLang="en-US" sz="2400"/>
              <a:t>	-</a:t>
            </a:r>
            <a:endParaRPr lang="ru-RU" altLang="en-US" sz="2400"/>
          </a:p>
          <a:p>
            <a:pPr>
              <a:lnSpc>
                <a:spcPct val="150000"/>
              </a:lnSpc>
            </a:pPr>
            <a:r>
              <a:rPr lang="ru-RU" altLang="en-US" sz="2400"/>
              <a:t>Этические ограничения реализации социального проекта:</a:t>
            </a:r>
            <a:endParaRPr lang="ru-RU" altLang="en-US" sz="2400"/>
          </a:p>
          <a:p>
            <a:pPr marL="457200" lvl="1" indent="457200">
              <a:lnSpc>
                <a:spcPct val="150000"/>
              </a:lnSpc>
            </a:pPr>
            <a:r>
              <a:rPr lang="ru-RU" altLang="en-US" sz="2400"/>
              <a:t>1. Недобросовестные студенты и школьники могут воровать готовые «пакеты»</a:t>
            </a:r>
            <a:endParaRPr lang="ru-RU" altLang="en-US" sz="2400"/>
          </a:p>
          <a:p>
            <a:pPr marL="457200" lvl="1" indent="457200">
              <a:lnSpc>
                <a:spcPct val="150000"/>
              </a:lnSpc>
            </a:pPr>
            <a:r>
              <a:rPr lang="ru-RU" altLang="en-US" sz="2400"/>
              <a:t>2. Наркозависимые люди могут воровать и перепродавать готовые «пакеты»</a:t>
            </a:r>
            <a:endParaRPr lang="ru-RU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Механизмы реализации проекта</a:t>
            </a:r>
            <a:endParaRPr lang="ru-RU" dirty="0"/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650240" y="1350010"/>
            <a:ext cx="1080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ru-RU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ru-RU" dirty="0"/>
              <a:t>Прогнозируемые результаты</a:t>
            </a:r>
            <a:endParaRPr lang="ru-RU" dirty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365158" y="1732540"/>
          <a:ext cx="1137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965"/>
                <a:gridCol w="4487594"/>
                <a:gridCol w="5565441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№ п/п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 (краткое описание)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Критерии достижения результата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95*286"/>
  <p:tag name="TABLE_ENDDRAG_RECT" val="36*113*895*286"/>
</p:tagLst>
</file>

<file path=ppt/tags/tag2.xml><?xml version="1.0" encoding="utf-8"?>
<p:tagLst xmlns:p="http://schemas.openxmlformats.org/presentationml/2006/main">
  <p:tag name="TABLE_ENDDRAG_ORIGIN_RECT" val="845*327"/>
  <p:tag name="TABLE_ENDDRAG_RECT" val="69*87*845*327"/>
</p:tagLst>
</file>

<file path=ppt/tags/tag3.xml><?xml version="1.0" encoding="utf-8"?>
<p:tagLst xmlns:p="http://schemas.openxmlformats.org/presentationml/2006/main">
  <p:tag name="TABLE_ENDDRAG_ORIGIN_RECT" val="932*361"/>
  <p:tag name="TABLE_ENDDRAG_RECT" val="19*75*932*361"/>
</p:tagLst>
</file>

<file path=ppt/theme/theme1.xml><?xml version="1.0" encoding="utf-8"?>
<a:theme xmlns:a="http://schemas.openxmlformats.org/drawingml/2006/main" name="Тема Office">
  <a:themeElements>
    <a:clrScheme name="Другая 21">
      <a:dk1>
        <a:srgbClr val="001B71"/>
      </a:dk1>
      <a:lt1>
        <a:srgbClr val="FFFFFF"/>
      </a:lt1>
      <a:dk2>
        <a:srgbClr val="373743"/>
      </a:dk2>
      <a:lt2>
        <a:srgbClr val="F4F4F6"/>
      </a:lt2>
      <a:accent1>
        <a:srgbClr val="67430C"/>
      </a:accent1>
      <a:accent2>
        <a:srgbClr val="D7A534"/>
      </a:accent2>
      <a:accent3>
        <a:srgbClr val="67430C"/>
      </a:accent3>
      <a:accent4>
        <a:srgbClr val="001B71"/>
      </a:accent4>
      <a:accent5>
        <a:srgbClr val="A2A2A2"/>
      </a:accent5>
      <a:accent6>
        <a:srgbClr val="FF0000"/>
      </a:accent6>
      <a:hlink>
        <a:srgbClr val="F4F4F6"/>
      </a:hlink>
      <a:folHlink>
        <a:srgbClr val="383A3F"/>
      </a:folHlink>
    </a:clrScheme>
    <a:fontScheme name="Другая 6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5284</Words>
  <Application>WPS Presentation</Application>
  <PresentationFormat>Широкоэкранный</PresentationFormat>
  <Paragraphs>350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Verdana</vt:lpstr>
      <vt:lpstr>Times New Roman</vt:lpstr>
      <vt:lpstr>Microsoft YaHei</vt:lpstr>
      <vt:lpstr>Arial Unicode MS</vt:lpstr>
      <vt:lpstr>Calibri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copp-user</dc:creator>
  <cp:lastModifiedBy>user</cp:lastModifiedBy>
  <cp:revision>223</cp:revision>
  <dcterms:created xsi:type="dcterms:W3CDTF">2021-11-18T06:01:00Z</dcterms:created>
  <dcterms:modified xsi:type="dcterms:W3CDTF">2025-11-11T20:54:34Z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20CD2AAAC7304D44A38C2BDA25CA6F13_12</vt:lpwstr>
  </property>
  <property fmtid="{D5CDD505-2E9C-101B-9397-08002B2CF9AE}" pid="3" name="KSOProductBuildVer">
    <vt:lpwstr>1049-12.2.0.23155</vt:lpwstr>
  </property>
</Properties>
</file>