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0ebacc44-3a8a-a30d-1a89-c5d9184ea445}">
          <p14:sldIdLst>
            <p14:sldId id="256"/>
            <p14:sldId id="257"/>
          </p14:sldIdLst>
        </p14:section>
        <p14:section name="Схемы" id="{db4fce34-1029-eb3c-6055-a3fe4bf56429}">
          <p14:sldIdLst>
            <p14:sldId id="258"/>
            <p14:sldId id="259"/>
            <p14:sldId id="260"/>
          </p14:sldIdLst>
        </p14:section>
        <p14:section name="Итоги" id="{2da55785-a2ee-9268-a3eb-495793a5f98b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Лабораторная работа №5. Вариант 18 — миграционный учёт иностранных граждан и лиц без гражданства в РФ. Задача: визуализировать административный регламент услуги и красным выделить этапы межведомственного взаимодействия.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Услугу оказывает МВД России по приказу № 856 от 10.12.2020 (применяется в редакции приказа МВД от 22.10.2024 № 628). Есть два вида учёта: регистрация по месту жительства (в день подачи заявления и документов) и постановка на учёт по месту пребывания (по уведомлению о прибытии, отметка проставляется незамедлительно). За регистрацию по месту жительства взимается госпошлина, при оплате через портал Госуслуг применяется коэффициент 0,7. За постановку на учёт по месту пребывания пошлина не взимается.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Заявитель подаёт документы через ЕПГУ, МФЦ, Почту России или гостиницу. Заявления с портала поступают в МВД через СМЭВ (система межведомственного электронного взаимодействия). Если квитанция об уплате госпошлины не приложена, МВД запрашивает сведения об оплате у Федерального казначейства (ГИС ГМП). Красным выделены элементы межведомственного взаимодействия.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Регистрация по месту жительства. 1) Заявитель подаёт заявление и документы лично в МВД, в МФЦ или через ЕПГУ. 2) Заявление, поданное через портал или МФЦ, передаётся в подразделение МВД (межведомственное взаимодействие). 3) Приём, регистрация, проверка комплекта документов. 4) Если квитанция об уплате госпошлины не приложена, МВД запрашивает сведения у Федерального казначейства через ГИС ГМП; отсутствие ответа не является основанием для отказа. 5) Проверка сведений и решение. 6) Отметка о регистрации ставится в день подачи заявления и документов; при отказе выдаётся справка с указанием оснований. 7) Сведения вносятся в учётные документы и ГИСМУ. 8) Результат выдаётся заявителю, статус приходит в личный кабинет ЕПГУ.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Постановка на учёт по месту пребывания. Уведомление о прибытии подаёт принимающая сторона (в определённых случаях — сам иностранный гражданин). Приём могут осуществлять подразделение МВД, МФЦ, гостиница или Почта России — они передают сведения в МВД. Отметка о приёме проставляется незамедлительно после проверки сведений и документов, заявителю передаётся отрывная часть. Сведения вносятся в ГИСМУ. Госпошлина за постановку на учёт по месту пребывания не взимается.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в услуге четыре точки межведомственного взаимодействия — приём через ЕПГУ по СМЭВ, приём через МФЦ / гостиницы / Почту России, запрос в Казначейство по госпошлине и возврат статуса на ЕПГУ. По регламенту отсутствие или задержка ответа на межведомственный запрос не может быть причиной отказа в предоставлении услуги.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Расшифровка ключевых терминов и список источников.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02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ЛАБОРАТОРНАЯ РАБОТА №5</a:t>
            </a:r>
            <a:endParaRPr lang="en-US" sz="1400" dirty="0"/>
          </a:p>
        </p:txBody>
      </p:sp>
      <p:sp>
        <p:nvSpPr>
          <p:cNvPr id="3" name="title_main"/>
          <p:cNvSpPr txBox="1"/>
          <p:nvPr/>
        </p:nvSpPr>
        <p:spPr>
          <a:xfrm>
            <a:off x="548640" y="9601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Миграционный учёт иностранных граждан и лиц без гражданства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7432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Визуализация административного регламента предоставления государственной услуги</a:t>
            </a:r>
            <a:endParaRPr lang="en-US" sz="1600" dirty="0"/>
          </a:p>
        </p:txBody>
      </p:sp>
      <p:sp>
        <p:nvSpPr>
          <p:cNvPr id="5" name="author"/>
          <p:cNvSpPr txBox="1"/>
          <p:nvPr/>
        </p:nvSpPr>
        <p:spPr>
          <a:xfrm>
            <a:off x="54864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Выполнил: Польшин Артем Денисович, группа ИСИТ-О-24/4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Дисциплина «Системы электронного документооборота»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Кафедра информационных систем, СтГАУ, Ставрополь, 2026</a:t>
            </a:r>
            <a:endParaRPr lang="en-US" sz="1400" dirty="0"/>
          </a:p>
        </p:txBody>
      </p:sp>
      <p:sp>
        <p:nvSpPr>
          <p:cNvPr id="6" name="badge"/>
          <p:cNvSpPr txBox="1"/>
          <p:nvPr/>
        </p:nvSpPr>
        <p:spPr>
          <a:xfrm>
            <a:off x="6766560" y="914400"/>
            <a:ext cx="1737360" cy="1737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вариант</a:t>
            </a:r>
            <a:endParaRPr lang="en-US" sz="1400" dirty="0"/>
          </a:p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Описание государственной услуги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457200" y="123444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tat1"/>
          <p:cNvSpPr txBox="1"/>
          <p:nvPr/>
        </p:nvSpPr>
        <p:spPr>
          <a:xfrm>
            <a:off x="64008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день подачи</a:t>
            </a:r>
            <a:endParaRPr lang="en-US" sz="2400" dirty="0"/>
          </a:p>
        </p:txBody>
      </p:sp>
      <p:sp>
        <p:nvSpPr>
          <p:cNvPr id="5" name="stat1_cap"/>
          <p:cNvSpPr txBox="1"/>
          <p:nvPr/>
        </p:nvSpPr>
        <p:spPr>
          <a:xfrm>
            <a:off x="64008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отметка о регистрации по месту жительства</a:t>
            </a:r>
            <a:endParaRPr lang="en-US" sz="1400" dirty="0"/>
          </a:p>
        </p:txBody>
      </p:sp>
      <p:sp>
        <p:nvSpPr>
          <p:cNvPr id="6" name="stat2"/>
          <p:cNvSpPr txBox="1"/>
          <p:nvPr/>
        </p:nvSpPr>
        <p:spPr>
          <a:xfrm>
            <a:off x="64008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</a:t>
            </a:r>
            <a:endParaRPr lang="en-US" sz="3600" dirty="0"/>
          </a:p>
        </p:txBody>
      </p:sp>
      <p:sp>
        <p:nvSpPr>
          <p:cNvPr id="7" name="stat2_cap"/>
          <p:cNvSpPr txBox="1"/>
          <p:nvPr/>
        </p:nvSpPr>
        <p:spPr>
          <a:xfrm>
            <a:off x="6400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коэффициент госпошлины при оплате через ЕПГУ</a:t>
            </a:r>
            <a:endParaRPr lang="en-US" sz="1400" dirty="0"/>
          </a:p>
        </p:txBody>
      </p:sp>
      <p:sp>
        <p:nvSpPr>
          <p:cNvPr id="8" name="info"/>
          <p:cNvSpPr txBox="1"/>
          <p:nvPr/>
        </p:nvSpPr>
        <p:spPr>
          <a:xfrm>
            <a:off x="3566160" y="12344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Основание: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административный регламент МВД, приказ № 856 от 10.12.2020.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Исполнитель: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подразделения по вопросам миграции МВД; приём также в МФЦ, на Почте России и в гостиницах.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Заявители: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иностранные граждане, лица без гражданства и принимающая сторона.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Результат: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отметка о регистрации по месту жительства, отметка о приёме уведомления о прибытии (учёт по месту пребывания), снятие с регистрации.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Участники и системы</a:t>
            </a:r>
            <a:endParaRPr lang="en-US" sz="3000" dirty="0"/>
          </a:p>
        </p:txBody>
      </p:sp>
      <p:sp>
        <p:nvSpPr>
          <p:cNvPr id="3" name="anim01_applicant"/>
          <p:cNvSpPr txBox="1"/>
          <p:nvPr/>
        </p:nvSpPr>
        <p:spPr>
          <a:xfrm>
            <a:off x="457200" y="1325880"/>
            <a:ext cx="1371600" cy="26974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Заявитель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иностранный гражданин или принимающая сторона</a:t>
            </a:r>
            <a:endParaRPr lang="en-US" sz="1400" dirty="0"/>
          </a:p>
        </p:txBody>
      </p:sp>
      <p:sp>
        <p:nvSpPr>
          <p:cNvPr id="4" name="anim02_arr0"/>
          <p:cNvSpPr/>
          <p:nvPr/>
        </p:nvSpPr>
        <p:spPr>
          <a:xfrm>
            <a:off x="1828800" y="1714500"/>
            <a:ext cx="45720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5" name="anim02_ch0"/>
          <p:cNvSpPr txBox="1"/>
          <p:nvPr/>
        </p:nvSpPr>
        <p:spPr>
          <a:xfrm>
            <a:off x="2286000" y="1325880"/>
            <a:ext cx="173736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ЕПГУ (Госуслуги)</a:t>
            </a:r>
            <a:endParaRPr lang="en-US" sz="1400" dirty="0"/>
          </a:p>
        </p:txBody>
      </p:sp>
      <p:sp>
        <p:nvSpPr>
          <p:cNvPr id="6" name="anim02_arr1"/>
          <p:cNvSpPr/>
          <p:nvPr/>
        </p:nvSpPr>
        <p:spPr>
          <a:xfrm>
            <a:off x="1828800" y="2674620"/>
            <a:ext cx="45720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anim02_ch1"/>
          <p:cNvSpPr txBox="1"/>
          <p:nvPr/>
        </p:nvSpPr>
        <p:spPr>
          <a:xfrm>
            <a:off x="2286000" y="2286000"/>
            <a:ext cx="173736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МФЦ</a:t>
            </a:r>
            <a:endParaRPr lang="en-US" sz="1400" dirty="0"/>
          </a:p>
        </p:txBody>
      </p:sp>
      <p:sp>
        <p:nvSpPr>
          <p:cNvPr id="8" name="anim02_arr2"/>
          <p:cNvSpPr/>
          <p:nvPr/>
        </p:nvSpPr>
        <p:spPr>
          <a:xfrm>
            <a:off x="1828800" y="3634740"/>
            <a:ext cx="45720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anim02_ch2"/>
          <p:cNvSpPr txBox="1"/>
          <p:nvPr/>
        </p:nvSpPr>
        <p:spPr>
          <a:xfrm>
            <a:off x="2286000" y="3246120"/>
            <a:ext cx="173736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Почта России, гостиницы</a:t>
            </a:r>
            <a:endParaRPr lang="en-US" sz="1400" dirty="0"/>
          </a:p>
        </p:txBody>
      </p:sp>
      <p:sp>
        <p:nvSpPr>
          <p:cNvPr id="10" name="anim03_arr0"/>
          <p:cNvSpPr/>
          <p:nvPr/>
        </p:nvSpPr>
        <p:spPr>
          <a:xfrm>
            <a:off x="4023360" y="1714500"/>
            <a:ext cx="8229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anim03_arr1"/>
          <p:cNvSpPr/>
          <p:nvPr/>
        </p:nvSpPr>
        <p:spPr>
          <a:xfrm>
            <a:off x="4023360" y="2674620"/>
            <a:ext cx="8229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anim03_arr2"/>
          <p:cNvSpPr/>
          <p:nvPr/>
        </p:nvSpPr>
        <p:spPr>
          <a:xfrm>
            <a:off x="4023360" y="3634740"/>
            <a:ext cx="8229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anim03_lbl"/>
          <p:cNvSpPr txBox="1"/>
          <p:nvPr/>
        </p:nvSpPr>
        <p:spPr>
          <a:xfrm>
            <a:off x="4023360" y="14447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СМЭВ</a:t>
            </a:r>
            <a:endParaRPr lang="en-US" sz="1100" dirty="0"/>
          </a:p>
        </p:txBody>
      </p:sp>
      <p:sp>
        <p:nvSpPr>
          <p:cNvPr id="14" name="anim03_mvd"/>
          <p:cNvSpPr txBox="1"/>
          <p:nvPr/>
        </p:nvSpPr>
        <p:spPr>
          <a:xfrm>
            <a:off x="4846320" y="1325880"/>
            <a:ext cx="1737360" cy="269748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Подразделение по вопросам миграции МВД России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ГИС миграционного учёта (ГИСМУ)</a:t>
            </a:r>
            <a:endParaRPr lang="en-US" sz="1400" dirty="0"/>
          </a:p>
        </p:txBody>
      </p:sp>
      <p:sp>
        <p:nvSpPr>
          <p:cNvPr id="15" name="anim04_arr"/>
          <p:cNvSpPr/>
          <p:nvPr/>
        </p:nvSpPr>
        <p:spPr>
          <a:xfrm>
            <a:off x="6583680" y="2743200"/>
            <a:ext cx="4572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16" name="anim04_lbl"/>
          <p:cNvSpPr txBox="1"/>
          <p:nvPr/>
        </p:nvSpPr>
        <p:spPr>
          <a:xfrm>
            <a:off x="6537960" y="2468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СМЭВ</a:t>
            </a:r>
            <a:endParaRPr lang="en-US" sz="1100" dirty="0"/>
          </a:p>
        </p:txBody>
      </p:sp>
      <p:sp>
        <p:nvSpPr>
          <p:cNvPr id="17" name="anim04_treasury"/>
          <p:cNvSpPr txBox="1"/>
          <p:nvPr/>
        </p:nvSpPr>
        <p:spPr>
          <a:xfrm>
            <a:off x="7040880" y="2240280"/>
            <a:ext cx="164592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Федеральное казначейство (ГИС ГМП)</a:t>
            </a:r>
            <a:endParaRPr lang="en-US" sz="1400" dirty="0"/>
          </a:p>
        </p:txBody>
      </p:sp>
      <p:sp>
        <p:nvSpPr>
          <p:cNvPr id="18" name="anim04_cap"/>
          <p:cNvSpPr txBox="1"/>
          <p:nvPr/>
        </p:nvSpPr>
        <p:spPr>
          <a:xfrm>
            <a:off x="704088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проверка уплаты госпошлины</a:t>
            </a:r>
            <a:endParaRPr lang="en-US" sz="1200" dirty="0"/>
          </a:p>
        </p:txBody>
      </p:sp>
      <p:sp>
        <p:nvSpPr>
          <p:cNvPr id="19" name="legend_sw0"/>
          <p:cNvSpPr/>
          <p:nvPr/>
        </p:nvSpPr>
        <p:spPr>
          <a:xfrm>
            <a:off x="45720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0" name="legend_tx0"/>
          <p:cNvSpPr txBox="1"/>
          <p:nvPr/>
        </p:nvSpPr>
        <p:spPr>
          <a:xfrm>
            <a:off x="73152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Действия заявителя</a:t>
            </a:r>
            <a:endParaRPr lang="en-US" sz="1200" dirty="0"/>
          </a:p>
        </p:txBody>
      </p:sp>
      <p:sp>
        <p:nvSpPr>
          <p:cNvPr id="21" name="legend_sw1"/>
          <p:cNvSpPr/>
          <p:nvPr/>
        </p:nvSpPr>
        <p:spPr>
          <a:xfrm>
            <a:off x="283464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legend_tx1"/>
          <p:cNvSpPr txBox="1"/>
          <p:nvPr/>
        </p:nvSpPr>
        <p:spPr>
          <a:xfrm>
            <a:off x="310896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Внутренние действия МВД</a:t>
            </a:r>
            <a:endParaRPr lang="en-US" sz="1200" dirty="0"/>
          </a:p>
        </p:txBody>
      </p:sp>
      <p:sp>
        <p:nvSpPr>
          <p:cNvPr id="23" name="legend_sw2"/>
          <p:cNvSpPr/>
          <p:nvPr/>
        </p:nvSpPr>
        <p:spPr>
          <a:xfrm>
            <a:off x="566928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4" name="legend_tx2"/>
          <p:cNvSpPr txBox="1"/>
          <p:nvPr/>
        </p:nvSpPr>
        <p:spPr>
          <a:xfrm>
            <a:off x="594360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Межведомственное взаимодействие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Регистрация по месту жительства</a:t>
            </a:r>
            <a:endParaRPr lang="en-US" sz="3000" dirty="0"/>
          </a:p>
        </p:txBody>
      </p:sp>
      <p:sp>
        <p:nvSpPr>
          <p:cNvPr id="3" name="anim01_box"/>
          <p:cNvSpPr txBox="1"/>
          <p:nvPr/>
        </p:nvSpPr>
        <p:spPr>
          <a:xfrm>
            <a:off x="502920" y="1280160"/>
            <a:ext cx="173736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Заявитель подаёт заявление и документы</a:t>
            </a:r>
            <a:endParaRPr lang="en-US" sz="1400" dirty="0"/>
          </a:p>
        </p:txBody>
      </p:sp>
      <p:sp>
        <p:nvSpPr>
          <p:cNvPr id="4" name="anim02_arr"/>
          <p:cNvSpPr/>
          <p:nvPr/>
        </p:nvSpPr>
        <p:spPr>
          <a:xfrm>
            <a:off x="2240280" y="1874520"/>
            <a:ext cx="3657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" name="anim02_box"/>
          <p:cNvSpPr txBox="1"/>
          <p:nvPr/>
        </p:nvSpPr>
        <p:spPr>
          <a:xfrm>
            <a:off x="2606040" y="1280160"/>
            <a:ext cx="173736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ЕПГУ и МФЦ передают заявление в МВД</a:t>
            </a:r>
            <a:endParaRPr lang="en-US" sz="1400" dirty="0"/>
          </a:p>
        </p:txBody>
      </p:sp>
      <p:sp>
        <p:nvSpPr>
          <p:cNvPr id="6" name="anim03_arr"/>
          <p:cNvSpPr/>
          <p:nvPr/>
        </p:nvSpPr>
        <p:spPr>
          <a:xfrm>
            <a:off x="4343400" y="1874520"/>
            <a:ext cx="36576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anim03_box"/>
          <p:cNvSpPr txBox="1"/>
          <p:nvPr/>
        </p:nvSpPr>
        <p:spPr>
          <a:xfrm>
            <a:off x="4709160" y="1280160"/>
            <a:ext cx="17373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Приём и регистрация заявления, проверка документов</a:t>
            </a:r>
            <a:endParaRPr lang="en-US" sz="1400" dirty="0"/>
          </a:p>
        </p:txBody>
      </p:sp>
      <p:sp>
        <p:nvSpPr>
          <p:cNvPr id="8" name="anim04_arr"/>
          <p:cNvSpPr/>
          <p:nvPr/>
        </p:nvSpPr>
        <p:spPr>
          <a:xfrm>
            <a:off x="6446520" y="1874520"/>
            <a:ext cx="3657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anim04_box"/>
          <p:cNvSpPr txBox="1"/>
          <p:nvPr/>
        </p:nvSpPr>
        <p:spPr>
          <a:xfrm>
            <a:off x="6812280" y="1280160"/>
            <a:ext cx="173736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Если нет квитанции — запрос в Казначейство (ГИС ГМП)</a:t>
            </a:r>
            <a:endParaRPr lang="en-US" sz="1400" dirty="0"/>
          </a:p>
        </p:txBody>
      </p:sp>
      <p:sp>
        <p:nvSpPr>
          <p:cNvPr id="10" name="anim05_arr"/>
          <p:cNvSpPr/>
          <p:nvPr/>
        </p:nvSpPr>
        <p:spPr>
          <a:xfrm>
            <a:off x="7680960" y="2468880"/>
            <a:ext cx="0" cy="45720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anim05_box"/>
          <p:cNvSpPr txBox="1"/>
          <p:nvPr/>
        </p:nvSpPr>
        <p:spPr>
          <a:xfrm>
            <a:off x="6812280" y="2926080"/>
            <a:ext cx="17373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Проверка сведений, решение о регистрации</a:t>
            </a:r>
            <a:endParaRPr lang="en-US" sz="1400" dirty="0"/>
          </a:p>
        </p:txBody>
      </p:sp>
      <p:sp>
        <p:nvSpPr>
          <p:cNvPr id="12" name="anim06_arr"/>
          <p:cNvSpPr/>
          <p:nvPr/>
        </p:nvSpPr>
        <p:spPr>
          <a:xfrm flipH="1">
            <a:off x="6446520" y="3520440"/>
            <a:ext cx="36576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anim06_box"/>
          <p:cNvSpPr txBox="1"/>
          <p:nvPr/>
        </p:nvSpPr>
        <p:spPr>
          <a:xfrm>
            <a:off x="4709160" y="2926080"/>
            <a:ext cx="17373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Отметка о регистрации в день подачи</a:t>
            </a:r>
            <a:endParaRPr lang="en-US" sz="1400" dirty="0"/>
          </a:p>
        </p:txBody>
      </p:sp>
      <p:sp>
        <p:nvSpPr>
          <p:cNvPr id="14" name="anim07_arr"/>
          <p:cNvSpPr/>
          <p:nvPr/>
        </p:nvSpPr>
        <p:spPr>
          <a:xfrm flipH="1">
            <a:off x="4343400" y="3520440"/>
            <a:ext cx="36576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anim07_box"/>
          <p:cNvSpPr txBox="1"/>
          <p:nvPr/>
        </p:nvSpPr>
        <p:spPr>
          <a:xfrm>
            <a:off x="2606040" y="2926080"/>
            <a:ext cx="17373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Внесение сведений в учётные документы и ГИСМУ</a:t>
            </a:r>
            <a:endParaRPr lang="en-US" sz="1400" dirty="0"/>
          </a:p>
        </p:txBody>
      </p:sp>
      <p:sp>
        <p:nvSpPr>
          <p:cNvPr id="16" name="anim08_arr"/>
          <p:cNvSpPr/>
          <p:nvPr/>
        </p:nvSpPr>
        <p:spPr>
          <a:xfrm flipH="1">
            <a:off x="2240280" y="3520440"/>
            <a:ext cx="3657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anim08_box"/>
          <p:cNvSpPr txBox="1"/>
          <p:nvPr/>
        </p:nvSpPr>
        <p:spPr>
          <a:xfrm>
            <a:off x="502920" y="2926080"/>
            <a:ext cx="173736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Результат заявителю, статус в кабинете ЕПГУ</a:t>
            </a:r>
            <a:endParaRPr lang="en-US" sz="1400" dirty="0"/>
          </a:p>
        </p:txBody>
      </p:sp>
      <p:sp>
        <p:nvSpPr>
          <p:cNvPr id="18" name="legend_sw0"/>
          <p:cNvSpPr/>
          <p:nvPr/>
        </p:nvSpPr>
        <p:spPr>
          <a:xfrm>
            <a:off x="45720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9" name="legend_tx0"/>
          <p:cNvSpPr txBox="1"/>
          <p:nvPr/>
        </p:nvSpPr>
        <p:spPr>
          <a:xfrm>
            <a:off x="73152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Действия заявителя</a:t>
            </a:r>
            <a:endParaRPr lang="en-US" sz="1200" dirty="0"/>
          </a:p>
        </p:txBody>
      </p:sp>
      <p:sp>
        <p:nvSpPr>
          <p:cNvPr id="20" name="legend_sw1"/>
          <p:cNvSpPr/>
          <p:nvPr/>
        </p:nvSpPr>
        <p:spPr>
          <a:xfrm>
            <a:off x="283464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legend_tx1"/>
          <p:cNvSpPr txBox="1"/>
          <p:nvPr/>
        </p:nvSpPr>
        <p:spPr>
          <a:xfrm>
            <a:off x="310896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Внутренние действия МВД</a:t>
            </a:r>
            <a:endParaRPr lang="en-US" sz="1200" dirty="0"/>
          </a:p>
        </p:txBody>
      </p:sp>
      <p:sp>
        <p:nvSpPr>
          <p:cNvPr id="22" name="legend_sw2"/>
          <p:cNvSpPr/>
          <p:nvPr/>
        </p:nvSpPr>
        <p:spPr>
          <a:xfrm>
            <a:off x="566928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3" name="legend_tx2"/>
          <p:cNvSpPr txBox="1"/>
          <p:nvPr/>
        </p:nvSpPr>
        <p:spPr>
          <a:xfrm>
            <a:off x="594360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Межведомственное взаимодействие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Постановка на учёт по месту пребывания</a:t>
            </a:r>
            <a:endParaRPr lang="en-US" sz="3000" dirty="0"/>
          </a:p>
        </p:txBody>
      </p:sp>
      <p:sp>
        <p:nvSpPr>
          <p:cNvPr id="3" name="anim01_box"/>
          <p:cNvSpPr txBox="1"/>
          <p:nvPr/>
        </p:nvSpPr>
        <p:spPr>
          <a:xfrm>
            <a:off x="548640" y="1280160"/>
            <a:ext cx="237744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Принимающая сторона подаёт уведомление о прибытии</a:t>
            </a:r>
            <a:endParaRPr lang="en-US" sz="1400" dirty="0"/>
          </a:p>
        </p:txBody>
      </p:sp>
      <p:sp>
        <p:nvSpPr>
          <p:cNvPr id="4" name="anim02_arr"/>
          <p:cNvSpPr/>
          <p:nvPr/>
        </p:nvSpPr>
        <p:spPr>
          <a:xfrm>
            <a:off x="2926080" y="1874520"/>
            <a:ext cx="4572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" name="anim02_box"/>
          <p:cNvSpPr txBox="1"/>
          <p:nvPr/>
        </p:nvSpPr>
        <p:spPr>
          <a:xfrm>
            <a:off x="3383280" y="1280160"/>
            <a:ext cx="237744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МФЦ, гостиница, Почта России, ЕПГУ передают сведения в МВД</a:t>
            </a:r>
            <a:endParaRPr lang="en-US" sz="1400" dirty="0"/>
          </a:p>
        </p:txBody>
      </p:sp>
      <p:sp>
        <p:nvSpPr>
          <p:cNvPr id="6" name="anim03_arr"/>
          <p:cNvSpPr/>
          <p:nvPr/>
        </p:nvSpPr>
        <p:spPr>
          <a:xfrm>
            <a:off x="5760720" y="1874520"/>
            <a:ext cx="45720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anim03_box"/>
          <p:cNvSpPr txBox="1"/>
          <p:nvPr/>
        </p:nvSpPr>
        <p:spPr>
          <a:xfrm>
            <a:off x="6217920" y="1280160"/>
            <a:ext cx="237744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Проверка сведений в уведомлении и наличия документов</a:t>
            </a:r>
            <a:endParaRPr lang="en-US" sz="1400" dirty="0"/>
          </a:p>
        </p:txBody>
      </p:sp>
      <p:sp>
        <p:nvSpPr>
          <p:cNvPr id="8" name="anim04_arr"/>
          <p:cNvSpPr/>
          <p:nvPr/>
        </p:nvSpPr>
        <p:spPr>
          <a:xfrm>
            <a:off x="7406640" y="2468880"/>
            <a:ext cx="0" cy="45720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anim04_box"/>
          <p:cNvSpPr txBox="1"/>
          <p:nvPr/>
        </p:nvSpPr>
        <p:spPr>
          <a:xfrm>
            <a:off x="6217920" y="2926080"/>
            <a:ext cx="237744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Отметка о приёме уведомления сразу, отрывная часть — заявителю</a:t>
            </a:r>
            <a:endParaRPr lang="en-US" sz="1400" dirty="0"/>
          </a:p>
        </p:txBody>
      </p:sp>
      <p:sp>
        <p:nvSpPr>
          <p:cNvPr id="10" name="anim05_arr"/>
          <p:cNvSpPr/>
          <p:nvPr/>
        </p:nvSpPr>
        <p:spPr>
          <a:xfrm flipH="1">
            <a:off x="5760720" y="3520440"/>
            <a:ext cx="45720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anim05_box"/>
          <p:cNvSpPr txBox="1"/>
          <p:nvPr/>
        </p:nvSpPr>
        <p:spPr>
          <a:xfrm>
            <a:off x="3383280" y="2926080"/>
            <a:ext cx="237744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Внесение сведений в учётные документы и ГИСМУ</a:t>
            </a:r>
            <a:endParaRPr lang="en-US" sz="1400" dirty="0"/>
          </a:p>
        </p:txBody>
      </p:sp>
      <p:sp>
        <p:nvSpPr>
          <p:cNvPr id="12" name="anim06_arr"/>
          <p:cNvSpPr/>
          <p:nvPr/>
        </p:nvSpPr>
        <p:spPr>
          <a:xfrm flipH="1">
            <a:off x="2926080" y="3520440"/>
            <a:ext cx="4572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anim06_box"/>
          <p:cNvSpPr txBox="1"/>
          <p:nvPr/>
        </p:nvSpPr>
        <p:spPr>
          <a:xfrm>
            <a:off x="548640" y="2926080"/>
            <a:ext cx="237744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При подаче через ЕПГУ статус приходит в личный кабинет</a:t>
            </a:r>
            <a:endParaRPr lang="en-US" sz="1400" dirty="0"/>
          </a:p>
        </p:txBody>
      </p:sp>
      <p:sp>
        <p:nvSpPr>
          <p:cNvPr id="14" name="legend_sw0"/>
          <p:cNvSpPr/>
          <p:nvPr/>
        </p:nvSpPr>
        <p:spPr>
          <a:xfrm>
            <a:off x="45720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5" name="legend_tx0"/>
          <p:cNvSpPr txBox="1"/>
          <p:nvPr/>
        </p:nvSpPr>
        <p:spPr>
          <a:xfrm>
            <a:off x="73152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Действия заявителя</a:t>
            </a:r>
            <a:endParaRPr lang="en-US" sz="1200" dirty="0"/>
          </a:p>
        </p:txBody>
      </p:sp>
      <p:sp>
        <p:nvSpPr>
          <p:cNvPr id="16" name="legend_sw1"/>
          <p:cNvSpPr/>
          <p:nvPr/>
        </p:nvSpPr>
        <p:spPr>
          <a:xfrm>
            <a:off x="283464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legend_tx1"/>
          <p:cNvSpPr txBox="1"/>
          <p:nvPr/>
        </p:nvSpPr>
        <p:spPr>
          <a:xfrm>
            <a:off x="310896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Внутренние действия МВД</a:t>
            </a:r>
            <a:endParaRPr lang="en-US" sz="1200" dirty="0"/>
          </a:p>
        </p:txBody>
      </p:sp>
      <p:sp>
        <p:nvSpPr>
          <p:cNvPr id="18" name="legend_sw2"/>
          <p:cNvSpPr/>
          <p:nvPr/>
        </p:nvSpPr>
        <p:spPr>
          <a:xfrm>
            <a:off x="5669280" y="4562856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9" name="legend_tx2"/>
          <p:cNvSpPr txBox="1"/>
          <p:nvPr/>
        </p:nvSpPr>
        <p:spPr>
          <a:xfrm>
            <a:off x="594360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Межведомственное взаимодействие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Межведомственные этапы услуги</a:t>
            </a:r>
            <a:endParaRPr lang="en-US" sz="3000" dirty="0"/>
          </a:p>
        </p:txBody>
      </p:sp>
      <p:graphicFrame>
        <p:nvGraphicFramePr>
          <p:cNvPr id="7" name="inter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27432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№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Что происходит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Участники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Как передаётся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Заявление или уведомление поступает в МВД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ЕПГУ → МВД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через СМЭВ в электронном виде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Документы принимают не в МВД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МФЦ, гостиница, Почта России → МВД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передача сведений в МВД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Проверка уплаты госпошлины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МВД → Федеральное казначейство (ГИС ГМП)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запрос, если нет квитанции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Статус и результат для заявителя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МВД → ЕПГУ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личный кабинет на портале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llout"/>
          <p:cNvSpPr txBox="1"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Если запрошенное ведомство не ответило вовремя, это не основание для отказа в услуге.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Термины и источники</a:t>
            </a:r>
            <a:endParaRPr lang="en-US" sz="3000" dirty="0"/>
          </a:p>
        </p:txBody>
      </p:sp>
      <p:sp>
        <p:nvSpPr>
          <p:cNvPr id="3" name="terms"/>
          <p:cNvSpPr txBox="1"/>
          <p:nvPr/>
        </p:nvSpPr>
        <p:spPr>
          <a:xfrm>
            <a:off x="457200" y="11887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СМЭВ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единая система межведомственного электронного взаимодействия: через неё ведомства обмениваются данными.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ЕПГУ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единый портал государственных и муниципальных услуг (Госуслуги).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МФЦ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многофункциональный центр предоставления государственных услуг.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ГИС ГМП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государственная информационная система о государственных и муниципальных платежах.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ГИСМУ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государственная информационная система миграционного учёта.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Админ. регламент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документ, который описывает порядок и сроки оказания госуслуги.</a:t>
            </a:r>
            <a:endParaRPr lang="en-US" sz="1400" dirty="0"/>
          </a:p>
        </p:txBody>
      </p:sp>
      <p:sp>
        <p:nvSpPr>
          <p:cNvPr id="4" name="src_panel"/>
          <p:cNvSpPr/>
          <p:nvPr/>
        </p:nvSpPr>
        <p:spPr>
          <a:xfrm>
            <a:off x="5760720" y="1188720"/>
            <a:ext cx="2926080" cy="329184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ources"/>
          <p:cNvSpPr txBox="1"/>
          <p:nvPr/>
        </p:nvSpPr>
        <p:spPr>
          <a:xfrm>
            <a:off x="5943600" y="128016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Источники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Приказ МВД России от 10.12.2020 № 856 (в ред. приказа от 22.10.2024 № 628).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ФЗ от 18.07.2006 № 109-ФЗ «О миграционном учёте иностранных граждан и лиц без гражданства в РФ».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Постановление Правительства РФ от 15.01.2007 № 9.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Методические указания к ЛР №5 по дисциплине «Системы электронного документооборота». Ставрополь, 2024.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gration">
  <a:themeElements>
    <a:clrScheme name="Migration">
      <a:dk1>
        <a:srgbClr val="1B2A38"/>
      </a:dk1>
      <a:lt1>
        <a:srgbClr val="FFFFFF"/>
      </a:lt1>
      <a:dk2>
        <a:srgbClr val="16384F"/>
      </a:dk2>
      <a:lt2>
        <a:srgbClr val="EDF2F6"/>
      </a:lt2>
      <a:accent1>
        <a:srgbClr val="2E6F95"/>
      </a:accent1>
      <a:accent2>
        <a:srgbClr val="C8102E"/>
      </a:accent2>
      <a:accent3>
        <a:srgbClr val="2F7D6B"/>
      </a:accent3>
      <a:accent4>
        <a:srgbClr val="5B7083"/>
      </a:accent4>
      <a:accent5>
        <a:srgbClr val="F2A541"/>
      </a:accent5>
      <a:accent6>
        <a:srgbClr val="8FB8D0"/>
      </a:accent6>
      <a:hlink>
        <a:srgbClr val="2E6F95"/>
      </a:hlink>
      <a:folHlink>
        <a:srgbClr val="5B7083"/>
      </a:folHlink>
    </a:clrScheme>
    <a:fontScheme name="Migr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 №5. Миграционный учёт иностранных граждан (вариант 18)</dc:title>
  <dc:subject>PptxGenJS Presentation</dc:subject>
  <dc:creator>Польшин А.Д.</dc:creator>
  <cp:lastModifiedBy>Польшин А.Д.</cp:lastModifiedBy>
  <cp:revision>1</cp:revision>
  <dcterms:created xsi:type="dcterms:W3CDTF">2026-10-22T09:57:51Z</dcterms:created>
  <dcterms:modified xsi:type="dcterms:W3CDTF">2026-10-22T09:57:51Z</dcterms:modified>
</cp:coreProperties>
</file>