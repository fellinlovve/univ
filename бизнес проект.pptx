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1A52"/>
    <a:srgbClr val="42287C"/>
    <a:srgbClr val="D2DEEF"/>
    <a:srgbClr val="544CC0"/>
    <a:srgbClr val="6150A0"/>
    <a:srgbClr val="CAC0FC"/>
    <a:srgbClr val="5D71C7"/>
    <a:srgbClr val="7D8FEB"/>
    <a:srgbClr val="714BC5"/>
    <a:srgbClr val="603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35" autoAdjust="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76E39-F482-4629-80FF-AE18280773C7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4794B-FE4B-4595-A0EC-A8018C1C29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7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07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480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3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9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30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326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665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341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51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  <a:effectLst>
            <a:outerShdw blurRad="50800" dist="63500" dir="5400000" algn="ctr" rotWithShape="0">
              <a:schemeClr val="tx1">
                <a:alpha val="63000"/>
              </a:scheme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Студенческий стартап </a:t>
            </a:r>
            <a:endParaRPr lang="ru-RU" sz="48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869780" y="211284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  <a:effectLst>
            <a:outerShdw blurRad="50800" dist="50800" dir="5400000" algn="ctr" rotWithShape="0">
              <a:schemeClr val="tx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933320" y="2173955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2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4060" y="542700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50800" dist="50800" dir="5400000" algn="ctr" rotWithShape="0">
              <a:srgbClr val="42287C"/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О продукте</a:t>
            </a:r>
            <a:endParaRPr lang="ru-RU" sz="40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62760" y="2498910"/>
            <a:ext cx="5361480" cy="10614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16632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70040" y="4745520"/>
            <a:ext cx="10574640" cy="1774152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7D8FEB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42540" y="1620483"/>
            <a:ext cx="2850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ПРОБЛЕМА</a:t>
            </a:r>
            <a:r>
              <a:rPr lang="ru-RU" sz="14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ПОТРЕБИТЕЛЯ</a:t>
            </a:r>
            <a:endParaRPr lang="ru-RU" sz="14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AC9CFA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832960" y="1741899"/>
            <a:ext cx="3031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НАШЕ</a:t>
            </a: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РЕШЕНИЕ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407280" y="2238840"/>
            <a:ext cx="5298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18360" y="5875123"/>
            <a:ext cx="10426320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 </a:t>
            </a:r>
            <a:r>
              <a:rPr lang="ru-RU" sz="1600" dirty="0">
                <a:solidFill>
                  <a:schemeClr val="lt1"/>
                </a:solidFill>
                <a:latin typeface="Involve Medium"/>
              </a:rPr>
              <a:t>В рамках </a:t>
            </a:r>
            <a:r>
              <a:rPr lang="ru-RU" sz="1600" dirty="0" err="1">
                <a:solidFill>
                  <a:schemeClr val="lt1"/>
                </a:solidFill>
                <a:latin typeface="Involve Medium"/>
              </a:rPr>
              <a:t>стартап</a:t>
            </a:r>
            <a:r>
              <a:rPr lang="ru-RU" sz="1600" dirty="0">
                <a:solidFill>
                  <a:schemeClr val="lt1"/>
                </a:solidFill>
                <a:latin typeface="Involve Medium"/>
              </a:rPr>
              <a:t>-проекта будет реализован только прототип робота, обладающий не полным функционалом*</a:t>
            </a:r>
          </a:p>
        </p:txBody>
      </p:sp>
      <p:sp>
        <p:nvSpPr>
          <p:cNvPr id="87" name="TextBox 9"/>
          <p:cNvSpPr/>
          <p:nvPr/>
        </p:nvSpPr>
        <p:spPr>
          <a:xfrm>
            <a:off x="918360" y="5045580"/>
            <a:ext cx="101016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 Хозяйства из данных округов занимают 4 из 10 позиций в списке российских теплиц с наибольшим объёмом производства.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3787560" y="442854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9786FA"/>
          </a:solidFill>
          <a:ln>
            <a:noFill/>
          </a:ln>
          <a:effectLst>
            <a:outerShdw blurRad="63500" dist="50800" dir="5400000" algn="ctr" rotWithShape="0">
              <a:srgbClr val="2B1A52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6597" y="4473359"/>
            <a:ext cx="4055323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3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82149" y="756872"/>
            <a:ext cx="7730981" cy="6953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>
                <a:alpha val="78000"/>
              </a:srgb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Involve Medium"/>
                <a:ea typeface="+mn-ea"/>
                <a:cs typeface="+mn-cs"/>
              </a:rPr>
              <a:t>Технологичность стартап-проекта</a:t>
            </a: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Прямоугольник 93"/>
          <p:cNvSpPr/>
          <p:nvPr/>
        </p:nvSpPr>
        <p:spPr>
          <a:xfrm>
            <a:off x="764280" y="1503576"/>
            <a:ext cx="5343480" cy="1652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1. Техническое решение проекта: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Модель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нейросети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Датасеты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, суммарным объемом фотографий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~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14000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PI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Разработанное Программное Обеспечение.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Камера высокого разрешения.</a:t>
            </a:r>
          </a:p>
        </p:txBody>
      </p:sp>
      <p:sp>
        <p:nvSpPr>
          <p:cNvPr id="95" name="Прямоугольник 94"/>
          <p:cNvSpPr/>
          <p:nvPr/>
        </p:nvSpPr>
        <p:spPr>
          <a:xfrm>
            <a:off x="764280" y="3291396"/>
            <a:ext cx="5319360" cy="2260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2. Преимущества выбранного технического решения: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Средняя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точность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определения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- ~97%.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Высокая скорость, обработка объектов в реальном времени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PI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Высокое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соотношение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цены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качества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простота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освоении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дешевизна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014472" y="1503576"/>
            <a:ext cx="531108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3. Имеющийся задел: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Уровень технологической готовности - УГТ1.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Сформулирована гипотеза, определён командный состав, основные технологии, найдено 6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датасетов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, суммарным объёмом в ~14000 фотографий, определена основная модель используемого искусственного интеллекта.</a:t>
            </a:r>
          </a:p>
          <a:p>
            <a:pPr>
              <a:lnSpc>
                <a:spcPct val="100000"/>
              </a:lnSpc>
            </a:pP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014520" y="3291396"/>
            <a:ext cx="5561280" cy="3214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</a:p>
        </p:txBody>
      </p:sp>
      <p:pic>
        <p:nvPicPr>
          <p:cNvPr id="98" name="Picture 2"/>
          <p:cNvPicPr/>
          <p:nvPr/>
        </p:nvPicPr>
        <p:blipFill>
          <a:blip r:embed="rId3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0619" y="488027"/>
            <a:ext cx="10514880" cy="9518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6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b="1" dirty="0">
                <a:solidFill>
                  <a:srgbClr val="604AD1"/>
                </a:solidFill>
                <a:latin typeface="Involve Medium"/>
              </a:rPr>
              <a:t>Аналоги и </a:t>
            </a:r>
            <a:r>
              <a:rPr lang="ru-RU" b="1" u="none" strike="noStrike" dirty="0">
                <a:solidFill>
                  <a:srgbClr val="604AD1"/>
                </a:solidFill>
                <a:effectLst/>
                <a:uFillTx/>
                <a:latin typeface="Involve Medium"/>
              </a:rPr>
              <a:t>конкуренты</a:t>
            </a:r>
            <a:endParaRPr lang="ru-RU" b="0" u="none" strike="noStrike" dirty="0">
              <a:solidFill>
                <a:srgbClr val="604AD1"/>
              </a:solidFill>
              <a:effectLst/>
              <a:uFillTx/>
              <a:latin typeface="Involve Medium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508679" y="1919366"/>
            <a:ext cx="3436560" cy="4532899"/>
          </a:xfrm>
          <a:prstGeom prst="roundRect">
            <a:avLst>
              <a:gd name="adj" fmla="val 10064"/>
            </a:avLst>
          </a:prstGeom>
          <a:solidFill>
            <a:srgbClr val="4D4CB6"/>
          </a:solidFill>
          <a:ln>
            <a:noFill/>
          </a:ln>
          <a:effectLst>
            <a:outerShdw blurRad="63500" dist="50800" dir="852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4377720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6C48E2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246422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884DF8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508679" y="2121549"/>
            <a:ext cx="3436560" cy="3445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20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299884" y="2113833"/>
            <a:ext cx="3329635" cy="3600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>
                <a:solidFill>
                  <a:schemeClr val="bg1"/>
                </a:solidFill>
                <a:latin typeface="Involve Medium"/>
              </a:rPr>
              <a:t>Востребованность продукта</a:t>
            </a:r>
          </a:p>
        </p:txBody>
      </p:sp>
      <p:sp>
        <p:nvSpPr>
          <p:cNvPr id="107" name="Подзаголовок 2"/>
          <p:cNvSpPr/>
          <p:nvPr/>
        </p:nvSpPr>
        <p:spPr>
          <a:xfrm>
            <a:off x="4377380" y="2093896"/>
            <a:ext cx="3426715" cy="7012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>
                <a:solidFill>
                  <a:schemeClr val="bg1"/>
                </a:solidFill>
                <a:latin typeface="Involve Medium"/>
              </a:rPr>
              <a:t>Конкурентные преимущества продукта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562479" y="2592118"/>
            <a:ext cx="3328959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79388" indent="-179388">
              <a:lnSpc>
                <a:spcPct val="100000"/>
              </a:lnSpc>
              <a:buAutoNum type="arabicPeriod"/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Cognitive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pilot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полевых тракторов, требующих оператора; Сдача в аренду.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2. ООО «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ЭРлаб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»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тепличных и полевых роботов; Сдача в аренду. Blue </a:t>
            </a:r>
            <a:r>
              <a:rPr lang="ru-RU" sz="1200" b="0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Rier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США; Информация в открытых источниках отсутствует в связи с введёнными санкциями;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3.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Naïo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Technologies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4.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MetaMotion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Израиль; Разработка тепличных и полевых роботов; Продажа заблокирована в связи с санкциями.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4478776" y="2969706"/>
            <a:ext cx="332532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Модульность конструкции позволит персонализировать роботов под конкретные нужды, увеличивая их эффективность;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 </a:t>
            </a: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</a:p>
          <a:p>
            <a:pPr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8395642" y="3153049"/>
            <a:ext cx="313812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indent="-228600" defTabSz="914400">
              <a:lnSpc>
                <a:spcPct val="100000"/>
              </a:lnSpc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Увеличение количество населения, а также тренды автоматизации процессов неминуемо ведут к развитию сельского хозяйства.</a:t>
            </a:r>
          </a:p>
          <a:p>
            <a:pPr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Кадровый голод: 11% работников младше 40 лет.</a:t>
            </a:r>
          </a:p>
          <a:p>
            <a:pPr marL="179388" indent="-179388"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Увеличение количества выпускаемой продукции невозможно без наращивания производственных мощностей.</a:t>
            </a:r>
          </a:p>
        </p:txBody>
      </p:sp>
      <p:pic>
        <p:nvPicPr>
          <p:cNvPr id="111" name="Picture 3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4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0B51-01BB-67E7-178A-789162BBD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9" y="1569853"/>
            <a:ext cx="11120841" cy="457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90560" y="337202"/>
            <a:ext cx="10514880" cy="13248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5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 dirty="0">
                <a:solidFill>
                  <a:srgbClr val="42287C"/>
                </a:solidFill>
                <a:effectLst/>
                <a:uFillTx/>
                <a:latin typeface="Involve Medium"/>
                <a:ea typeface="Tahoma"/>
              </a:rPr>
              <a:t>Рынок и потребитель</a:t>
            </a:r>
            <a:endParaRPr lang="ru-RU" sz="4400" b="0" u="none" strike="noStrike" dirty="0">
              <a:solidFill>
                <a:srgbClr val="42287C"/>
              </a:solidFill>
              <a:effectLst/>
              <a:uFillTx/>
              <a:latin typeface="Involve Medium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508680" y="1803970"/>
            <a:ext cx="11174040" cy="1324800"/>
            <a:chOff x="508980" y="2083292"/>
            <a:chExt cx="11174040" cy="1324800"/>
          </a:xfrm>
          <a:effectLst>
            <a:outerShdw blurRad="63500" dist="50800" dir="5400000" algn="ctr" rotWithShape="0">
              <a:srgbClr val="6150A0"/>
            </a:outerShdw>
          </a:effectLst>
        </p:grpSpPr>
        <p:sp>
          <p:nvSpPr>
            <p:cNvPr id="115" name="Прямоугольник: скругленные углы 7"/>
            <p:cNvSpPr/>
            <p:nvPr/>
          </p:nvSpPr>
          <p:spPr>
            <a:xfrm>
              <a:off x="508980" y="2083292"/>
              <a:ext cx="11174040" cy="1324800"/>
            </a:xfrm>
            <a:prstGeom prst="roundRect">
              <a:avLst>
                <a:gd name="adj" fmla="val 18301"/>
              </a:avLst>
            </a:prstGeom>
            <a:solidFill>
              <a:srgbClr val="4228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Подзаголовок 2"/>
            <p:cNvSpPr/>
            <p:nvPr/>
          </p:nvSpPr>
          <p:spPr>
            <a:xfrm>
              <a:off x="854418" y="2344344"/>
              <a:ext cx="10647720" cy="77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rm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2000" b="0" u="none" strike="noStrike" dirty="0">
                  <a:solidFill>
                    <a:schemeClr val="lt1"/>
                  </a:solidFill>
                  <a:effectLst/>
                  <a:uFillTx/>
                  <a:latin typeface="Involve Medium"/>
                </a:rPr>
  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  </a:r>
              <a:endParaRPr lang="ru-RU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Прямоугольник: скругленные углы 11"/>
          <p:cNvSpPr/>
          <p:nvPr/>
        </p:nvSpPr>
        <p:spPr>
          <a:xfrm>
            <a:off x="52344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23808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642855" y="4248356"/>
            <a:ext cx="48589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Сектор рынка - B2B, B2C;</a:t>
            </a:r>
          </a:p>
        </p:txBody>
      </p:sp>
      <p:pic>
        <p:nvPicPr>
          <p:cNvPr id="122" name="Picture 4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3"/>
          <a:stretch/>
        </p:blipFill>
        <p:spPr>
          <a:xfrm>
            <a:off x="400320" y="413945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123"/>
          <p:cNvSpPr/>
          <p:nvPr/>
        </p:nvSpPr>
        <p:spPr>
          <a:xfrm>
            <a:off x="6460920" y="4262931"/>
            <a:ext cx="49957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производственных мощностей для конвейерного выпуска продукции.</a:t>
            </a:r>
            <a:endParaRPr lang="en-US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клиентской базы.</a:t>
            </a:r>
            <a:endParaRPr lang="en-US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практического опыта предпринимательской деятельности.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76552" y="3431122"/>
            <a:ext cx="4646465" cy="649363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Подзаголовок 2"/>
          <p:cNvSpPr/>
          <p:nvPr/>
        </p:nvSpPr>
        <p:spPr>
          <a:xfrm>
            <a:off x="476373" y="3518078"/>
            <a:ext cx="4562337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u="none" strike="noStrike" dirty="0">
                <a:solidFill>
                  <a:srgbClr val="2B1A5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1" u="none" strike="noStrike" dirty="0">
              <a:solidFill>
                <a:srgbClr val="2B1A52"/>
              </a:solidFill>
              <a:effectLst/>
              <a:uFillTx/>
              <a:latin typeface="Arial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7147213" y="3431122"/>
            <a:ext cx="4698557" cy="645846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дзаголовок 2"/>
          <p:cNvSpPr/>
          <p:nvPr/>
        </p:nvSpPr>
        <p:spPr>
          <a:xfrm>
            <a:off x="7189747" y="3518078"/>
            <a:ext cx="4613486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ru-RU" sz="1600" b="1" u="none" strike="noStrike" dirty="0">
              <a:solidFill>
                <a:srgbClr val="42287C"/>
              </a:solidFill>
              <a:effectLst/>
              <a:uFillTx/>
              <a:latin typeface="Arial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7189747" y="3518544"/>
            <a:ext cx="4386413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dirty="0">
                <a:solidFill>
                  <a:srgbClr val="2B1A52"/>
                </a:solidFill>
                <a:latin typeface="Involve Medium"/>
              </a:rPr>
              <a:t>ВОЗМОЖНЫЕ БАРЬЕРЫ ДЛЯ ВЫХОДА НА РЫНОК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Таблица 133"/>
          <p:cNvGraphicFramePr/>
          <p:nvPr>
            <p:extLst>
              <p:ext uri="{D42A27DB-BD31-4B8C-83A1-F6EECF244321}">
                <p14:modId xmlns:p14="http://schemas.microsoft.com/office/powerpoint/2010/main" val="4197100064"/>
              </p:ext>
            </p:extLst>
          </p:nvPr>
        </p:nvGraphicFramePr>
        <p:xfrm>
          <a:off x="222326" y="2013938"/>
          <a:ext cx="8046602" cy="2233263"/>
        </p:xfrm>
        <a:graphic>
          <a:graphicData uri="http://schemas.openxmlformats.org/drawingml/2006/table">
            <a:tbl>
              <a:tblPr/>
              <a:tblGrid>
                <a:gridCol w="1870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2029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Конверсия поль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зо</a:t>
                      </a: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вателей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Involve Medium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Средний чек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6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9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21 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Количество продаж в месяц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17,5%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Скругленный прямоугольник 7"/>
          <p:cNvSpPr/>
          <p:nvPr/>
        </p:nvSpPr>
        <p:spPr>
          <a:xfrm>
            <a:off x="-82260" y="637275"/>
            <a:ext cx="6011422" cy="679965"/>
          </a:xfrm>
          <a:prstGeom prst="roundRect">
            <a:avLst>
              <a:gd name="adj" fmla="val 16667"/>
            </a:avLst>
          </a:prstGeom>
          <a:solidFill>
            <a:srgbClr val="2B1A52"/>
          </a:solidFill>
          <a:ln>
            <a:noFill/>
          </a:ln>
          <a:effectLst>
            <a:outerShdw blurRad="63500" dist="50800" dir="5400000" algn="ctr" rotWithShape="0">
              <a:schemeClr val="tx1">
                <a:alpha val="4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-401638" defTabSz="914400">
              <a:lnSpc>
                <a:spcPct val="100000"/>
              </a:lnSpc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ФИНАНСОВАЯ МОДЕЛЬ И РЫНОК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222326" y="4448768"/>
            <a:ext cx="7781760" cy="20166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</a:p>
          <a:p>
            <a:pPr defTabSz="914400">
              <a:lnSpc>
                <a:spcPct val="100000"/>
              </a:lnSpc>
              <a:buClr>
                <a:srgbClr val="FFFFFF"/>
              </a:buClr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Среднее кол-во продаж в квартал – 3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Примерная стоимость робота будет составлять 3млн. руб., следовательно, средний чек составит 9,75млн. руб.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16F71D4-83AF-3A9C-3C29-8DDD793E0F39}"/>
              </a:ext>
            </a:extLst>
          </p:cNvPr>
          <p:cNvGrpSpPr/>
          <p:nvPr/>
        </p:nvGrpSpPr>
        <p:grpSpPr>
          <a:xfrm>
            <a:off x="8557502" y="1522563"/>
            <a:ext cx="3318600" cy="3260880"/>
            <a:chOff x="8693580" y="1529640"/>
            <a:chExt cx="3318600" cy="3260880"/>
          </a:xfrm>
          <a:effectLst>
            <a:outerShdw blurRad="88900" dist="76200" dir="9600000" algn="ctr" rotWithShape="0">
              <a:schemeClr val="tx1">
                <a:alpha val="48000"/>
              </a:schemeClr>
            </a:outerShdw>
          </a:effectLst>
        </p:grpSpPr>
        <p:sp>
          <p:nvSpPr>
            <p:cNvPr id="127" name="Овал 5"/>
            <p:cNvSpPr/>
            <p:nvPr/>
          </p:nvSpPr>
          <p:spPr>
            <a:xfrm>
              <a:off x="8693580" y="1529640"/>
              <a:ext cx="3244653" cy="3260880"/>
            </a:xfrm>
            <a:prstGeom prst="ellipse">
              <a:avLst/>
            </a:prstGeom>
            <a:solidFill>
              <a:srgbClr val="2B1A52"/>
            </a:solidFill>
            <a:ln>
              <a:gradFill flip="none" rotWithShape="1">
                <a:gsLst>
                  <a:gs pos="0">
                    <a:srgbClr val="CFC2EC"/>
                  </a:gs>
                  <a:gs pos="28000">
                    <a:srgbClr val="8E70D2"/>
                  </a:gs>
                  <a:gs pos="63000">
                    <a:srgbClr val="3C2472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Овал 8"/>
            <p:cNvSpPr/>
            <p:nvPr/>
          </p:nvSpPr>
          <p:spPr>
            <a:xfrm>
              <a:off x="9406546" y="1879257"/>
              <a:ext cx="2605634" cy="2516780"/>
            </a:xfrm>
            <a:prstGeom prst="ellipse">
              <a:avLst/>
            </a:prstGeom>
            <a:solidFill>
              <a:srgbClr val="42287C"/>
            </a:solidFill>
            <a:ln>
              <a:gradFill flip="none" rotWithShape="1">
                <a:gsLst>
                  <a:gs pos="0">
                    <a:srgbClr val="CFC2EC"/>
                  </a:gs>
                  <a:gs pos="40000">
                    <a:srgbClr val="42287C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Овал 10"/>
            <p:cNvSpPr/>
            <p:nvPr/>
          </p:nvSpPr>
          <p:spPr>
            <a:xfrm>
              <a:off x="10065388" y="2192192"/>
              <a:ext cx="1946792" cy="1943043"/>
            </a:xfrm>
            <a:prstGeom prst="ellipse">
              <a:avLst/>
            </a:prstGeom>
            <a:solidFill>
              <a:srgbClr val="603AB6"/>
            </a:solidFill>
            <a:ln>
              <a:gradFill flip="none" rotWithShape="1">
                <a:gsLst>
                  <a:gs pos="0">
                    <a:srgbClr val="CFC2EC"/>
                  </a:gs>
                  <a:gs pos="76000">
                    <a:srgbClr val="603AB6"/>
                  </a:gs>
                  <a:gs pos="48000">
                    <a:srgbClr val="42287C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"/>
            <p:cNvSpPr/>
            <p:nvPr/>
          </p:nvSpPr>
          <p:spPr>
            <a:xfrm>
              <a:off x="8768084" y="2721729"/>
              <a:ext cx="71764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ТАМ</a:t>
              </a:r>
            </a:p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106,4 млрд. руб.</a:t>
              </a:r>
            </a:p>
          </p:txBody>
        </p:sp>
        <p:sp>
          <p:nvSpPr>
            <p:cNvPr id="131" name="TextBox 15"/>
            <p:cNvSpPr/>
            <p:nvPr/>
          </p:nvSpPr>
          <p:spPr>
            <a:xfrm>
              <a:off x="9506608" y="2721728"/>
              <a:ext cx="62710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SAM </a:t>
              </a:r>
            </a:p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26,6 млрд. руб</a:t>
              </a:r>
              <a:r>
                <a:rPr lang="ru-RU" sz="1050" b="0" u="none" strike="noStrike" dirty="0">
                  <a:solidFill>
                    <a:schemeClr val="lt1"/>
                  </a:solidFill>
                  <a:effectLst/>
                  <a:uFillTx/>
                  <a:latin typeface="Century Gothic"/>
                  <a:ea typeface="Gilroy-Light"/>
                </a:rPr>
                <a:t>.</a:t>
              </a:r>
              <a:endParaRPr lang="ru-RU" sz="10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6"/>
            <p:cNvSpPr/>
            <p:nvPr/>
          </p:nvSpPr>
          <p:spPr>
            <a:xfrm>
              <a:off x="10463132" y="2791475"/>
              <a:ext cx="1151303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SOM </a:t>
              </a:r>
              <a:endParaRPr lang="en-US" sz="1400" dirty="0">
                <a:solidFill>
                  <a:srgbClr val="FFFFFF"/>
                </a:solidFill>
                <a:latin typeface="Involve Medium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665 млн. руб.</a:t>
              </a:r>
            </a:p>
          </p:txBody>
        </p:sp>
      </p:grpSp>
      <p:sp>
        <p:nvSpPr>
          <p:cNvPr id="133" name="TextBox 17"/>
          <p:cNvSpPr/>
          <p:nvPr/>
        </p:nvSpPr>
        <p:spPr>
          <a:xfrm>
            <a:off x="8421424" y="4866470"/>
            <a:ext cx="3516808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/>
            <a:r>
              <a:rPr lang="ru-RU" sz="1400" dirty="0">
                <a:solidFill>
                  <a:srgbClr val="FFFFFF"/>
                </a:solidFill>
                <a:latin typeface="Involve Medium"/>
              </a:rPr>
              <a:t>ТАМ – Российский рынок промышленной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r>
              <a:rPr lang="en-US" sz="1400" dirty="0">
                <a:solidFill>
                  <a:srgbClr val="FFFFFF"/>
                </a:solidFill>
                <a:latin typeface="Involve Medium"/>
              </a:rPr>
              <a:t>SAM – 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Российский рынок сельскохозяйственной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Involve Medium"/>
              </a:rPr>
              <a:t>SOM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 – 2.5% планируемого рынка</a:t>
            </a:r>
          </a:p>
        </p:txBody>
      </p:sp>
      <p:pic>
        <p:nvPicPr>
          <p:cNvPr id="135" name="Picture 7"/>
          <p:cNvPicPr/>
          <p:nvPr/>
        </p:nvPicPr>
        <p:blipFill>
          <a:blip r:embed="rId3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4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76360" y="883619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Потоки финансов и специалисты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140"/>
          <p:cNvSpPr/>
          <p:nvPr/>
        </p:nvSpPr>
        <p:spPr>
          <a:xfrm>
            <a:off x="461160" y="1662130"/>
            <a:ext cx="5697360" cy="1245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степень полива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степень химической обработанности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степень зрелости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заболевание растения.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400320" y="3054447"/>
            <a:ext cx="52473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пециалисты из области машинного обучения;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специалисты из области электроники;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мощности для обучения искусственного интеллекта;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PI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, сервоприводы, провода;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>
                <a:solidFill>
                  <a:srgbClr val="FFFFFF"/>
                </a:solidFill>
                <a:latin typeface="Involve Medium"/>
              </a:rPr>
              <a:t>3D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-принтеры,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PLA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-пластик.</a:t>
            </a:r>
          </a:p>
        </p:txBody>
      </p:sp>
      <p:sp>
        <p:nvSpPr>
          <p:cNvPr id="143" name="Прямоугольник 142"/>
          <p:cNvSpPr/>
          <p:nvPr/>
        </p:nvSpPr>
        <p:spPr>
          <a:xfrm>
            <a:off x="461160" y="4699647"/>
            <a:ext cx="458892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з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арплата рабочим;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ренда помещений;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ренда серверных мощностей для обучения нейронной сети.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ырьё для производства.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43"/>
          <p:cNvSpPr/>
          <p:nvPr/>
        </p:nvSpPr>
        <p:spPr>
          <a:xfrm>
            <a:off x="6158520" y="1662130"/>
            <a:ext cx="5515200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по электронике и робототехнике. Опыт работы в сфере – от 5 лет. Опыт в реализации </a:t>
            </a:r>
            <a:r>
              <a:rPr lang="ru-RU" sz="15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стартап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-проектов – от 1 года. Заключение договора ГПХ.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по машинному обучению.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Заключение договора ГПХ.</a:t>
            </a: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Фулстек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разработчик. 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Заключение договора ГПХ.</a:t>
            </a:r>
            <a:endParaRPr lang="ru-RU" sz="15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6171210" y="4189146"/>
            <a:ext cx="5840893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5. Планируемый способ получения дохода: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Потоки доходов: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Пробный период с возможностью покупки;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Онлайн-платформы;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Прямые продажи.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Способ выхода на рынок: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Онлайн и офлайн встречи;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Презентация проекта на тематических форумах;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Специальные предложения ( бесплатный пробный период/подарочная лицензия на определенный срок).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76360" y="657843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Команда 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Полилиния: фигура 149"/>
          <p:cNvSpPr/>
          <p:nvPr/>
        </p:nvSpPr>
        <p:spPr>
          <a:xfrm>
            <a:off x="573067" y="206760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Прямоугольник 150"/>
          <p:cNvSpPr/>
          <p:nvPr/>
        </p:nvSpPr>
        <p:spPr>
          <a:xfrm>
            <a:off x="850087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glow rad="1282700">
              <a:schemeClr val="accent1">
                <a:alpha val="40000"/>
              </a:schemeClr>
            </a:glow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659827" y="2722485"/>
            <a:ext cx="2389320" cy="3068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53" name="Полилиния: фигура 152"/>
          <p:cNvSpPr/>
          <p:nvPr/>
        </p:nvSpPr>
        <p:spPr>
          <a:xfrm>
            <a:off x="340536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Полилиния: фигура 153"/>
          <p:cNvSpPr/>
          <p:nvPr/>
        </p:nvSpPr>
        <p:spPr>
          <a:xfrm>
            <a:off x="9090307" y="20546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олилиния: фигура 154"/>
          <p:cNvSpPr/>
          <p:nvPr/>
        </p:nvSpPr>
        <p:spPr>
          <a:xfrm>
            <a:off x="626970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3543967" y="2713083"/>
            <a:ext cx="2389320" cy="310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датасетов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3696551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Оберемко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Анна Алексеевна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6408307" y="2708499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инжиниринга и IT-решений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квалификционных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 работ, научный руководитель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стартап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-проектов.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9228907" y="2719707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инжиниринга и IT-решений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6477970" y="2111619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9419167" y="2117957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869358" y="583032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162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" name="Блок-схема: задержка 2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Блок-схема: задержка 36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128717" y="5908765"/>
            <a:ext cx="1412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Involve Medium"/>
              </a:rPr>
              <a:t>Лидер проекта</a:t>
            </a:r>
          </a:p>
        </p:txBody>
      </p:sp>
      <p:grpSp>
        <p:nvGrpSpPr>
          <p:cNvPr id="6" name="Группа 5"/>
          <p:cNvGrpSpPr/>
          <p:nvPr/>
        </p:nvGrpSpPr>
        <p:grpSpPr>
          <a:xfrm>
            <a:off x="3681474" y="5823950"/>
            <a:ext cx="1976065" cy="468936"/>
            <a:chOff x="3683831" y="5936400"/>
            <a:chExt cx="1976065" cy="468936"/>
          </a:xfrm>
        </p:grpSpPr>
        <p:grpSp>
          <p:nvGrpSpPr>
            <p:cNvPr id="48" name="Группа 47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49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0" name="Блок-схема: задержка 49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Блок-схема: задержка 50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165" name="Прямоугольник 164"/>
            <p:cNvSpPr/>
            <p:nvPr/>
          </p:nvSpPr>
          <p:spPr>
            <a:xfrm>
              <a:off x="3837508" y="6017869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6586854" y="581169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53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4" name="Блок-схема: задержка 53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Блок-схема: задержка 54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67" name="Прямоугольник 166"/>
          <p:cNvSpPr/>
          <p:nvPr/>
        </p:nvSpPr>
        <p:spPr>
          <a:xfrm>
            <a:off x="6571759" y="5769267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Группа 60"/>
          <p:cNvGrpSpPr/>
          <p:nvPr/>
        </p:nvGrpSpPr>
        <p:grpSpPr>
          <a:xfrm>
            <a:off x="9360060" y="5776359"/>
            <a:ext cx="1976065" cy="468936"/>
            <a:chOff x="3683831" y="5936400"/>
            <a:chExt cx="1976065" cy="468936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64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5" name="Блок-схема: задержка 64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Блок-схема: задержка 65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3819454" y="6020291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39" y="538920"/>
            <a:ext cx="5731921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  <a:effectLst>
            <a:outerShdw blurRad="63500" dist="76200" dir="8400000" algn="ctr" rotWithShape="0">
              <a:schemeClr val="tx1">
                <a:alpha val="62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136525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1990959" y="142920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  <a:effectLst>
            <a:outerShdw blurRad="63500" dist="50800" dir="8400000" algn="ctr" rotWithShape="0">
              <a:schemeClr val="tx1">
                <a:alpha val="63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333840" y="209250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  <a:effectLst>
            <a:outerShdw blurRad="63500" dist="50800" dir="7800000" algn="ctr" rotWithShape="0">
              <a:schemeClr val="tx1">
                <a:alpha val="47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7439417" y="2990614"/>
            <a:ext cx="2878920" cy="3272931"/>
            <a:chOff x="7344227" y="2972938"/>
            <a:chExt cx="2878920" cy="3272931"/>
          </a:xfrm>
          <a:effectLst>
            <a:outerShdw blurRad="63500" dist="101600" dir="7800000" algn="ctr" rotWithShape="0">
              <a:schemeClr val="tx1">
                <a:alpha val="31000"/>
              </a:schemeClr>
            </a:outerShdw>
          </a:effectLst>
        </p:grpSpPr>
        <p:sp>
          <p:nvSpPr>
            <p:cNvPr id="173" name="Прямоугольник 12"/>
            <p:cNvSpPr/>
            <p:nvPr/>
          </p:nvSpPr>
          <p:spPr>
            <a:xfrm>
              <a:off x="7461947" y="3692218"/>
              <a:ext cx="1215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rgbClr val="14243E"/>
                  </a:solidFill>
                  <a:effectLst/>
                  <a:uFillTx/>
                  <a:latin typeface="Involve SemiBold"/>
                </a:rPr>
                <a:t>Логотип</a:t>
              </a:r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8" name="Изображение 10"/>
            <p:cNvPicPr/>
            <p:nvPr/>
          </p:nvPicPr>
          <p:blipFill rotWithShape="1">
            <a:blip r:embed="rId2"/>
            <a:srcRect b="4338"/>
            <a:stretch/>
          </p:blipFill>
          <p:spPr>
            <a:xfrm>
              <a:off x="7344227" y="2972938"/>
              <a:ext cx="2878920" cy="2750931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9" name="Изображение 12"/>
            <p:cNvPicPr/>
            <p:nvPr/>
          </p:nvPicPr>
          <p:blipFill>
            <a:blip r:embed="rId3"/>
            <a:stretch/>
          </p:blipFill>
          <p:spPr>
            <a:xfrm>
              <a:off x="7344227" y="5723869"/>
              <a:ext cx="2878920" cy="5220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0" name="TextBox 4"/>
          <p:cNvSpPr/>
          <p:nvPr/>
        </p:nvSpPr>
        <p:spPr>
          <a:xfrm>
            <a:off x="825821" y="3300480"/>
            <a:ext cx="5161092" cy="256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C93A982-6CC5-989B-0D56-BB9DC0F07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246716"/>
              </p:ext>
            </p:extLst>
          </p:nvPr>
        </p:nvGraphicFramePr>
        <p:xfrm>
          <a:off x="150829" y="707011"/>
          <a:ext cx="11877773" cy="59765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5027">
                  <a:extLst>
                    <a:ext uri="{9D8B030D-6E8A-4147-A177-3AD203B41FA5}">
                      <a16:colId xmlns:a16="http://schemas.microsoft.com/office/drawing/2014/main" val="2413578710"/>
                    </a:ext>
                  </a:extLst>
                </a:gridCol>
                <a:gridCol w="4518392">
                  <a:extLst>
                    <a:ext uri="{9D8B030D-6E8A-4147-A177-3AD203B41FA5}">
                      <a16:colId xmlns:a16="http://schemas.microsoft.com/office/drawing/2014/main" val="3281644311"/>
                    </a:ext>
                  </a:extLst>
                </a:gridCol>
                <a:gridCol w="2175960">
                  <a:extLst>
                    <a:ext uri="{9D8B030D-6E8A-4147-A177-3AD203B41FA5}">
                      <a16:colId xmlns:a16="http://schemas.microsoft.com/office/drawing/2014/main" val="4247809518"/>
                    </a:ext>
                  </a:extLst>
                </a:gridCol>
                <a:gridCol w="2342434">
                  <a:extLst>
                    <a:ext uri="{9D8B030D-6E8A-4147-A177-3AD203B41FA5}">
                      <a16:colId xmlns:a16="http://schemas.microsoft.com/office/drawing/2014/main" val="1564364030"/>
                    </a:ext>
                  </a:extLst>
                </a:gridCol>
                <a:gridCol w="2175960">
                  <a:extLst>
                    <a:ext uri="{9D8B030D-6E8A-4147-A177-3AD203B41FA5}">
                      <a16:colId xmlns:a16="http://schemas.microsoft.com/office/drawing/2014/main" val="1572247168"/>
                    </a:ext>
                  </a:extLst>
                </a:gridCol>
              </a:tblGrid>
              <a:tr h="57831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effectLst/>
                          <a:latin typeface="Involve Medium"/>
                        </a:rPr>
                        <a:t>Наименование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23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volve Medium"/>
                        </a:rPr>
                        <a:t>Цена приобретения, тыс. руб.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Involve Medium"/>
                        </a:rPr>
                        <a:t>Срок использования, лет*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effectLst/>
                          <a:latin typeface="Involve Medium"/>
                        </a:rPr>
                        <a:t>Амортизация, тыс. руб.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23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716283"/>
                  </a:ext>
                </a:extLst>
              </a:tr>
              <a:tr h="214454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5770" marR="55770" marT="0" marB="0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5770" marR="55770" marT="0" marB="0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5770" marR="55770" marT="0" marB="0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1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= 2 / 3</a:t>
                      </a:r>
                    </a:p>
                  </a:txBody>
                  <a:tcPr marL="55770" marR="55770" marT="0" marB="0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92239"/>
                  </a:ext>
                </a:extLst>
              </a:tr>
              <a:tr h="4839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1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Производственные и прочие помещения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endParaRPr lang="ru-RU" sz="11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66005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1.1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Складское помещение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890521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1.2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Офисное помещение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887801"/>
                  </a:ext>
                </a:extLst>
              </a:tr>
              <a:tr h="4839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Технологическое оборудование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8751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2.1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Прототип робота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3500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11834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2.2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2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Системы компьютерного зрения и камеры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214945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2.3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Производственное оборудование для сборки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124703"/>
                  </a:ext>
                </a:extLst>
              </a:tr>
              <a:tr h="4839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3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Нематериальные активы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15025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>
                          <a:effectLst/>
                        </a:rPr>
                        <a:t>3.1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Патенты на изобретения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268333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3.2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ПО, алгоритмы, ноу-хау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561237"/>
                  </a:ext>
                </a:extLst>
              </a:tr>
              <a:tr h="4839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4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Элементы инфраструктуры, коммуникации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583771"/>
                  </a:ext>
                </a:extLst>
              </a:tr>
              <a:tr h="4289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4.1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Сетевое оборудование и серверы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660766"/>
                  </a:ext>
                </a:extLst>
              </a:tr>
              <a:tr h="4776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4.2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Системы связи и передачи данных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23753"/>
                  </a:ext>
                </a:extLst>
              </a:tr>
              <a:tr h="2310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770" marR="55770" marT="0" marB="0" anchor="ctr">
                    <a:solidFill>
                      <a:schemeClr val="tx1">
                        <a:alpha val="1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3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Всего (1 + 2 + 3 + 4)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19800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х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</a:pPr>
                      <a:r>
                        <a:rPr lang="ru-RU" sz="1400" b="1" kern="1200" dirty="0">
                          <a:solidFill>
                            <a:schemeClr val="lt1"/>
                          </a:solidFill>
                          <a:effectLst/>
                          <a:latin typeface="Involve Medium"/>
                          <a:ea typeface="+mn-ea"/>
                          <a:cs typeface="+mn-cs"/>
                        </a:rPr>
                        <a:t>2185</a:t>
                      </a:r>
                    </a:p>
                  </a:txBody>
                  <a:tcPr marL="55770" marR="55770" marT="0" marB="0" anchor="ctr">
                    <a:solidFill>
                      <a:schemeClr val="tx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59635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637FEB2-2547-A83D-B1CD-6CB8D5C84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1780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b="1">
              <a:latin typeface="Involve Mediu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441374-B462-898E-8D99-B8078B2638C3}"/>
              </a:ext>
            </a:extLst>
          </p:cNvPr>
          <p:cNvSpPr txBox="1"/>
          <p:nvPr/>
        </p:nvSpPr>
        <p:spPr>
          <a:xfrm>
            <a:off x="1177762" y="37707"/>
            <a:ext cx="9836475" cy="584775"/>
          </a:xfrm>
          <a:prstGeom prst="rect">
            <a:avLst/>
          </a:prstGeom>
          <a:noFill/>
          <a:effectLst>
            <a:outerShdw blurRad="63500" dist="50800" dir="5400000" sx="101000" sy="101000" algn="ctr" rotWithShape="0">
              <a:srgbClr val="42287C">
                <a:alpha val="73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lt1"/>
                </a:solidFill>
                <a:effectLst>
                  <a:outerShdw blurRad="63500" dist="63500" dir="5400000" algn="ctr" rotWithShape="0">
                    <a:srgbClr val="2B1A52"/>
                  </a:outerShdw>
                </a:effectLst>
                <a:latin typeface="Cygre ExtraBold"/>
                <a:ea typeface="Tahoma"/>
              </a:rPr>
              <a:t>Характеристики основных производственных фондов</a:t>
            </a:r>
          </a:p>
        </p:txBody>
      </p:sp>
    </p:spTree>
    <p:extLst>
      <p:ext uri="{BB962C8B-B14F-4D97-AF65-F5344CB8AC3E}">
        <p14:creationId xmlns:p14="http://schemas.microsoft.com/office/powerpoint/2010/main" val="3211151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152B6F9-C36F-9F1A-7149-93FB67EF5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337795"/>
              </p:ext>
            </p:extLst>
          </p:nvPr>
        </p:nvGraphicFramePr>
        <p:xfrm>
          <a:off x="169682" y="669303"/>
          <a:ext cx="11849493" cy="5995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5670">
                  <a:extLst>
                    <a:ext uri="{9D8B030D-6E8A-4147-A177-3AD203B41FA5}">
                      <a16:colId xmlns:a16="http://schemas.microsoft.com/office/drawing/2014/main" val="2935502349"/>
                    </a:ext>
                  </a:extLst>
                </a:gridCol>
                <a:gridCol w="2122942">
                  <a:extLst>
                    <a:ext uri="{9D8B030D-6E8A-4147-A177-3AD203B41FA5}">
                      <a16:colId xmlns:a16="http://schemas.microsoft.com/office/drawing/2014/main" val="3048191055"/>
                    </a:ext>
                  </a:extLst>
                </a:gridCol>
                <a:gridCol w="2233961">
                  <a:extLst>
                    <a:ext uri="{9D8B030D-6E8A-4147-A177-3AD203B41FA5}">
                      <a16:colId xmlns:a16="http://schemas.microsoft.com/office/drawing/2014/main" val="3756138270"/>
                    </a:ext>
                  </a:extLst>
                </a:gridCol>
                <a:gridCol w="1597449">
                  <a:extLst>
                    <a:ext uri="{9D8B030D-6E8A-4147-A177-3AD203B41FA5}">
                      <a16:colId xmlns:a16="http://schemas.microsoft.com/office/drawing/2014/main" val="360581412"/>
                    </a:ext>
                  </a:extLst>
                </a:gridCol>
                <a:gridCol w="2289471">
                  <a:extLst>
                    <a:ext uri="{9D8B030D-6E8A-4147-A177-3AD203B41FA5}">
                      <a16:colId xmlns:a16="http://schemas.microsoft.com/office/drawing/2014/main" val="4111096778"/>
                    </a:ext>
                  </a:extLst>
                </a:gridCol>
              </a:tblGrid>
              <a:tr h="99887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Наименование сырья, материалов и комплектующих изделий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Расход сырья</a:t>
                      </a:r>
                    </a:p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на единицу продукции, ед.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Годовая потребность, ед.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Цена за единицу, руб.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Involve Medium"/>
                        </a:rPr>
                        <a:t>Годовые затраты на сырье, тыс. руб.</a:t>
                      </a:r>
                      <a:endParaRPr lang="ru-RU" sz="16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400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 = 2 х Итого ст.2 табл. 3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5 = 3 х 4 / 1000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543082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Корпус робота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15000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495,0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572802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Вычислительный модуль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50000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1650,0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479084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Камеры машинного зрения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40000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1320,0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192305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Датчики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198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8000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1584,0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08393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Электродвигатели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132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20000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2640,0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429690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Колёса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198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8000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1584,0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54677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Аккумуляторные батареи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66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10000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660,0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385763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Печатные платы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20000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660,0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52645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Кабельная продукция, разъёмы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 комплект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 комплекта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10000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330,0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529994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Крепёжные изделия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 комплект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 комплекта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1500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49,5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134748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 dirty="0">
                          <a:effectLst/>
                          <a:latin typeface="Involve Medium"/>
                        </a:rPr>
                        <a:t>Блоки питания</a:t>
                      </a:r>
                      <a:endParaRPr lang="ru-RU" sz="1800" b="1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66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396,0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266735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ru-RU" sz="1800" b="1">
                          <a:effectLst/>
                          <a:latin typeface="Involve Medium"/>
                        </a:rPr>
                        <a:t>Система охлаждения</a:t>
                      </a:r>
                      <a:endParaRPr lang="ru-RU" sz="1800" b="1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 комплект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33 комплекта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12000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396,0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4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651449"/>
                  </a:ext>
                </a:extLst>
              </a:tr>
              <a:tr h="35874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 b="1" dirty="0">
                          <a:effectLst/>
                          <a:latin typeface="Involve Medium"/>
                        </a:rPr>
                        <a:t>Всего</a:t>
                      </a:r>
                      <a:endParaRPr lang="ru-RU" sz="1800" b="1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х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 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х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11764,5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tint val="20000"/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7487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E89877-BFA9-868B-A8EF-3C6B8530004A}"/>
              </a:ext>
            </a:extLst>
          </p:cNvPr>
          <p:cNvSpPr txBox="1"/>
          <p:nvPr/>
        </p:nvSpPr>
        <p:spPr>
          <a:xfrm>
            <a:off x="2711258" y="46821"/>
            <a:ext cx="6766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lt1"/>
                </a:solidFill>
                <a:effectLst>
                  <a:outerShdw blurRad="63500" dist="63500" dir="5400000" algn="ctr" rotWithShape="0">
                    <a:srgbClr val="2B1A52"/>
                  </a:outerShdw>
                </a:effectLst>
                <a:latin typeface="Cygre ExtraBold"/>
                <a:ea typeface="Tahoma"/>
              </a:rPr>
              <a:t>Переменные материальные затраты</a:t>
            </a:r>
          </a:p>
        </p:txBody>
      </p:sp>
    </p:spTree>
    <p:extLst>
      <p:ext uri="{BB962C8B-B14F-4D97-AF65-F5344CB8AC3E}">
        <p14:creationId xmlns:p14="http://schemas.microsoft.com/office/powerpoint/2010/main" val="325357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E025C56-F7F1-09F4-C837-0089B0CFE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4721"/>
              </p:ext>
            </p:extLst>
          </p:nvPr>
        </p:nvGraphicFramePr>
        <p:xfrm>
          <a:off x="197963" y="678729"/>
          <a:ext cx="11783504" cy="5995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7871">
                  <a:extLst>
                    <a:ext uri="{9D8B030D-6E8A-4147-A177-3AD203B41FA5}">
                      <a16:colId xmlns:a16="http://schemas.microsoft.com/office/drawing/2014/main" val="3916190317"/>
                    </a:ext>
                  </a:extLst>
                </a:gridCol>
                <a:gridCol w="1043253">
                  <a:extLst>
                    <a:ext uri="{9D8B030D-6E8A-4147-A177-3AD203B41FA5}">
                      <a16:colId xmlns:a16="http://schemas.microsoft.com/office/drawing/2014/main" val="2869923134"/>
                    </a:ext>
                  </a:extLst>
                </a:gridCol>
                <a:gridCol w="1397543">
                  <a:extLst>
                    <a:ext uri="{9D8B030D-6E8A-4147-A177-3AD203B41FA5}">
                      <a16:colId xmlns:a16="http://schemas.microsoft.com/office/drawing/2014/main" val="661610853"/>
                    </a:ext>
                  </a:extLst>
                </a:gridCol>
                <a:gridCol w="2086509">
                  <a:extLst>
                    <a:ext uri="{9D8B030D-6E8A-4147-A177-3AD203B41FA5}">
                      <a16:colId xmlns:a16="http://schemas.microsoft.com/office/drawing/2014/main" val="1534502823"/>
                    </a:ext>
                  </a:extLst>
                </a:gridCol>
                <a:gridCol w="1737125">
                  <a:extLst>
                    <a:ext uri="{9D8B030D-6E8A-4147-A177-3AD203B41FA5}">
                      <a16:colId xmlns:a16="http://schemas.microsoft.com/office/drawing/2014/main" val="2181705084"/>
                    </a:ext>
                  </a:extLst>
                </a:gridCol>
                <a:gridCol w="1911203">
                  <a:extLst>
                    <a:ext uri="{9D8B030D-6E8A-4147-A177-3AD203B41FA5}">
                      <a16:colId xmlns:a16="http://schemas.microsoft.com/office/drawing/2014/main" val="3136210747"/>
                    </a:ext>
                  </a:extLst>
                </a:gridCol>
              </a:tblGrid>
              <a:tr h="20630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Категории работников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Кол-во, чел.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Заработная плата в месяц,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руб.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Годовой фонд оплаты труда, тыс. руб.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Отчисления во </a:t>
                      </a:r>
                      <a:r>
                        <a:rPr lang="ru-RU" sz="2000" dirty="0" err="1">
                          <a:effectLst/>
                          <a:latin typeface="Involve Medium"/>
                        </a:rPr>
                        <a:t>внебюд-жетные</a:t>
                      </a:r>
                      <a:r>
                        <a:rPr lang="ru-RU" sz="2000" dirty="0">
                          <a:effectLst/>
                          <a:latin typeface="Involve Medium"/>
                        </a:rPr>
                        <a:t> фонды,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тыс. руб.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Годовой фонд оплаты труда с отчислениями,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Involve Medium"/>
                        </a:rPr>
                        <a:t>тыс. руб.</a:t>
                      </a:r>
                      <a:endParaRPr lang="ru-RU" sz="20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01801"/>
                  </a:ext>
                </a:extLst>
              </a:tr>
              <a:tr h="62517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Involve Medium"/>
                        </a:rPr>
                        <a:t>1</a:t>
                      </a:r>
                      <a:endParaRPr lang="ru-RU" sz="14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 = 2 х 3 х 12 /1000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5 = 4 х 0,302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 = 4 + 5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77020"/>
                  </a:ext>
                </a:extLst>
              </a:tr>
              <a:tr h="343847">
                <a:tc gridSpan="6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</a:rPr>
                        <a:t>Административно-управленческий персонал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0735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>
                          <a:effectLst/>
                          <a:latin typeface="Involve Medium"/>
                        </a:rPr>
                        <a:t>Руководители</a:t>
                      </a:r>
                      <a:endParaRPr lang="ru-RU" sz="180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70000</a:t>
                      </a: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1680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507,36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2187,36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883543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>
                          <a:effectLst/>
                          <a:latin typeface="Involve Medium"/>
                        </a:rPr>
                        <a:t>Специалисты</a:t>
                      </a:r>
                      <a:endParaRPr lang="ru-RU" sz="180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50000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1200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362,4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1562,4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297986"/>
                  </a:ext>
                </a:extLst>
              </a:tr>
              <a:tr h="370417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Производственный персонал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59908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>
                          <a:effectLst/>
                          <a:latin typeface="Involve Medium"/>
                        </a:rPr>
                        <a:t>Основные рабочие</a:t>
                      </a:r>
                      <a:endParaRPr lang="ru-RU" sz="180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50000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1200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362,4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1562,4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081452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>
                          <a:effectLst/>
                          <a:latin typeface="Involve Medium"/>
                        </a:rPr>
                        <a:t>Вспомогательные рабочие</a:t>
                      </a:r>
                      <a:endParaRPr lang="ru-RU" sz="180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30000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360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108,72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</a:rPr>
                        <a:t>468,72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25743"/>
                  </a:ext>
                </a:extLst>
              </a:tr>
              <a:tr h="370417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8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Непроизводственный персонал</a:t>
                      </a:r>
                      <a:endParaRPr lang="ru-RU" sz="18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88258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 dirty="0">
                          <a:effectLst/>
                          <a:latin typeface="Involve Medium"/>
                        </a:rPr>
                        <a:t>Обслуживающий персонал</a:t>
                      </a:r>
                      <a:endParaRPr lang="ru-RU" sz="18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20000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240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72,48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312,48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0617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800" dirty="0">
                          <a:effectLst/>
                          <a:latin typeface="Involve Medium"/>
                        </a:rPr>
                        <a:t>Всего </a:t>
                      </a:r>
                      <a:endParaRPr lang="ru-RU" sz="18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10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х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4680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1413,36</a:t>
                      </a:r>
                      <a:endParaRPr lang="ru-RU" sz="140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effectLst/>
                          <a:latin typeface="Involve Medium"/>
                        </a:rPr>
                        <a:t>6093,36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1484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E9ACF1D-20F0-4E77-6781-9686BBF303AB}"/>
              </a:ext>
            </a:extLst>
          </p:cNvPr>
          <p:cNvSpPr txBox="1"/>
          <p:nvPr/>
        </p:nvSpPr>
        <p:spPr>
          <a:xfrm>
            <a:off x="2621329" y="46819"/>
            <a:ext cx="6936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lt1"/>
                </a:solidFill>
                <a:effectLst>
                  <a:outerShdw blurRad="63500" dist="63500" dir="5400000" algn="ctr" rotWithShape="0">
                    <a:srgbClr val="2B1A52"/>
                  </a:outerShdw>
                </a:effectLst>
                <a:latin typeface="Cygre ExtraBold"/>
                <a:ea typeface="Tahoma"/>
              </a:rPr>
              <a:t>Расходы на персонал с отчислениями</a:t>
            </a:r>
          </a:p>
        </p:txBody>
      </p:sp>
    </p:spTree>
    <p:extLst>
      <p:ext uri="{BB962C8B-B14F-4D97-AF65-F5344CB8AC3E}">
        <p14:creationId xmlns:p14="http://schemas.microsoft.com/office/powerpoint/2010/main" val="34544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59E761BE-2FDA-DEC8-9E9C-52C7CC55C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965311"/>
              </p:ext>
            </p:extLst>
          </p:nvPr>
        </p:nvGraphicFramePr>
        <p:xfrm>
          <a:off x="207390" y="624105"/>
          <a:ext cx="11764651" cy="60217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6685">
                  <a:extLst>
                    <a:ext uri="{9D8B030D-6E8A-4147-A177-3AD203B41FA5}">
                      <a16:colId xmlns:a16="http://schemas.microsoft.com/office/drawing/2014/main" val="653111730"/>
                    </a:ext>
                  </a:extLst>
                </a:gridCol>
                <a:gridCol w="5903145">
                  <a:extLst>
                    <a:ext uri="{9D8B030D-6E8A-4147-A177-3AD203B41FA5}">
                      <a16:colId xmlns:a16="http://schemas.microsoft.com/office/drawing/2014/main" val="2869942552"/>
                    </a:ext>
                  </a:extLst>
                </a:gridCol>
                <a:gridCol w="2603753">
                  <a:extLst>
                    <a:ext uri="{9D8B030D-6E8A-4147-A177-3AD203B41FA5}">
                      <a16:colId xmlns:a16="http://schemas.microsoft.com/office/drawing/2014/main" val="2715567570"/>
                    </a:ext>
                  </a:extLst>
                </a:gridCol>
                <a:gridCol w="2431068">
                  <a:extLst>
                    <a:ext uri="{9D8B030D-6E8A-4147-A177-3AD203B41FA5}">
                      <a16:colId xmlns:a16="http://schemas.microsoft.com/office/drawing/2014/main" val="2306008650"/>
                    </a:ext>
                  </a:extLst>
                </a:gridCol>
              </a:tblGrid>
              <a:tr h="1094871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Involve Medium"/>
                        </a:rPr>
                        <a:t>№ п/п</a:t>
                      </a:r>
                      <a:endParaRPr lang="ru-RU" sz="24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Involve Medium"/>
                        </a:rPr>
                        <a:t>Показатели </a:t>
                      </a:r>
                      <a:endParaRPr lang="ru-RU" sz="24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Involve Medium"/>
                        </a:rPr>
                        <a:t>Формула</a:t>
                      </a:r>
                      <a:endParaRPr lang="ru-RU" sz="24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>
                          <a:effectLst/>
                          <a:latin typeface="Involve Medium"/>
                        </a:rPr>
                        <a:t>Значение </a:t>
                      </a:r>
                      <a:endParaRPr lang="ru-RU" sz="2400" dirty="0">
                        <a:effectLst/>
                        <a:latin typeface="Involve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549975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Инвестиции,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Таблица 3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19 800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232599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Выручка от реализации,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Таблица 4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79 000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04384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Производственные затраты,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Таблица 7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30 621,003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274717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Валовая прибыль,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2 – 3 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48 378,997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165476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Налог на прибыль, тыс. руб. (24%)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4 х 0,2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9 675,7994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90999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Чистая прибыль,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4 – 5 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38 703,1976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33422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Всего затрат, тыс. руб.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3 + 5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40 296,8024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83712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Уровень рентабельности, %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6 / 7 х 100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0,96%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895778"/>
                  </a:ext>
                </a:extLst>
              </a:tr>
              <a:tr h="547436"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</a:rPr>
                        <a:t>Срок окупаемости инвестиций, лет</a:t>
                      </a:r>
                      <a:endParaRPr lang="ru-RU" sz="16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1 / 6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0,51 года ≈ 6,14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  <a:effectLst/>
                        </a:rPr>
                        <a:t>мес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2770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516B0D1-A387-FAF7-7DEC-CEDB8AEE6E46}"/>
              </a:ext>
            </a:extLst>
          </p:cNvPr>
          <p:cNvSpPr txBox="1"/>
          <p:nvPr/>
        </p:nvSpPr>
        <p:spPr>
          <a:xfrm>
            <a:off x="2786470" y="39329"/>
            <a:ext cx="6606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lt1"/>
                </a:solidFill>
                <a:effectLst>
                  <a:outerShdw blurRad="63500" dist="63500" dir="5400000" algn="ctr" rotWithShape="0">
                    <a:srgbClr val="2B1A52"/>
                  </a:outerShdw>
                </a:effectLst>
                <a:latin typeface="Cygre ExtraBold"/>
                <a:ea typeface="Tahoma"/>
              </a:rPr>
              <a:t>Показатели эффективности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6096537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552</TotalTime>
  <Words>1744</Words>
  <Application>Microsoft Office PowerPoint</Application>
  <PresentationFormat>Широкоэкранный</PresentationFormat>
  <Paragraphs>426</Paragraphs>
  <Slides>13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Century Gothic</vt:lpstr>
      <vt:lpstr>Cygre ExtraBold</vt:lpstr>
      <vt:lpstr>Involve Medium</vt:lpstr>
      <vt:lpstr>Involve SemiBold</vt:lpstr>
      <vt:lpstr>OpenSymbol</vt:lpstr>
      <vt:lpstr>Symbol</vt:lpstr>
      <vt:lpstr>Times New Roman</vt:lpstr>
      <vt:lpstr>Wingdings</vt:lpstr>
      <vt:lpstr>Тема Office</vt:lpstr>
      <vt:lpstr>Студенческий стартап </vt:lpstr>
      <vt:lpstr>О продукте</vt:lpstr>
      <vt:lpstr>Технологичность стартап-проекта</vt:lpstr>
      <vt:lpstr>Аналоги и конкуренты</vt:lpstr>
      <vt:lpstr>Рынок и потребитель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Консультация №1</dc:title>
  <dc:subject/>
  <dc:creator>Артём Радченко</dc:creator>
  <dc:description/>
  <cp:lastModifiedBy>компьютер</cp:lastModifiedBy>
  <cp:revision>54</cp:revision>
  <dcterms:created xsi:type="dcterms:W3CDTF">2026-02-12T15:37:00Z</dcterms:created>
  <dcterms:modified xsi:type="dcterms:W3CDTF">2026-05-24T20:29:35Z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