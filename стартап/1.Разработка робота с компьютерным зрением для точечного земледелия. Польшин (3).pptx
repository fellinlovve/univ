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C0FC"/>
    <a:srgbClr val="AC9CFA"/>
    <a:srgbClr val="9786FA"/>
    <a:srgbClr val="42287C"/>
    <a:srgbClr val="2B1A52"/>
    <a:srgbClr val="9F86FA"/>
    <a:srgbClr val="7D8FEB"/>
    <a:srgbClr val="603AB6"/>
    <a:srgbClr val="604AD1"/>
    <a:srgbClr val="7E8B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76E39-F482-4629-80FF-AE18280773C7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4794B-FE4B-4595-A0EC-A8018C1C29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072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035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792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5F813E-BC9F-4D84-B47F-8BF9EF788C5D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BB86B5-C7D9-460D-BBEC-B819E17DE73D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ъект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B2B4A7-A51A-49A3-8A1D-BF5E1336FE7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Рисунок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3AD02F-5021-4C04-ABF8-ACBABF36B50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C2F2FA-CFE4-4D51-922D-7BA8653BCA3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90763B-8138-49DE-A239-927771690E8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80528A0-8AF9-44BA-B00B-A4950F5D9EDB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DA4029-042A-48A5-BE6C-55D9A0EE248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AC63FD-F3CC-4B75-A0B7-8F3854B493E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раздел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8C3669-6187-41D7-8709-FCAF2AA347B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90C4F42-F221-49EF-89E9-87AE8DDD437C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67" name="PlaceHolder 8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EAC849-112E-49D0-BFCD-47D5E50B5D4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14400" y="1731960"/>
            <a:ext cx="9143280" cy="99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 dirty="0">
                <a:solidFill>
                  <a:srgbClr val="EDEEE8"/>
                </a:solidFill>
                <a:effectLst/>
                <a:uFillTx/>
                <a:latin typeface="Cygre ExtraBold"/>
              </a:rPr>
              <a:t>Студенческий стартап </a:t>
            </a:r>
            <a:endParaRPr lang="ru-RU" sz="4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Скругленный прямоугольник 4"/>
          <p:cNvSpPr/>
          <p:nvPr/>
        </p:nvSpPr>
        <p:spPr>
          <a:xfrm>
            <a:off x="7621560" y="2132280"/>
            <a:ext cx="3198960" cy="571680"/>
          </a:xfrm>
          <a:prstGeom prst="roundRect">
            <a:avLst>
              <a:gd name="adj" fmla="val 50000"/>
            </a:avLst>
          </a:prstGeom>
          <a:solidFill>
            <a:srgbClr val="EDE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7682400" y="2186640"/>
            <a:ext cx="3071880" cy="5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600" b="0" u="none" strike="noStrike">
                <a:solidFill>
                  <a:srgbClr val="394F9A"/>
                </a:solidFill>
                <a:effectLst/>
                <a:uFillTx/>
                <a:latin typeface="Cygre ExtraBold"/>
              </a:rPr>
              <a:t>VII </a:t>
            </a:r>
            <a:r>
              <a:rPr lang="ru-RU" sz="3600" b="0" u="none" strike="noStrike">
                <a:solidFill>
                  <a:srgbClr val="394F9A"/>
                </a:solidFill>
                <a:effectLst/>
                <a:uFillTx/>
                <a:latin typeface="Cygre ExtraBold"/>
              </a:rPr>
              <a:t>очередь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Picture 9"/>
          <p:cNvPicPr/>
          <p:nvPr/>
        </p:nvPicPr>
        <p:blipFill>
          <a:blip r:embed="rId2"/>
          <a:stretch/>
        </p:blipFill>
        <p:spPr>
          <a:xfrm>
            <a:off x="10383840" y="6858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Прямоугольник 10"/>
          <p:cNvSpPr/>
          <p:nvPr/>
        </p:nvSpPr>
        <p:spPr>
          <a:xfrm>
            <a:off x="914400" y="3315600"/>
            <a:ext cx="9609840" cy="169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57200" indent="-370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eriod"/>
            </a:pPr>
            <a:r>
              <a:rPr lang="ru-RU" sz="2200" b="0" u="none" strike="noStrike" dirty="0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Номер заявки — СтС-618733.</a:t>
            </a:r>
            <a:endParaRPr lang="ru-RU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70080" defTabSz="914400">
              <a:lnSpc>
                <a:spcPct val="110000"/>
              </a:lnSpc>
              <a:buClr>
                <a:srgbClr val="FFFFFF"/>
              </a:buClr>
              <a:buFont typeface="Arial"/>
              <a:buAutoNum type="arabicPeriod"/>
            </a:pPr>
            <a:r>
              <a:rPr lang="ru-RU" sz="2200" b="0" u="none" strike="noStrike" dirty="0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Создание робота с компьютерным зрением для точечного земледелия.</a:t>
            </a:r>
            <a:endParaRPr lang="ru-RU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70080" defTabSz="914400">
              <a:lnSpc>
                <a:spcPct val="110000"/>
              </a:lnSpc>
              <a:buClr>
                <a:srgbClr val="FFFFFF"/>
              </a:buClr>
              <a:buFont typeface="Arial"/>
              <a:buAutoNum type="arabicPeriod"/>
            </a:pPr>
            <a:r>
              <a:rPr lang="ru-RU" sz="2200" b="0" u="none" strike="noStrike" dirty="0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Польшин Артем Денисович.</a:t>
            </a:r>
            <a:endParaRPr lang="ru-RU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Рисунок 1"/>
          <p:cNvPicPr/>
          <p:nvPr/>
        </p:nvPicPr>
        <p:blipFill>
          <a:blip r:embed="rId3"/>
          <a:stretch/>
        </p:blipFill>
        <p:spPr>
          <a:xfrm>
            <a:off x="424440" y="38952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4060" y="542700"/>
            <a:ext cx="9143280" cy="73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000" b="1" u="none" strike="noStrike" dirty="0">
                <a:solidFill>
                  <a:srgbClr val="EDEEE8"/>
                </a:solidFill>
                <a:effectLst/>
                <a:uFillTx/>
                <a:latin typeface="Involve Medium"/>
              </a:rPr>
              <a:t>О продукте</a:t>
            </a:r>
            <a:endParaRPr lang="ru-RU" sz="4000" b="1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  <p:sp>
        <p:nvSpPr>
          <p:cNvPr id="76" name="Скругленный прямоугольник 4"/>
          <p:cNvSpPr/>
          <p:nvPr/>
        </p:nvSpPr>
        <p:spPr>
          <a:xfrm>
            <a:off x="588600" y="1928160"/>
            <a:ext cx="5468760" cy="2142360"/>
          </a:xfrm>
          <a:prstGeom prst="roundRect">
            <a:avLst>
              <a:gd name="adj" fmla="val 11350"/>
            </a:avLst>
          </a:prstGeom>
          <a:solidFill>
            <a:srgbClr val="EDE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662760" y="2498910"/>
            <a:ext cx="5361480" cy="10614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600" b="0" u="none" strike="noStrike" dirty="0">
                <a:solidFill>
                  <a:srgbClr val="394F9A"/>
                </a:solidFill>
                <a:effectLst/>
                <a:uFillTx/>
                <a:latin typeface="Involve Medium"/>
              </a:rPr>
              <a:t>У предпринимателей из области сельского хозяйства высокие материальные и финансовые затраты на обработку почвы и растений, связанные с неэкономным распределением химикатов.</a:t>
            </a:r>
          </a:p>
        </p:txBody>
      </p:sp>
      <p:sp>
        <p:nvSpPr>
          <p:cNvPr id="78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Скругленный прямоугольник 4"/>
          <p:cNvSpPr/>
          <p:nvPr/>
        </p:nvSpPr>
        <p:spPr>
          <a:xfrm>
            <a:off x="770040" y="4745520"/>
            <a:ext cx="10574640" cy="1722960"/>
          </a:xfrm>
          <a:prstGeom prst="roundRect">
            <a:avLst>
              <a:gd name="adj" fmla="val 11350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Скругленный прямоугольник 13"/>
          <p:cNvSpPr/>
          <p:nvPr/>
        </p:nvSpPr>
        <p:spPr>
          <a:xfrm>
            <a:off x="302760" y="1612440"/>
            <a:ext cx="3083040" cy="617040"/>
          </a:xfrm>
          <a:prstGeom prst="roundRect">
            <a:avLst>
              <a:gd name="adj" fmla="val 11350"/>
            </a:avLst>
          </a:prstGeom>
          <a:solidFill>
            <a:srgbClr val="7D8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342540" y="1620483"/>
            <a:ext cx="28501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ПРОБЛЕМА</a:t>
            </a:r>
            <a:r>
              <a:rPr lang="ru-RU" sz="14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ПОТРЕБИТЕЛЯ</a:t>
            </a:r>
            <a:endParaRPr lang="ru-RU" sz="14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82" name="Скругленный прямоугольник 14"/>
          <p:cNvSpPr/>
          <p:nvPr/>
        </p:nvSpPr>
        <p:spPr>
          <a:xfrm>
            <a:off x="6270840" y="1928160"/>
            <a:ext cx="5298840" cy="2142360"/>
          </a:xfrm>
          <a:prstGeom prst="roundRect">
            <a:avLst>
              <a:gd name="adj" fmla="val 11350"/>
            </a:avLst>
          </a:prstGeom>
          <a:solidFill>
            <a:srgbClr val="EDE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Скругленный прямоугольник 15"/>
          <p:cNvSpPr/>
          <p:nvPr/>
        </p:nvSpPr>
        <p:spPr>
          <a:xfrm>
            <a:off x="8807400" y="1621800"/>
            <a:ext cx="3083040" cy="617040"/>
          </a:xfrm>
          <a:prstGeom prst="roundRect">
            <a:avLst>
              <a:gd name="adj" fmla="val 11350"/>
            </a:avLst>
          </a:prstGeom>
          <a:solidFill>
            <a:srgbClr val="AC9C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8832960" y="1741899"/>
            <a:ext cx="30319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НАШЕ</a:t>
            </a:r>
            <a:r>
              <a:rPr lang="ru-RU" sz="16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РЕШЕНИЕ</a:t>
            </a:r>
            <a:endParaRPr lang="ru-RU" sz="16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6407280" y="2303496"/>
            <a:ext cx="529884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 dirty="0">
                <a:solidFill>
                  <a:srgbClr val="394F9A"/>
                </a:solidFill>
                <a:effectLst/>
                <a:uFillTx/>
                <a:latin typeface="Involve Medium"/>
              </a:rPr>
              <a:t>Наш робот поможет фермерам уменьшить затраты на производство продукции, а также ускорить рост и повысить качество культур посредством более точной обработки растений и своевременного выявления симптомов заболеваний при помощи систем искусственного интеллекта и машинного зрения.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918360" y="5971680"/>
            <a:ext cx="71535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На данный момент проектное решение находится на стадии идеи.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918360" y="5215170"/>
            <a:ext cx="101016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Продукт ориентирован на средние и малые тепличные хозяйства Российской Федерации, преимущественно — Южного и Северо-Кавказского федерального округа.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Скругленный прямоугольник 16"/>
          <p:cNvSpPr/>
          <p:nvPr/>
        </p:nvSpPr>
        <p:spPr>
          <a:xfrm>
            <a:off x="3787560" y="4428540"/>
            <a:ext cx="4662720" cy="617040"/>
          </a:xfrm>
          <a:prstGeom prst="roundRect">
            <a:avLst>
              <a:gd name="adj" fmla="val 11350"/>
            </a:avLst>
          </a:prstGeom>
          <a:solidFill>
            <a:srgbClr val="978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Прямоугольник 12"/>
          <p:cNvSpPr/>
          <p:nvPr/>
        </p:nvSpPr>
        <p:spPr>
          <a:xfrm>
            <a:off x="4016597" y="4473359"/>
            <a:ext cx="4055323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6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ОБЛАСТЬ ПРИМЕНЕНИЯ ПРОДУКТА ПРОЕКТА</a:t>
            </a:r>
            <a:endParaRPr lang="ru-RU" sz="16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pic>
        <p:nvPicPr>
          <p:cNvPr id="90" name="Picture 1"/>
          <p:cNvPicPr/>
          <p:nvPr/>
        </p:nvPicPr>
        <p:blipFill>
          <a:blip r:embed="rId2"/>
          <a:stretch/>
        </p:blipFill>
        <p:spPr>
          <a:xfrm>
            <a:off x="10375200" y="74268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Рисунок 3"/>
          <p:cNvPicPr/>
          <p:nvPr/>
        </p:nvPicPr>
        <p:blipFill>
          <a:blip r:embed="rId3"/>
          <a:stretch/>
        </p:blipFill>
        <p:spPr>
          <a:xfrm>
            <a:off x="424440" y="38952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451520" y="527040"/>
            <a:ext cx="9143280" cy="73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000" b="1" dirty="0">
                <a:solidFill>
                  <a:srgbClr val="FFFFFF"/>
                </a:solidFill>
                <a:latin typeface="Involve Medium"/>
                <a:ea typeface="+mn-ea"/>
                <a:cs typeface="+mn-cs"/>
              </a:rPr>
              <a:t>Технологичность стартап-проекта</a:t>
            </a:r>
          </a:p>
        </p:txBody>
      </p:sp>
      <p:sp>
        <p:nvSpPr>
          <p:cNvPr id="93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Прямоугольник 93"/>
          <p:cNvSpPr/>
          <p:nvPr/>
        </p:nvSpPr>
        <p:spPr>
          <a:xfrm>
            <a:off x="764280" y="1630101"/>
            <a:ext cx="5343480" cy="16524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ru-RU" b="1" dirty="0">
                <a:solidFill>
                  <a:srgbClr val="FFFFFF"/>
                </a:solidFill>
                <a:latin typeface="Involve Medium"/>
              </a:rPr>
              <a:t>1. Техническое решение проекта: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Модель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нейросети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–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YOLOv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8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DataSet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’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ы, суммарным объемом фотографий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~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14000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Платформа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Arduino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.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Разработанное Программное Обеспечение.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Камера высокого разрешения.</a:t>
            </a:r>
          </a:p>
        </p:txBody>
      </p:sp>
      <p:sp>
        <p:nvSpPr>
          <p:cNvPr id="95" name="Прямоугольник 94"/>
          <p:cNvSpPr/>
          <p:nvPr/>
        </p:nvSpPr>
        <p:spPr>
          <a:xfrm>
            <a:off x="764280" y="3502321"/>
            <a:ext cx="5319360" cy="20298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ru-RU" b="1" dirty="0">
                <a:solidFill>
                  <a:srgbClr val="FFFFFF"/>
                </a:solidFill>
                <a:latin typeface="Involve Medium"/>
              </a:rPr>
              <a:t>2. Преимущества выбранного технического решения: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Преимущество технологии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YOLOv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8</a:t>
            </a:r>
            <a:endParaRPr lang="en-US" sz="1500" dirty="0">
              <a:solidFill>
                <a:srgbClr val="FFFFFF"/>
              </a:solidFill>
              <a:latin typeface="Involve Medium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Средняя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точность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определения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- ~97%.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 Высокая скорость, обработка объектов в реальном времени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Преимущество технологии </a:t>
            </a:r>
            <a:r>
              <a:rPr lang="ru-RU" sz="1500" dirty="0" err="1">
                <a:solidFill>
                  <a:srgbClr val="FFFFFF"/>
                </a:solidFill>
                <a:latin typeface="Involve Medium"/>
              </a:rPr>
              <a:t>Arduino</a:t>
            </a:r>
            <a:endParaRPr lang="en-US" sz="1500" dirty="0">
              <a:solidFill>
                <a:srgbClr val="FFFFFF"/>
              </a:solidFill>
              <a:latin typeface="Involve Medium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Высокое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соотношение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цены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и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качества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простота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в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освоении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дешевизна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endParaRPr lang="ru-RU" sz="1500" dirty="0">
              <a:solidFill>
                <a:srgbClr val="FFFFFF"/>
              </a:solidFill>
              <a:latin typeface="Involve Medium"/>
            </a:endParaRPr>
          </a:p>
        </p:txBody>
      </p:sp>
      <p:sp>
        <p:nvSpPr>
          <p:cNvPr id="96" name="Прямоугольник 95"/>
          <p:cNvSpPr/>
          <p:nvPr/>
        </p:nvSpPr>
        <p:spPr>
          <a:xfrm>
            <a:off x="6014472" y="1630101"/>
            <a:ext cx="5311080" cy="17990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b="1" dirty="0">
                <a:solidFill>
                  <a:srgbClr val="FFFFFF"/>
                </a:solidFill>
                <a:latin typeface="Involve Medium"/>
              </a:rPr>
              <a:t>3. Имеющийся задел: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Уровень технологической готовности - TRL1.</a:t>
            </a:r>
            <a:endParaRPr lang="en-US" sz="1500" dirty="0">
              <a:solidFill>
                <a:srgbClr val="FFFFFF"/>
              </a:solidFill>
              <a:latin typeface="Involve Medium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Сформулирована гипотеза, определён командный состав, основные технологии, найдено 6 </a:t>
            </a:r>
            <a:r>
              <a:rPr lang="ru-RU" sz="1500" dirty="0" err="1">
                <a:solidFill>
                  <a:srgbClr val="FFFFFF"/>
                </a:solidFill>
                <a:latin typeface="Involve Medium"/>
              </a:rPr>
              <a:t>DataSet'ов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, суммарным объёмом в ~14000 фотографий, определена основная модель используемого искусственного интеллекта.</a:t>
            </a:r>
          </a:p>
          <a:p>
            <a:pPr>
              <a:lnSpc>
                <a:spcPct val="100000"/>
              </a:lnSpc>
            </a:pP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Прямоугольник 96"/>
          <p:cNvSpPr/>
          <p:nvPr/>
        </p:nvSpPr>
        <p:spPr>
          <a:xfrm>
            <a:off x="6014520" y="3502321"/>
            <a:ext cx="5561280" cy="3045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b="1" dirty="0">
                <a:solidFill>
                  <a:srgbClr val="FFFFFF"/>
                </a:solidFill>
                <a:latin typeface="Involve Medium"/>
              </a:rPr>
              <a:t>4. Соответствие направлению национального проекта технологического лидерства «Автономная (беспилотная) самоходная техника, прицепное и навесное оборудование к ней»: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Создание отечественного беспилотного робота с подключаемыми к нему модулями для персонализации под конкретные нужды и оптимизации финансовых и материальных расходов на обработку почвы и растений путём точечной обработки, а также повышения количества и качества выпускаемой тепличными комплексами продукции. Такой робот будет заменять зарубежные аналоги, что укрепит технологический суверенитет страны.</a:t>
            </a:r>
          </a:p>
        </p:txBody>
      </p:sp>
      <p:pic>
        <p:nvPicPr>
          <p:cNvPr id="98" name="Picture 2"/>
          <p:cNvPicPr/>
          <p:nvPr/>
        </p:nvPicPr>
        <p:blipFill>
          <a:blip r:embed="rId2"/>
          <a:stretch/>
        </p:blipFill>
        <p:spPr>
          <a:xfrm>
            <a:off x="1035216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Рисунок 2"/>
          <p:cNvPicPr/>
          <p:nvPr/>
        </p:nvPicPr>
        <p:blipFill>
          <a:blip r:embed="rId3"/>
          <a:stretch/>
        </p:blipFill>
        <p:spPr>
          <a:xfrm>
            <a:off x="39996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20619" y="488027"/>
            <a:ext cx="10514880" cy="95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b="1" dirty="0">
                <a:solidFill>
                  <a:srgbClr val="604AD1"/>
                </a:solidFill>
                <a:latin typeface="Involve Medium"/>
              </a:rPr>
              <a:t>Аналоги и </a:t>
            </a:r>
            <a:r>
              <a:rPr lang="ru-RU" b="1" u="none" strike="noStrike" dirty="0">
                <a:solidFill>
                  <a:srgbClr val="604AD1"/>
                </a:solidFill>
                <a:effectLst/>
                <a:uFillTx/>
                <a:latin typeface="Involve Medium"/>
              </a:rPr>
              <a:t>конкуренты</a:t>
            </a:r>
            <a:endParaRPr lang="ru-RU" b="0" u="none" strike="noStrike" dirty="0">
              <a:solidFill>
                <a:srgbClr val="604AD1"/>
              </a:solidFill>
              <a:effectLst/>
              <a:uFillTx/>
              <a:latin typeface="Involve Medium"/>
            </a:endParaRPr>
          </a:p>
        </p:txBody>
      </p:sp>
      <p:sp>
        <p:nvSpPr>
          <p:cNvPr id="10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634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Прямоугольник: скругленные углы 5"/>
          <p:cNvSpPr/>
          <p:nvPr/>
        </p:nvSpPr>
        <p:spPr>
          <a:xfrm>
            <a:off x="508679" y="1919366"/>
            <a:ext cx="3436560" cy="4532899"/>
          </a:xfrm>
          <a:prstGeom prst="roundRect">
            <a:avLst>
              <a:gd name="adj" fmla="val 10064"/>
            </a:avLst>
          </a:prstGeom>
          <a:solidFill>
            <a:srgbClr val="4D4C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Прямоугольник: скругленные углы 6"/>
          <p:cNvSpPr/>
          <p:nvPr/>
        </p:nvSpPr>
        <p:spPr>
          <a:xfrm>
            <a:off x="4377720" y="1917258"/>
            <a:ext cx="3436560" cy="4511545"/>
          </a:xfrm>
          <a:prstGeom prst="roundRect">
            <a:avLst>
              <a:gd name="adj" fmla="val 10064"/>
            </a:avLst>
          </a:prstGeom>
          <a:solidFill>
            <a:srgbClr val="6C48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Прямоугольник: скругленные углы 7"/>
          <p:cNvSpPr/>
          <p:nvPr/>
        </p:nvSpPr>
        <p:spPr>
          <a:xfrm>
            <a:off x="8246422" y="1917258"/>
            <a:ext cx="3436560" cy="4511545"/>
          </a:xfrm>
          <a:prstGeom prst="roundRect">
            <a:avLst>
              <a:gd name="adj" fmla="val 10064"/>
            </a:avLst>
          </a:prstGeom>
          <a:solidFill>
            <a:srgbClr val="884D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Подзаголовок 2"/>
          <p:cNvSpPr/>
          <p:nvPr/>
        </p:nvSpPr>
        <p:spPr>
          <a:xfrm>
            <a:off x="508679" y="2121549"/>
            <a:ext cx="3436560" cy="3445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Существующие аналоги</a:t>
            </a:r>
            <a:endParaRPr lang="ru-RU" sz="200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06" name="Подзаголовок 2"/>
          <p:cNvSpPr/>
          <p:nvPr/>
        </p:nvSpPr>
        <p:spPr>
          <a:xfrm>
            <a:off x="8395642" y="2120440"/>
            <a:ext cx="3329635" cy="3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dirty="0">
                <a:solidFill>
                  <a:schemeClr val="bg1"/>
                </a:solidFill>
                <a:latin typeface="Involve Medium"/>
              </a:rPr>
              <a:t>Востребованность продукта</a:t>
            </a:r>
          </a:p>
        </p:txBody>
      </p:sp>
      <p:sp>
        <p:nvSpPr>
          <p:cNvPr id="107" name="Подзаголовок 2"/>
          <p:cNvSpPr/>
          <p:nvPr/>
        </p:nvSpPr>
        <p:spPr>
          <a:xfrm>
            <a:off x="4535719" y="2093896"/>
            <a:ext cx="3138120" cy="70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dirty="0">
                <a:solidFill>
                  <a:schemeClr val="bg1"/>
                </a:solidFill>
                <a:latin typeface="Involve Medium"/>
              </a:rPr>
              <a:t>Конкурентные преимущества продукта</a:t>
            </a:r>
          </a:p>
        </p:txBody>
      </p:sp>
      <p:sp>
        <p:nvSpPr>
          <p:cNvPr id="108" name="Прямоугольник 107"/>
          <p:cNvSpPr/>
          <p:nvPr/>
        </p:nvSpPr>
        <p:spPr>
          <a:xfrm>
            <a:off x="562479" y="2592118"/>
            <a:ext cx="3328959" cy="35995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179388" indent="-179388">
              <a:lnSpc>
                <a:spcPct val="100000"/>
              </a:lnSpc>
              <a:buAutoNum type="arabicPeriod"/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Cognitive 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pilot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- Россия; Разработка полевых тракторов, требующих оператора; Сдача в аренду.</a:t>
            </a:r>
          </a:p>
          <a:p>
            <a:pPr>
              <a:lnSpc>
                <a:spcPct val="100000"/>
              </a:lnSpc>
            </a:pPr>
            <a:endParaRPr lang="ru-RU" sz="1200" b="0" u="none" strike="noStrike" dirty="0">
              <a:solidFill>
                <a:schemeClr val="bg1"/>
              </a:solidFill>
              <a:effectLst/>
              <a:uFillTx/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2. ООО «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ЭРлаб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» 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- Россия; Разработка тепличных и полевых роботов; Сдача в аренду. Blue </a:t>
            </a:r>
            <a:r>
              <a:rPr lang="ru-RU" sz="1200" b="0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Rier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- США; Информация в открытых источниках отсутствует в связи с введёнными санкциями; </a:t>
            </a:r>
          </a:p>
          <a:p>
            <a:pPr>
              <a:lnSpc>
                <a:spcPct val="100000"/>
              </a:lnSpc>
            </a:pPr>
            <a:endParaRPr lang="ru-RU" sz="1200" b="0" u="none" strike="noStrike" dirty="0">
              <a:solidFill>
                <a:schemeClr val="bg1"/>
              </a:solidFill>
              <a:effectLst/>
              <a:uFillTx/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3. 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Naïo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Technologies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- Франция; Разработка как тепличных, так и полевых роботов; Сдача в аренду и продажа; Не ведёт торговых отношений с Россией из-за политики компании, а также из-за введённых санкций; </a:t>
            </a:r>
          </a:p>
          <a:p>
            <a:pPr>
              <a:lnSpc>
                <a:spcPct val="100000"/>
              </a:lnSpc>
            </a:pPr>
            <a:endParaRPr lang="ru-RU" sz="1200" b="0" u="none" strike="noStrike" dirty="0">
              <a:solidFill>
                <a:schemeClr val="bg1"/>
              </a:solidFill>
              <a:effectLst/>
              <a:uFillTx/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4. 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MetaMotion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- Израиль; Разработка тепличных и полевых роботов; Продажа заблокирована в связи с санкциями.</a:t>
            </a:r>
          </a:p>
        </p:txBody>
      </p:sp>
      <p:sp>
        <p:nvSpPr>
          <p:cNvPr id="109" name="Прямоугольник 108"/>
          <p:cNvSpPr/>
          <p:nvPr/>
        </p:nvSpPr>
        <p:spPr>
          <a:xfrm>
            <a:off x="4478776" y="2969706"/>
            <a:ext cx="3325320" cy="3045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28600" indent="-228600">
              <a:lnSpc>
                <a:spcPct val="100000"/>
              </a:lnSpc>
              <a:buFont typeface="+mj-lt"/>
              <a:buAutoNum type="arabicPeriod"/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Модульность конструкции позволит персонализировать роботов под конкретные нужды, увеличивая их эффективность;</a:t>
            </a:r>
          </a:p>
          <a:p>
            <a:pPr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 </a:t>
            </a:r>
          </a:p>
          <a:p>
            <a:pPr marL="179388" indent="-179388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2. Экономия ресурсов поможет производителям повысить прибыльность посредством снижения себестоимости продукции, а также снизить цену на свою продукцию, что сможет привлечь большее количество клиентов; </a:t>
            </a:r>
          </a:p>
          <a:p>
            <a:pPr>
              <a:lnSpc>
                <a:spcPct val="100000"/>
              </a:lnSpc>
            </a:pPr>
            <a:endParaRPr lang="ru-RU" sz="1200" dirty="0">
              <a:solidFill>
                <a:schemeClr val="bg1"/>
              </a:solidFill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3. Возможность покупки продукта в долгосрочной перспективе снизит финансовые затраты на использование роботов.</a:t>
            </a:r>
          </a:p>
        </p:txBody>
      </p:sp>
      <p:sp>
        <p:nvSpPr>
          <p:cNvPr id="110" name="Прямоугольник 109"/>
          <p:cNvSpPr/>
          <p:nvPr/>
        </p:nvSpPr>
        <p:spPr>
          <a:xfrm>
            <a:off x="8395642" y="3153049"/>
            <a:ext cx="3138120" cy="2122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28600" indent="-228600" defTabSz="914400">
              <a:lnSpc>
                <a:spcPct val="100000"/>
              </a:lnSpc>
              <a:buAutoNum type="arabicPeriod"/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Увеличение количество населения, а также тренды автоматизации процессов неминуемо ведут к развитию сельского хозяйства.</a:t>
            </a:r>
          </a:p>
          <a:p>
            <a:pPr defTabSz="914400">
              <a:lnSpc>
                <a:spcPct val="100000"/>
              </a:lnSpc>
            </a:pPr>
            <a:endParaRPr lang="ru-RU" sz="1200" dirty="0">
              <a:solidFill>
                <a:schemeClr val="bg1"/>
              </a:solidFill>
              <a:latin typeface="Involve Medium"/>
            </a:endParaRPr>
          </a:p>
          <a:p>
            <a:pPr marL="179388" indent="-179388" defTabSz="914400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2. Кадровый голод: 11% работников младше 40 лет.</a:t>
            </a:r>
          </a:p>
          <a:p>
            <a:pPr marL="179388" indent="-179388" defTabSz="914400">
              <a:lnSpc>
                <a:spcPct val="100000"/>
              </a:lnSpc>
            </a:pPr>
            <a:endParaRPr lang="ru-RU" sz="1200" dirty="0">
              <a:solidFill>
                <a:schemeClr val="bg1"/>
              </a:solidFill>
              <a:latin typeface="Involve Medium"/>
            </a:endParaRPr>
          </a:p>
          <a:p>
            <a:pPr marL="179388" indent="-179388" defTabSz="914400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3. Увеличение количества выпускаемой продукции невозможно без наращивания производственных мощностей.</a:t>
            </a:r>
          </a:p>
        </p:txBody>
      </p:sp>
      <p:pic>
        <p:nvPicPr>
          <p:cNvPr id="111" name="Picture 3"/>
          <p:cNvPicPr/>
          <p:nvPr/>
        </p:nvPicPr>
        <p:blipFill>
          <a:blip r:embed="rId3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Рисунок 4"/>
          <p:cNvPicPr/>
          <p:nvPr/>
        </p:nvPicPr>
        <p:blipFill>
          <a:blip r:embed="rId4"/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490B51-01BB-67E7-178A-789162BBD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639" y="1569853"/>
            <a:ext cx="11120841" cy="457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100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Таблица 133"/>
          <p:cNvGraphicFramePr/>
          <p:nvPr>
            <p:extLst>
              <p:ext uri="{D42A27DB-BD31-4B8C-83A1-F6EECF244321}">
                <p14:modId xmlns:p14="http://schemas.microsoft.com/office/powerpoint/2010/main" val="3774962650"/>
              </p:ext>
            </p:extLst>
          </p:nvPr>
        </p:nvGraphicFramePr>
        <p:xfrm>
          <a:off x="222326" y="2013938"/>
          <a:ext cx="8046602" cy="2233263"/>
        </p:xfrm>
        <a:graphic>
          <a:graphicData uri="http://schemas.openxmlformats.org/drawingml/2006/table">
            <a:tbl>
              <a:tblPr/>
              <a:tblGrid>
                <a:gridCol w="1870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8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175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2028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3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4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</a:rPr>
                        <a:t>Конверсия поль</a:t>
                      </a: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зо</a:t>
                      </a:r>
                      <a:r>
                        <a:rPr lang="ru-RU" sz="16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</a:rPr>
                        <a:t>вателей</a:t>
                      </a:r>
                      <a:endParaRPr lang="ru-RU" sz="16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Involve Medium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25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40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Средний чек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4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8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12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28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Количество продаж в месяц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8%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10%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17,5%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5" name="Скругленный прямоугольник 7"/>
          <p:cNvSpPr/>
          <p:nvPr/>
        </p:nvSpPr>
        <p:spPr>
          <a:xfrm>
            <a:off x="-82260" y="754200"/>
            <a:ext cx="5591880" cy="563040"/>
          </a:xfrm>
          <a:prstGeom prst="roundRect">
            <a:avLst>
              <a:gd name="adj" fmla="val 16667"/>
            </a:avLst>
          </a:prstGeom>
          <a:solidFill>
            <a:srgbClr val="2B1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760" defTabSz="914400">
              <a:lnSpc>
                <a:spcPct val="100000"/>
              </a:lnSpc>
            </a:pPr>
            <a:r>
              <a:rPr lang="ru-RU" sz="2000" b="1" u="none" strike="noStrike" dirty="0">
                <a:solidFill>
                  <a:schemeClr val="lt1"/>
                </a:solidFill>
                <a:effectLst/>
                <a:uFillTx/>
                <a:latin typeface="Century Gothic"/>
              </a:rPr>
              <a:t>ФИНАНСОВАЯ МОДЕЛЬ И РЫНОК</a:t>
            </a:r>
            <a:endParaRPr lang="ru-RU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Текст 2"/>
          <p:cNvSpPr/>
          <p:nvPr/>
        </p:nvSpPr>
        <p:spPr>
          <a:xfrm>
            <a:off x="222326" y="4448768"/>
            <a:ext cx="7781760" cy="2016686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FFF"/>
                </a:solidFill>
                <a:latin typeface="Involve Medium"/>
              </a:rPr>
              <a:t>В первые месяцы планируется привлекать по одному пользователю, в последующие месяцы это число должно увеличиваться.</a:t>
            </a: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rgbClr val="FFFFFF"/>
              </a:solidFill>
              <a:latin typeface="Involve Medium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FFF"/>
                </a:solidFill>
                <a:latin typeface="Involve Medium"/>
              </a:rPr>
              <a:t>Примерная стоимость робота будет составлять 4млн. руб., следовательно, средний чек составит 12млн. руб.</a:t>
            </a: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rgbClr val="FFFFFF"/>
              </a:solidFill>
              <a:latin typeface="Involve Medium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FFF"/>
                </a:solidFill>
                <a:latin typeface="Involve Medium"/>
              </a:rPr>
              <a:t>Среднее кол-во продаж в квартал - 3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316F71D4-83AF-3A9C-3C29-8DDD793E0F39}"/>
              </a:ext>
            </a:extLst>
          </p:cNvPr>
          <p:cNvGrpSpPr/>
          <p:nvPr/>
        </p:nvGrpSpPr>
        <p:grpSpPr>
          <a:xfrm>
            <a:off x="8557502" y="1522563"/>
            <a:ext cx="3318600" cy="3260880"/>
            <a:chOff x="8693580" y="1529640"/>
            <a:chExt cx="3318600" cy="3260880"/>
          </a:xfrm>
        </p:grpSpPr>
        <p:sp>
          <p:nvSpPr>
            <p:cNvPr id="127" name="Овал 5"/>
            <p:cNvSpPr/>
            <p:nvPr/>
          </p:nvSpPr>
          <p:spPr>
            <a:xfrm>
              <a:off x="8693580" y="1529640"/>
              <a:ext cx="3244653" cy="3260880"/>
            </a:xfrm>
            <a:prstGeom prst="ellipse">
              <a:avLst/>
            </a:prstGeom>
            <a:solidFill>
              <a:srgbClr val="2B1A52"/>
            </a:solidFill>
            <a:ln>
              <a:gradFill flip="none" rotWithShape="1">
                <a:gsLst>
                  <a:gs pos="0">
                    <a:srgbClr val="CFC2EC"/>
                  </a:gs>
                  <a:gs pos="28000">
                    <a:srgbClr val="8E70D2"/>
                  </a:gs>
                  <a:gs pos="63000">
                    <a:srgbClr val="3C2472"/>
                  </a:gs>
                  <a:gs pos="100000">
                    <a:srgbClr val="2B1A52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8" name="Овал 8"/>
            <p:cNvSpPr/>
            <p:nvPr/>
          </p:nvSpPr>
          <p:spPr>
            <a:xfrm>
              <a:off x="9406546" y="1879257"/>
              <a:ext cx="2605634" cy="2516780"/>
            </a:xfrm>
            <a:prstGeom prst="ellipse">
              <a:avLst/>
            </a:prstGeom>
            <a:solidFill>
              <a:srgbClr val="42287C"/>
            </a:solidFill>
            <a:ln>
              <a:gradFill flip="none" rotWithShape="1">
                <a:gsLst>
                  <a:gs pos="0">
                    <a:srgbClr val="CFC2EC"/>
                  </a:gs>
                  <a:gs pos="40000">
                    <a:srgbClr val="42287C"/>
                  </a:gs>
                  <a:gs pos="100000">
                    <a:srgbClr val="2B1A52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9" name="Овал 10"/>
            <p:cNvSpPr/>
            <p:nvPr/>
          </p:nvSpPr>
          <p:spPr>
            <a:xfrm>
              <a:off x="10065388" y="2192192"/>
              <a:ext cx="1946792" cy="1943043"/>
            </a:xfrm>
            <a:prstGeom prst="ellipse">
              <a:avLst/>
            </a:prstGeom>
            <a:solidFill>
              <a:srgbClr val="603AB6"/>
            </a:solidFill>
            <a:ln>
              <a:gradFill flip="none" rotWithShape="1">
                <a:gsLst>
                  <a:gs pos="0">
                    <a:srgbClr val="CFC2EC"/>
                  </a:gs>
                  <a:gs pos="76000">
                    <a:srgbClr val="603AB6"/>
                  </a:gs>
                  <a:gs pos="48000">
                    <a:srgbClr val="42287C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0" name="TextBox 1"/>
            <p:cNvSpPr/>
            <p:nvPr/>
          </p:nvSpPr>
          <p:spPr>
            <a:xfrm>
              <a:off x="8768084" y="2721729"/>
              <a:ext cx="717643" cy="9526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ТАМ</a:t>
              </a:r>
            </a:p>
            <a:p>
              <a:pPr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106,4 млрд. руб.</a:t>
              </a:r>
            </a:p>
          </p:txBody>
        </p:sp>
        <p:sp>
          <p:nvSpPr>
            <p:cNvPr id="131" name="TextBox 15"/>
            <p:cNvSpPr/>
            <p:nvPr/>
          </p:nvSpPr>
          <p:spPr>
            <a:xfrm>
              <a:off x="9506608" y="2721728"/>
              <a:ext cx="627103" cy="9526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SAM </a:t>
              </a:r>
            </a:p>
            <a:p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26,6 млрд. руб</a:t>
              </a:r>
              <a:r>
                <a:rPr lang="ru-RU" sz="1050" b="0" u="none" strike="noStrike" dirty="0">
                  <a:solidFill>
                    <a:schemeClr val="lt1"/>
                  </a:solidFill>
                  <a:effectLst/>
                  <a:uFillTx/>
                  <a:latin typeface="Century Gothic"/>
                  <a:ea typeface="Gilroy-Light"/>
                </a:rPr>
                <a:t>.</a:t>
              </a:r>
              <a:endParaRPr lang="ru-RU" sz="105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TextBox 16"/>
            <p:cNvSpPr/>
            <p:nvPr/>
          </p:nvSpPr>
          <p:spPr>
            <a:xfrm>
              <a:off x="10463132" y="2791475"/>
              <a:ext cx="1151303" cy="73721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SOM </a:t>
              </a:r>
              <a:endParaRPr lang="en-US" sz="1400" dirty="0">
                <a:solidFill>
                  <a:srgbClr val="FFFFFF"/>
                </a:solidFill>
                <a:latin typeface="Involve Medium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931 млн. руб.</a:t>
              </a:r>
            </a:p>
          </p:txBody>
        </p:sp>
      </p:grpSp>
      <p:sp>
        <p:nvSpPr>
          <p:cNvPr id="133" name="TextBox 17"/>
          <p:cNvSpPr/>
          <p:nvPr/>
        </p:nvSpPr>
        <p:spPr>
          <a:xfrm>
            <a:off x="8421424" y="4866470"/>
            <a:ext cx="3516808" cy="15989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/>
            <a:r>
              <a:rPr lang="ru-RU" sz="1400" dirty="0">
                <a:solidFill>
                  <a:srgbClr val="FFFFFF"/>
                </a:solidFill>
                <a:latin typeface="Involve Medium"/>
              </a:rPr>
              <a:t>ТАМ – Российский рынок промышленной робототехники</a:t>
            </a:r>
            <a:endParaRPr lang="en-US" sz="1400" dirty="0">
              <a:solidFill>
                <a:srgbClr val="FFFFFF"/>
              </a:solidFill>
              <a:latin typeface="Involve Medium"/>
            </a:endParaRPr>
          </a:p>
          <a:p>
            <a:pPr algn="ctr" defTabSz="914400"/>
            <a:endParaRPr lang="ru-RU" sz="1400" dirty="0">
              <a:solidFill>
                <a:srgbClr val="FFFFFF"/>
              </a:solidFill>
              <a:latin typeface="Involve Medium"/>
            </a:endParaRPr>
          </a:p>
          <a:p>
            <a:pPr algn="ctr" defTabSz="914400"/>
            <a:r>
              <a:rPr lang="en-US" sz="1400" dirty="0">
                <a:solidFill>
                  <a:srgbClr val="FFFFFF"/>
                </a:solidFill>
                <a:latin typeface="Involve Medium"/>
              </a:rPr>
              <a:t>SAM – </a:t>
            </a:r>
            <a:r>
              <a:rPr lang="ru-RU" sz="1400" dirty="0">
                <a:solidFill>
                  <a:srgbClr val="FFFFFF"/>
                </a:solidFill>
                <a:latin typeface="Involve Medium"/>
              </a:rPr>
              <a:t>Российский рынок сельскохозяйственной робототехники</a:t>
            </a:r>
            <a:endParaRPr lang="en-US" sz="1400" dirty="0">
              <a:solidFill>
                <a:srgbClr val="FFFFFF"/>
              </a:solidFill>
              <a:latin typeface="Involve Medium"/>
            </a:endParaRPr>
          </a:p>
          <a:p>
            <a:pPr algn="ctr" defTabSz="914400"/>
            <a:endParaRPr lang="ru-RU" sz="1400" dirty="0">
              <a:solidFill>
                <a:srgbClr val="FFFFFF"/>
              </a:solidFill>
              <a:latin typeface="Involve Medium"/>
            </a:endParaRPr>
          </a:p>
          <a:p>
            <a:pPr algn="ctr"/>
            <a:r>
              <a:rPr lang="en-US" sz="1400" dirty="0">
                <a:solidFill>
                  <a:srgbClr val="FFFFFF"/>
                </a:solidFill>
                <a:latin typeface="Involve Medium"/>
              </a:rPr>
              <a:t>SOM</a:t>
            </a:r>
            <a:r>
              <a:rPr lang="ru-RU" sz="1400" dirty="0">
                <a:solidFill>
                  <a:srgbClr val="FFFFFF"/>
                </a:solidFill>
                <a:latin typeface="Involve Medium"/>
              </a:rPr>
              <a:t> – 3.5% планируемого рынка</a:t>
            </a:r>
          </a:p>
        </p:txBody>
      </p:sp>
      <p:pic>
        <p:nvPicPr>
          <p:cNvPr id="135" name="Picture 7"/>
          <p:cNvPicPr/>
          <p:nvPr/>
        </p:nvPicPr>
        <p:blipFill>
          <a:blip r:embed="rId3"/>
          <a:stretch/>
        </p:blipFill>
        <p:spPr>
          <a:xfrm>
            <a:off x="10352880" y="58428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Рисунок 9"/>
          <p:cNvPicPr/>
          <p:nvPr/>
        </p:nvPicPr>
        <p:blipFill>
          <a:blip r:embed="rId4"/>
          <a:stretch/>
        </p:blipFill>
        <p:spPr>
          <a:xfrm>
            <a:off x="8540280" y="259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790560" y="337202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1" u="none" strike="noStrike" dirty="0">
                <a:solidFill>
                  <a:srgbClr val="42287C"/>
                </a:solidFill>
                <a:effectLst/>
                <a:uFillTx/>
                <a:latin typeface="Involve Medium"/>
                <a:ea typeface="Tahoma"/>
              </a:rPr>
              <a:t>Рынок и потребитель</a:t>
            </a:r>
            <a:endParaRPr lang="ru-RU" sz="4400" b="0" u="none" strike="noStrike" dirty="0">
              <a:solidFill>
                <a:srgbClr val="42287C"/>
              </a:solidFill>
              <a:effectLst/>
              <a:uFillTx/>
              <a:latin typeface="Involve Medium"/>
            </a:endParaRPr>
          </a:p>
        </p:txBody>
      </p:sp>
      <p:sp>
        <p:nvSpPr>
          <p:cNvPr id="114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634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508680" y="1803970"/>
            <a:ext cx="11174040" cy="1324800"/>
            <a:chOff x="508980" y="2083292"/>
            <a:chExt cx="11174040" cy="1324800"/>
          </a:xfrm>
        </p:grpSpPr>
        <p:sp>
          <p:nvSpPr>
            <p:cNvPr id="115" name="Прямоугольник: скругленные углы 7"/>
            <p:cNvSpPr/>
            <p:nvPr/>
          </p:nvSpPr>
          <p:spPr>
            <a:xfrm>
              <a:off x="508980" y="2083292"/>
              <a:ext cx="11174040" cy="1324800"/>
            </a:xfrm>
            <a:prstGeom prst="roundRect">
              <a:avLst>
                <a:gd name="adj" fmla="val 18301"/>
              </a:avLst>
            </a:prstGeom>
            <a:solidFill>
              <a:srgbClr val="4228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6" name="Подзаголовок 2"/>
            <p:cNvSpPr/>
            <p:nvPr/>
          </p:nvSpPr>
          <p:spPr>
            <a:xfrm>
              <a:off x="854418" y="2344344"/>
              <a:ext cx="10647720" cy="77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rm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ru-RU" sz="2000" b="0" u="none" strike="noStrike" dirty="0">
                  <a:solidFill>
                    <a:schemeClr val="lt1"/>
                  </a:solidFill>
                  <a:effectLst/>
                  <a:uFillTx/>
                  <a:latin typeface="Involve Medium"/>
                </a:rPr>
                <a:t>Продукт ориентирован на средние и малые тепличные хозяйства Российской Федерации, преимущественно — Южного и Северо-Кавказского федерального округа.</a:t>
              </a:r>
              <a:endParaRPr lang="ru-RU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7" name="Прямоугольник: скругленные углы 11"/>
          <p:cNvSpPr/>
          <p:nvPr/>
        </p:nvSpPr>
        <p:spPr>
          <a:xfrm>
            <a:off x="523440" y="3742323"/>
            <a:ext cx="5441400" cy="2628720"/>
          </a:xfrm>
          <a:prstGeom prst="roundRect">
            <a:avLst>
              <a:gd name="adj" fmla="val 12072"/>
            </a:avLst>
          </a:prstGeom>
          <a:noFill/>
          <a:ln>
            <a:solidFill>
              <a:srgbClr val="422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Прямоугольник: скругленные углы 13"/>
          <p:cNvSpPr/>
          <p:nvPr/>
        </p:nvSpPr>
        <p:spPr>
          <a:xfrm>
            <a:off x="6238080" y="3742323"/>
            <a:ext cx="5441400" cy="2628720"/>
          </a:xfrm>
          <a:prstGeom prst="roundRect">
            <a:avLst>
              <a:gd name="adj" fmla="val 12072"/>
            </a:avLst>
          </a:prstGeom>
          <a:noFill/>
          <a:ln>
            <a:solidFill>
              <a:srgbClr val="422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Прямоугольник 120"/>
          <p:cNvSpPr/>
          <p:nvPr/>
        </p:nvSpPr>
        <p:spPr>
          <a:xfrm>
            <a:off x="642855" y="4248356"/>
            <a:ext cx="4858920" cy="19221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Категория бизнеса - средний и малый бизнес, индивидуальные предприниматели с малым объёмом производства;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Отрасль - сельское хозяйство;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Географическое расположение потребителей – Российская федерация;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Сектор рынка - B2B, B2C;</a:t>
            </a:r>
          </a:p>
        </p:txBody>
      </p:sp>
      <p:pic>
        <p:nvPicPr>
          <p:cNvPr id="122" name="Picture 4"/>
          <p:cNvPicPr/>
          <p:nvPr/>
        </p:nvPicPr>
        <p:blipFill>
          <a:blip r:embed="rId2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Рисунок 5"/>
          <p:cNvPicPr/>
          <p:nvPr/>
        </p:nvPicPr>
        <p:blipFill>
          <a:blip r:embed="rId3"/>
          <a:stretch/>
        </p:blipFill>
        <p:spPr>
          <a:xfrm>
            <a:off x="400320" y="413945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Прямоугольник 123"/>
          <p:cNvSpPr/>
          <p:nvPr/>
        </p:nvSpPr>
        <p:spPr>
          <a:xfrm>
            <a:off x="6460920" y="4262931"/>
            <a:ext cx="4995720" cy="19221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42287C"/>
                </a:solidFill>
                <a:latin typeface="Involve Medium"/>
              </a:rPr>
              <a:t>Отсутствие производственных мощностей для конвейерного выпуска продукции</a:t>
            </a:r>
            <a:r>
              <a:rPr lang="ru-RU" sz="1700" dirty="0" smtClean="0">
                <a:solidFill>
                  <a:srgbClr val="42287C"/>
                </a:solidFill>
                <a:latin typeface="Involve Medium"/>
              </a:rPr>
              <a:t>.</a:t>
            </a:r>
            <a:endParaRPr lang="en-US" sz="1700" dirty="0" smtClean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1700" dirty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42287C"/>
                </a:solidFill>
                <a:latin typeface="Involve Medium"/>
              </a:rPr>
              <a:t>Отсутствие клиентской базы</a:t>
            </a:r>
            <a:r>
              <a:rPr lang="ru-RU" sz="1700" dirty="0" smtClean="0">
                <a:solidFill>
                  <a:srgbClr val="42287C"/>
                </a:solidFill>
                <a:latin typeface="Involve Medium"/>
              </a:rPr>
              <a:t>.</a:t>
            </a:r>
            <a:endParaRPr lang="en-US" sz="1700" dirty="0" smtClean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1700" dirty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42287C"/>
                </a:solidFill>
                <a:latin typeface="Involve Medium"/>
              </a:rPr>
              <a:t>Отсутствие практического опыта предпринимательской деятельности.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76552" y="3431122"/>
            <a:ext cx="4646465" cy="649363"/>
          </a:xfrm>
          <a:prstGeom prst="roundRect">
            <a:avLst/>
          </a:prstGeom>
          <a:solidFill>
            <a:srgbClr val="AC9C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8" name="Подзаголовок 2"/>
          <p:cNvSpPr/>
          <p:nvPr/>
        </p:nvSpPr>
        <p:spPr>
          <a:xfrm>
            <a:off x="476373" y="3518078"/>
            <a:ext cx="4562337" cy="8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600" b="1" u="none" strike="noStrike" dirty="0" smtClean="0">
                <a:solidFill>
                  <a:srgbClr val="2B1A52"/>
                </a:solidFill>
                <a:effectLst/>
                <a:uFillTx/>
                <a:latin typeface="Involve Medium"/>
              </a:rPr>
              <a:t>РЫНОК, СЕГМЕНТ РЫНКА, ПОТЕНЦИАЛЬНЫЙ ПОТРЕБИТЕЛЬ</a:t>
            </a:r>
            <a:endParaRPr lang="ru-RU" sz="1600" b="1" u="none" strike="noStrike" dirty="0">
              <a:solidFill>
                <a:srgbClr val="2B1A52"/>
              </a:solidFill>
              <a:effectLst/>
              <a:uFillTx/>
              <a:latin typeface="Arial"/>
            </a:endParaRPr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7147213" y="3431122"/>
            <a:ext cx="4698557" cy="645846"/>
          </a:xfrm>
          <a:prstGeom prst="roundRect">
            <a:avLst/>
          </a:prstGeom>
          <a:solidFill>
            <a:srgbClr val="AC9C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одзаголовок 2"/>
          <p:cNvSpPr/>
          <p:nvPr/>
        </p:nvSpPr>
        <p:spPr>
          <a:xfrm>
            <a:off x="7189747" y="3518078"/>
            <a:ext cx="4613486" cy="8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ru-RU" sz="1600" b="1" u="none" strike="noStrike" dirty="0">
              <a:solidFill>
                <a:srgbClr val="42287C"/>
              </a:solidFill>
              <a:effectLst/>
              <a:uFillTx/>
              <a:latin typeface="Arial"/>
            </a:endParaRPr>
          </a:p>
        </p:txBody>
      </p:sp>
      <p:sp>
        <p:nvSpPr>
          <p:cNvPr id="120" name="Подзаголовок 2"/>
          <p:cNvSpPr/>
          <p:nvPr/>
        </p:nvSpPr>
        <p:spPr>
          <a:xfrm>
            <a:off x="7189747" y="3518544"/>
            <a:ext cx="4386413" cy="8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600" b="1" dirty="0" smtClean="0">
                <a:solidFill>
                  <a:srgbClr val="2B1A52"/>
                </a:solidFill>
                <a:latin typeface="Involve Medium"/>
              </a:rPr>
              <a:t>ВОЗМОЖНЫЕ БАРЬЕРЫ ДЛЯ ВЫХОДА НА РЫНОК</a:t>
            </a:r>
            <a:endParaRPr lang="ru-RU" sz="1600" b="1" dirty="0">
              <a:solidFill>
                <a:srgbClr val="2B1A52"/>
              </a:solidFill>
              <a:latin typeface="Involve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Заголовок 2"/>
          <p:cNvSpPr/>
          <p:nvPr/>
        </p:nvSpPr>
        <p:spPr>
          <a:xfrm>
            <a:off x="1440457" y="889327"/>
            <a:ext cx="9143280" cy="73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ru-RU" sz="4400" b="1" u="none" strike="noStrike" dirty="0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Технологичность </a:t>
            </a:r>
            <a:r>
              <a:rPr lang="ru-RU" sz="4400" b="1" u="none" strike="noStrike" dirty="0" err="1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стартап</a:t>
            </a:r>
            <a:r>
              <a:rPr lang="ru-RU" sz="4400" b="1" u="none" strike="noStrike" dirty="0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-проекта</a:t>
            </a:r>
            <a:endParaRPr lang="ru-RU" sz="4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Picture 5"/>
          <p:cNvPicPr/>
          <p:nvPr/>
        </p:nvPicPr>
        <p:blipFill>
          <a:blip r:embed="rId2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Рисунок 7"/>
          <p:cNvPicPr/>
          <p:nvPr/>
        </p:nvPicPr>
        <p:blipFill>
          <a:blip r:embed="rId3"/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Прямоугольник 140"/>
          <p:cNvSpPr/>
          <p:nvPr/>
        </p:nvSpPr>
        <p:spPr>
          <a:xfrm>
            <a:off x="537425" y="1752376"/>
            <a:ext cx="5697360" cy="1245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1. Ключевая техническая задача: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степень полива растения;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степень химической обработанности растения;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степень зрелости растения;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заболевание растения.</a:t>
            </a:r>
          </a:p>
        </p:txBody>
      </p:sp>
      <p:sp>
        <p:nvSpPr>
          <p:cNvPr id="142" name="Прямоугольник 141"/>
          <p:cNvSpPr/>
          <p:nvPr/>
        </p:nvSpPr>
        <p:spPr>
          <a:xfrm>
            <a:off x="476585" y="3144693"/>
            <a:ext cx="524736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2. Ресурсы проекта: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пециалисты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из области машинного обучения;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пециалисты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из области электроники;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м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ощности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для обучения искусственного интеллекта;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латформа </a:t>
            </a:r>
            <a:r>
              <a:rPr lang="ru-RU" sz="15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Arduino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рочая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электроника.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Прямоугольник 142"/>
          <p:cNvSpPr/>
          <p:nvPr/>
        </p:nvSpPr>
        <p:spPr>
          <a:xfrm>
            <a:off x="537425" y="4789893"/>
            <a:ext cx="4588920" cy="17067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3. Затраты на реализацию проекта: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з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арплата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рабочим;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л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ицензии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на ПО;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а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ренда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помещений;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а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ренда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серверов;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р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еклама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ырьё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для производства.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Прямоугольник 143"/>
          <p:cNvSpPr/>
          <p:nvPr/>
        </p:nvSpPr>
        <p:spPr>
          <a:xfrm>
            <a:off x="6234785" y="1752376"/>
            <a:ext cx="5515200" cy="2860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4. Планы по формированию команды проекта: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1 квартал - обсуждение пунктов договора ГПХ, составление договора ГПХ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2 квартал - найм сотрудников: 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Шлаев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Дмитрий Валерьевич - специалист по электронике и робототехнике. Заведующий кафедрой </a:t>
            </a:r>
            <a:r>
              <a:rPr lang="ru-RU" sz="15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инженеринга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и IT-решений в АПК </a:t>
            </a:r>
            <a:r>
              <a:rPr lang="ru-RU" sz="15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СтГАУ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. Руководитель ВКР, научный руководитель стартап-проектов. Заключение договора ГПХ.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Огур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Максим Геннадьевич - специалист по машинному обучению. Преподаватель кафедры </a:t>
            </a:r>
            <a:r>
              <a:rPr lang="ru-RU" sz="15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инженеринга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и IT-решений в АПК </a:t>
            </a:r>
            <a:r>
              <a:rPr lang="ru-RU" sz="15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СтГАУ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. Заключение договора ГПХ.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Прямоугольник 144"/>
          <p:cNvSpPr/>
          <p:nvPr/>
        </p:nvSpPr>
        <p:spPr>
          <a:xfrm>
            <a:off x="6347313" y="4789893"/>
            <a:ext cx="4727520" cy="783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5. Планируемый способ получения дохода: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рямая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продажа;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дача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робота в аренду.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Заголовок 3"/>
          <p:cNvSpPr/>
          <p:nvPr/>
        </p:nvSpPr>
        <p:spPr>
          <a:xfrm>
            <a:off x="1414440" y="1027260"/>
            <a:ext cx="9143280" cy="73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ru-RU" sz="4400" b="1" u="none" strike="noStrike" dirty="0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Технологичность </a:t>
            </a:r>
            <a:r>
              <a:rPr lang="ru-RU" sz="4400" b="1" u="none" strike="noStrike" dirty="0" err="1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стартап</a:t>
            </a:r>
            <a:r>
              <a:rPr lang="ru-RU" sz="4400" b="1" u="none" strike="noStrike" dirty="0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-проекта</a:t>
            </a:r>
            <a:endParaRPr lang="ru-RU" sz="4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6"/>
          <p:cNvPicPr/>
          <p:nvPr/>
        </p:nvPicPr>
        <p:blipFill>
          <a:blip r:embed="rId2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Рисунок 8"/>
          <p:cNvPicPr/>
          <p:nvPr/>
        </p:nvPicPr>
        <p:blipFill>
          <a:blip r:embed="rId3"/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Полилиния: фигура 149"/>
          <p:cNvSpPr/>
          <p:nvPr/>
        </p:nvSpPr>
        <p:spPr>
          <a:xfrm>
            <a:off x="574920" y="2173680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Прямоугольник 150"/>
          <p:cNvSpPr/>
          <p:nvPr/>
        </p:nvSpPr>
        <p:spPr>
          <a:xfrm>
            <a:off x="851760" y="2279160"/>
            <a:ext cx="2008800" cy="59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Польшин Артем Денисович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Прямоугольник 151"/>
          <p:cNvSpPr/>
          <p:nvPr/>
        </p:nvSpPr>
        <p:spPr>
          <a:xfrm>
            <a:off x="661680" y="2883240"/>
            <a:ext cx="2389320" cy="253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Определение цели и гипотезы проекта.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модели нейронной сети.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Разработка траектории развития.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анализ конкурентов.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Расчёт рынков </a:t>
            </a:r>
            <a:r>
              <a:rPr lang="en-US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TAM, SAM, SOM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акселерационной программы «Маяк»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научной лаборатории 3D-моделирования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Полилиния: фигура 152"/>
          <p:cNvSpPr/>
          <p:nvPr/>
        </p:nvSpPr>
        <p:spPr>
          <a:xfrm>
            <a:off x="3407220" y="2157120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Полилиния: фигура 153"/>
          <p:cNvSpPr/>
          <p:nvPr/>
        </p:nvSpPr>
        <p:spPr>
          <a:xfrm>
            <a:off x="9092160" y="2160720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Полилиния: фигура 154"/>
          <p:cNvSpPr/>
          <p:nvPr/>
        </p:nvSpPr>
        <p:spPr>
          <a:xfrm>
            <a:off x="6271560" y="2157120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Прямоугольник 155"/>
          <p:cNvSpPr/>
          <p:nvPr/>
        </p:nvSpPr>
        <p:spPr>
          <a:xfrm>
            <a:off x="3536280" y="2874960"/>
            <a:ext cx="2389320" cy="25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Определение цели и гипотезы проекта.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разработка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датасетов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Разработка бизнес-модели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анализ конкурентов.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Оформление презентации.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Расчёт рынков </a:t>
            </a:r>
            <a:r>
              <a:rPr lang="en-US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TAM, SAM, SOM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акселерационной программы «Маяк»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научной лаборатории 3D-моделирования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Прямоугольник 156"/>
          <p:cNvSpPr/>
          <p:nvPr/>
        </p:nvSpPr>
        <p:spPr>
          <a:xfrm>
            <a:off x="3700440" y="2277720"/>
            <a:ext cx="2008800" cy="59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Оберемко</a:t>
            </a: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Анна Алексеевна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Прямоугольник 157"/>
          <p:cNvSpPr/>
          <p:nvPr/>
        </p:nvSpPr>
        <p:spPr>
          <a:xfrm>
            <a:off x="6382080" y="2854080"/>
            <a:ext cx="2389320" cy="275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платформы для реализации технической части проекта.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Руководитель научной лаборатории 3D-моделирования СтГАУ.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Заведующий кафедрой инженеринга и IT-решений в АПК СтГАУ.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Руководитель выпускных квалификционных работ, научный руководитель стартап-проектов.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Прямоугольник 158"/>
          <p:cNvSpPr/>
          <p:nvPr/>
        </p:nvSpPr>
        <p:spPr>
          <a:xfrm>
            <a:off x="9230760" y="2885760"/>
            <a:ext cx="2389320" cy="154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модели нейронной сети.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Преподаватель кафедры инженеринга и IT-решений в АПК СтГАУ.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Прямоугольник 159"/>
          <p:cNvSpPr/>
          <p:nvPr/>
        </p:nvSpPr>
        <p:spPr>
          <a:xfrm>
            <a:off x="6494760" y="2256840"/>
            <a:ext cx="2008800" cy="59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Шлаев</a:t>
            </a: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Дмитрий Валерьевич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Прямоугольник 160"/>
          <p:cNvSpPr/>
          <p:nvPr/>
        </p:nvSpPr>
        <p:spPr>
          <a:xfrm>
            <a:off x="9352440" y="2288520"/>
            <a:ext cx="2008800" cy="59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Огур</a:t>
            </a: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Максим Геннадьевич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Скругленный прямоугольник 1"/>
          <p:cNvSpPr/>
          <p:nvPr/>
        </p:nvSpPr>
        <p:spPr>
          <a:xfrm>
            <a:off x="891720" y="5875920"/>
            <a:ext cx="1913400" cy="410400"/>
          </a:xfrm>
          <a:prstGeom prst="roundRect">
            <a:avLst>
              <a:gd name="adj" fmla="val 11350"/>
            </a:avLst>
          </a:prstGeom>
          <a:solidFill>
            <a:srgbClr val="D5B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Прямоугольник 162"/>
          <p:cNvSpPr/>
          <p:nvPr/>
        </p:nvSpPr>
        <p:spPr>
          <a:xfrm>
            <a:off x="1013040" y="5946120"/>
            <a:ext cx="173160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Лидер проекта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Скругленный прямоугольник 2"/>
          <p:cNvSpPr/>
          <p:nvPr/>
        </p:nvSpPr>
        <p:spPr>
          <a:xfrm>
            <a:off x="3809880" y="5859360"/>
            <a:ext cx="1913400" cy="410400"/>
          </a:xfrm>
          <a:prstGeom prst="roundRect">
            <a:avLst>
              <a:gd name="adj" fmla="val 11350"/>
            </a:avLst>
          </a:prstGeom>
          <a:solidFill>
            <a:srgbClr val="D5B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Прямоугольник 164"/>
          <p:cNvSpPr/>
          <p:nvPr/>
        </p:nvSpPr>
        <p:spPr>
          <a:xfrm>
            <a:off x="3931200" y="5929560"/>
            <a:ext cx="173160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Участник проекта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Скругленный прямоугольник 3"/>
          <p:cNvSpPr/>
          <p:nvPr/>
        </p:nvSpPr>
        <p:spPr>
          <a:xfrm>
            <a:off x="6572160" y="5858640"/>
            <a:ext cx="1913400" cy="410400"/>
          </a:xfrm>
          <a:prstGeom prst="roundRect">
            <a:avLst>
              <a:gd name="adj" fmla="val 11350"/>
            </a:avLst>
          </a:prstGeom>
          <a:solidFill>
            <a:srgbClr val="D5B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Прямоугольник 166"/>
          <p:cNvSpPr/>
          <p:nvPr/>
        </p:nvSpPr>
        <p:spPr>
          <a:xfrm>
            <a:off x="6536160" y="5928840"/>
            <a:ext cx="1991160" cy="48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Научный руководитель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Скругленный прямоугольник 5"/>
          <p:cNvSpPr/>
          <p:nvPr/>
        </p:nvSpPr>
        <p:spPr>
          <a:xfrm>
            <a:off x="9421200" y="5866200"/>
            <a:ext cx="1913400" cy="410400"/>
          </a:xfrm>
          <a:prstGeom prst="roundRect">
            <a:avLst>
              <a:gd name="adj" fmla="val 11350"/>
            </a:avLst>
          </a:prstGeom>
          <a:solidFill>
            <a:srgbClr val="D5B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Прямоугольник 168"/>
          <p:cNvSpPr/>
          <p:nvPr/>
        </p:nvSpPr>
        <p:spPr>
          <a:xfrm>
            <a:off x="9542520" y="5936400"/>
            <a:ext cx="173160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Участник проекта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6" name="Группа 25"/>
          <p:cNvGrpSpPr/>
          <p:nvPr/>
        </p:nvGrpSpPr>
        <p:grpSpPr>
          <a:xfrm>
            <a:off x="7565743" y="355001"/>
            <a:ext cx="2468307" cy="1465075"/>
            <a:chOff x="7565743" y="355001"/>
            <a:chExt cx="2468307" cy="1465075"/>
          </a:xfrm>
        </p:grpSpPr>
        <p:grpSp>
          <p:nvGrpSpPr>
            <p:cNvPr id="27" name="Группа 26"/>
            <p:cNvGrpSpPr/>
            <p:nvPr/>
          </p:nvGrpSpPr>
          <p:grpSpPr>
            <a:xfrm>
              <a:off x="7565743" y="355001"/>
              <a:ext cx="2438353" cy="736204"/>
              <a:chOff x="1589950" y="1254248"/>
              <a:chExt cx="2438353" cy="736204"/>
            </a:xfrm>
          </p:grpSpPr>
          <p:pic>
            <p:nvPicPr>
              <p:cNvPr id="32" name="Рисунок 3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9950" y="1254248"/>
                <a:ext cx="683620" cy="736204"/>
              </a:xfrm>
              <a:prstGeom prst="rect">
                <a:avLst/>
              </a:prstGeom>
            </p:spPr>
          </p:pic>
          <p:pic>
            <p:nvPicPr>
              <p:cNvPr id="33" name="Рисунок 3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95170" y="1287135"/>
                <a:ext cx="683445" cy="665921"/>
              </a:xfrm>
              <a:prstGeom prst="rect">
                <a:avLst/>
              </a:prstGeom>
            </p:spPr>
          </p:pic>
          <p:pic>
            <p:nvPicPr>
              <p:cNvPr id="34" name="Рисунок 3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6228" y="1327704"/>
                <a:ext cx="632075" cy="628066"/>
              </a:xfrm>
              <a:prstGeom prst="rect">
                <a:avLst/>
              </a:prstGeom>
            </p:spPr>
          </p:pic>
        </p:grpSp>
        <p:grpSp>
          <p:nvGrpSpPr>
            <p:cNvPr id="28" name="Группа 27"/>
            <p:cNvGrpSpPr/>
            <p:nvPr/>
          </p:nvGrpSpPr>
          <p:grpSpPr>
            <a:xfrm>
              <a:off x="7565743" y="1019306"/>
              <a:ext cx="2468307" cy="800770"/>
              <a:chOff x="7535789" y="1114526"/>
              <a:chExt cx="2468307" cy="800770"/>
            </a:xfrm>
          </p:grpSpPr>
          <p:pic>
            <p:nvPicPr>
              <p:cNvPr id="29" name="Рисунок 2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40834" y="1159350"/>
                <a:ext cx="824569" cy="755946"/>
              </a:xfrm>
              <a:prstGeom prst="rect">
                <a:avLst/>
              </a:prstGeom>
            </p:spPr>
          </p:pic>
          <p:pic>
            <p:nvPicPr>
              <p:cNvPr id="30" name="Рисунок 2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61671" y="1177029"/>
                <a:ext cx="742425" cy="720589"/>
              </a:xfrm>
              <a:prstGeom prst="rect">
                <a:avLst/>
              </a:prstGeom>
            </p:spPr>
          </p:pic>
          <p:pic>
            <p:nvPicPr>
              <p:cNvPr id="31" name="Рисунок 30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35789" y="1114526"/>
                <a:ext cx="845551" cy="79193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Прямоугольник 12"/>
          <p:cNvSpPr/>
          <p:nvPr/>
        </p:nvSpPr>
        <p:spPr>
          <a:xfrm>
            <a:off x="8757000" y="3633480"/>
            <a:ext cx="12150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14243E"/>
                </a:solidFill>
                <a:effectLst/>
                <a:uFillTx/>
                <a:latin typeface="Involve SemiBold"/>
              </a:rPr>
              <a:t>Логотип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178;p9"/>
          <p:cNvSpPr/>
          <p:nvPr/>
        </p:nvSpPr>
        <p:spPr>
          <a:xfrm>
            <a:off x="120240" y="538920"/>
            <a:ext cx="6213600" cy="563400"/>
          </a:xfrm>
          <a:prstGeom prst="roundRect">
            <a:avLst>
              <a:gd name="adj" fmla="val 16667"/>
            </a:avLst>
          </a:prstGeom>
          <a:solidFill>
            <a:srgbClr val="1319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760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400" b="1" u="none" strike="noStrik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СПАСИБО ЗА ВНИМАНИЕ!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179;p9"/>
          <p:cNvSpPr/>
          <p:nvPr/>
        </p:nvSpPr>
        <p:spPr>
          <a:xfrm>
            <a:off x="1990959" y="1429200"/>
            <a:ext cx="6964920" cy="654120"/>
          </a:xfrm>
          <a:prstGeom prst="roundRect">
            <a:avLst>
              <a:gd name="adj" fmla="val 50000"/>
            </a:avLst>
          </a:prstGeom>
          <a:solidFill>
            <a:srgbClr val="1319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760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1" u="none" strike="noStrike" dirty="0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Есть вопросы, которые не успели задать?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180;p9"/>
          <p:cNvSpPr/>
          <p:nvPr/>
        </p:nvSpPr>
        <p:spPr>
          <a:xfrm>
            <a:off x="6333840" y="2092500"/>
            <a:ext cx="3776040" cy="654120"/>
          </a:xfrm>
          <a:prstGeom prst="roundRect">
            <a:avLst>
              <a:gd name="adj" fmla="val 50000"/>
            </a:avLst>
          </a:prstGeom>
          <a:solidFill>
            <a:srgbClr val="868FE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760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Свяжитесь с нами!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7" name="Google Shape;182;p9"/>
          <p:cNvPicPr/>
          <p:nvPr/>
        </p:nvPicPr>
        <p:blipFill>
          <a:blip r:embed="rId2"/>
          <a:stretch/>
        </p:blipFill>
        <p:spPr>
          <a:xfrm>
            <a:off x="4710240" y="2913840"/>
            <a:ext cx="3087360" cy="337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Изображение 10"/>
          <p:cNvPicPr/>
          <p:nvPr/>
        </p:nvPicPr>
        <p:blipFill>
          <a:blip r:embed="rId3"/>
          <a:stretch/>
        </p:blipFill>
        <p:spPr>
          <a:xfrm>
            <a:off x="8639280" y="2914200"/>
            <a:ext cx="2878920" cy="287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Изображение 12"/>
          <p:cNvPicPr/>
          <p:nvPr/>
        </p:nvPicPr>
        <p:blipFill>
          <a:blip r:embed="rId4"/>
          <a:stretch/>
        </p:blipFill>
        <p:spPr>
          <a:xfrm>
            <a:off x="8639280" y="5771160"/>
            <a:ext cx="2878920" cy="52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Box 4"/>
          <p:cNvSpPr/>
          <p:nvPr/>
        </p:nvSpPr>
        <p:spPr>
          <a:xfrm>
            <a:off x="238680" y="3372840"/>
            <a:ext cx="4471200" cy="239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Medium"/>
                <a:ea typeface="Microsoft YaHei"/>
              </a:rPr>
              <a:t>Номер заявки </a:t>
            </a: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Medium"/>
                <a:ea typeface="Tahoma"/>
              </a:rPr>
              <a:t>— СтС-618733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Польшин Артем Денисович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8-906-492-62-05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89064926205</a:t>
            </a: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a@gmail.com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</TotalTime>
  <Words>1135</Words>
  <Application>Microsoft Office PowerPoint</Application>
  <PresentationFormat>Широкоэкранный</PresentationFormat>
  <Paragraphs>176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26" baseType="lpstr">
      <vt:lpstr>Microsoft YaHei</vt:lpstr>
      <vt:lpstr>Aptos</vt:lpstr>
      <vt:lpstr>Arial</vt:lpstr>
      <vt:lpstr>Calibri</vt:lpstr>
      <vt:lpstr>Calibri Light</vt:lpstr>
      <vt:lpstr>Century Gothic</vt:lpstr>
      <vt:lpstr>Cygre ExtraBold</vt:lpstr>
      <vt:lpstr>Gilroy-Light</vt:lpstr>
      <vt:lpstr>Involve Medium</vt:lpstr>
      <vt:lpstr>Involve SemiBold</vt:lpstr>
      <vt:lpstr>Jost</vt:lpstr>
      <vt:lpstr>OpenSymbol</vt:lpstr>
      <vt:lpstr>Symbol</vt:lpstr>
      <vt:lpstr>Tahoma</vt:lpstr>
      <vt:lpstr>Times New Roman</vt:lpstr>
      <vt:lpstr>Wingdings</vt:lpstr>
      <vt:lpstr>Тема Office</vt:lpstr>
      <vt:lpstr>Студенческий стартап </vt:lpstr>
      <vt:lpstr>О продукте</vt:lpstr>
      <vt:lpstr>Технологичность стартап-проекта</vt:lpstr>
      <vt:lpstr>Аналоги и конкуренты</vt:lpstr>
      <vt:lpstr>Презентация PowerPoint</vt:lpstr>
      <vt:lpstr>Рынок и потребитель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Консультация №1</dc:title>
  <dc:subject/>
  <dc:creator>Артём Радченко</dc:creator>
  <dc:description/>
  <cp:lastModifiedBy>student</cp:lastModifiedBy>
  <cp:revision>36</cp:revision>
  <dcterms:created xsi:type="dcterms:W3CDTF">2026-02-12T15:37:00Z</dcterms:created>
  <dcterms:modified xsi:type="dcterms:W3CDTF">2026-03-16T06:58:28Z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7B7741367E084B3399ADB7A88C060550_12</vt:lpwstr>
  </property>
  <property fmtid="{D5CDD505-2E9C-101B-9397-08002B2CF9AE}" pid="3" name="KSOProductBuildVer">
    <vt:lpwstr>1049-12.2.0.23196</vt:lpwstr>
  </property>
  <property fmtid="{D5CDD505-2E9C-101B-9397-08002B2CF9AE}" pid="4" name="PresentationFormat">
    <vt:lpwstr>Широкоэкранный</vt:lpwstr>
  </property>
  <property fmtid="{D5CDD505-2E9C-101B-9397-08002B2CF9AE}" pid="5" name="Slides">
    <vt:i4>8</vt:i4>
  </property>
</Properties>
</file>