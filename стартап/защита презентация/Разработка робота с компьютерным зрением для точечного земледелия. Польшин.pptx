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4CC0"/>
    <a:srgbClr val="42287C"/>
    <a:srgbClr val="2B1A52"/>
    <a:srgbClr val="6150A0"/>
    <a:srgbClr val="CAC0FC"/>
    <a:srgbClr val="5D71C7"/>
    <a:srgbClr val="7D8FEB"/>
    <a:srgbClr val="714BC5"/>
    <a:srgbClr val="603AB6"/>
    <a:srgbClr val="1A1F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35" autoAdjust="0"/>
  </p:normalViewPr>
  <p:slideViewPr>
    <p:cSldViewPr snapToGrid="0">
      <p:cViewPr varScale="1">
        <p:scale>
          <a:sx n="105" d="100"/>
          <a:sy n="105" d="100"/>
        </p:scale>
        <p:origin x="71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76E39-F482-4629-80FF-AE18280773C7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4794B-FE4B-4595-A0EC-A8018C1C29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5072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4794B-FE4B-4595-A0EC-A8018C1C293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0480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4794B-FE4B-4595-A0EC-A8018C1C293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0354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4794B-FE4B-4595-A0EC-A8018C1C293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792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4794B-FE4B-4595-A0EC-A8018C1C293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30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E5F813E-BC9F-4D84-B47F-8BF9EF788C5D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9BB86B5-C7D9-460D-BBEC-B819E17DE73D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Объект с подпись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0B2B4A7-A51A-49A3-8A1D-BF5E1336FE75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Рисунок с подпись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23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E3AD02F-5021-4C04-ABF8-ACBABF36B509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BC2F2FA-CFE4-4D51-922D-7BA8653BCA37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Обычны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990763B-8138-49DE-A239-927771690E87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38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80528A0-8AF9-44BA-B00B-A4950F5D9EDB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DA4029-042A-48A5-BE6C-55D9A0EE248A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BAC63FD-F3CC-4B75-A0B7-8F3854B493E4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Заголовок раздел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08C3669-6187-41D7-8709-FCAF2AA347B5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90C4F42-F221-49EF-89E9-87AE8DDD437C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Сравнени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7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</a:p>
        </p:txBody>
      </p:sp>
      <p:sp>
        <p:nvSpPr>
          <p:cNvPr id="67" name="PlaceHolder 8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EAC849-112E-49D0-BFCD-47D5E50B5D44}" type="slidenum">
              <a:rPr lang="ru-RU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914400" y="1731960"/>
            <a:ext cx="9143280" cy="991440"/>
          </a:xfrm>
          <a:prstGeom prst="rect">
            <a:avLst/>
          </a:prstGeom>
          <a:noFill/>
          <a:ln w="0">
            <a:noFill/>
          </a:ln>
          <a:effectLst>
            <a:outerShdw blurRad="50800" dist="63500" dir="5400000" algn="ctr" rotWithShape="0">
              <a:schemeClr val="tx1">
                <a:alpha val="63000"/>
              </a:schemeClr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800" b="0" u="none" strike="noStrike" dirty="0">
                <a:solidFill>
                  <a:srgbClr val="EDEEE8"/>
                </a:solidFill>
                <a:effectLst/>
                <a:uFillTx/>
                <a:latin typeface="Involve Medium"/>
              </a:rPr>
              <a:t>Студенческий стартап </a:t>
            </a:r>
            <a:endParaRPr lang="ru-RU" sz="48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</p:txBody>
      </p:sp>
      <p:sp>
        <p:nvSpPr>
          <p:cNvPr id="69" name="Скругленный прямоугольник 4"/>
          <p:cNvSpPr/>
          <p:nvPr/>
        </p:nvSpPr>
        <p:spPr>
          <a:xfrm>
            <a:off x="7869780" y="2112840"/>
            <a:ext cx="3198960" cy="571680"/>
          </a:xfrm>
          <a:prstGeom prst="roundRect">
            <a:avLst>
              <a:gd name="adj" fmla="val 50000"/>
            </a:avLst>
          </a:prstGeom>
          <a:solidFill>
            <a:srgbClr val="EDEEE8"/>
          </a:solidFill>
          <a:ln>
            <a:noFill/>
          </a:ln>
          <a:effectLst>
            <a:outerShdw blurRad="50800" dist="50800" dir="5400000" algn="ctr" rotWithShape="0">
              <a:schemeClr val="tx1">
                <a:alpha val="5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ubTitle"/>
          </p:nvPr>
        </p:nvSpPr>
        <p:spPr>
          <a:xfrm>
            <a:off x="7933320" y="2173955"/>
            <a:ext cx="3071880" cy="5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3600" b="0" u="none" strike="noStrike" dirty="0">
                <a:solidFill>
                  <a:srgbClr val="394F9A"/>
                </a:solidFill>
                <a:effectLst/>
                <a:uFillTx/>
                <a:latin typeface="Cygre ExtraBold"/>
              </a:rPr>
              <a:t>VII </a:t>
            </a:r>
            <a:r>
              <a:rPr lang="ru-RU" sz="3600" b="0" u="none" strike="noStrike" dirty="0">
                <a:solidFill>
                  <a:srgbClr val="394F9A"/>
                </a:solidFill>
                <a:effectLst/>
                <a:uFillTx/>
                <a:latin typeface="Cygre ExtraBold"/>
              </a:rPr>
              <a:t>очередь</a:t>
            </a:r>
            <a:endParaRPr lang="ru-RU" sz="3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2" name="Picture 9"/>
          <p:cNvPicPr/>
          <p:nvPr/>
        </p:nvPicPr>
        <p:blipFill>
          <a:blip r:embed="rId2"/>
          <a:stretch/>
        </p:blipFill>
        <p:spPr>
          <a:xfrm>
            <a:off x="10383840" y="6858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Прямоугольник 10"/>
          <p:cNvSpPr/>
          <p:nvPr/>
        </p:nvSpPr>
        <p:spPr>
          <a:xfrm>
            <a:off x="914400" y="3315600"/>
            <a:ext cx="9609840" cy="169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457200" indent="-37008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Font typeface="OpenSymbol"/>
              <a:buAutoNum type="arabicPeriod"/>
            </a:pPr>
            <a:r>
              <a:rPr lang="ru-RU" sz="2200" b="0" u="none" strike="noStrike" dirty="0">
                <a:solidFill>
                  <a:schemeClr val="lt1"/>
                </a:solidFill>
                <a:effectLst/>
                <a:uFillTx/>
                <a:latin typeface="Involve SemiBold"/>
                <a:ea typeface="Tahoma"/>
              </a:rPr>
              <a:t>Номер заявки — СтС-618733.</a:t>
            </a:r>
            <a:endParaRPr lang="ru-RU" sz="2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70080" defTabSz="914400">
              <a:lnSpc>
                <a:spcPct val="110000"/>
              </a:lnSpc>
              <a:buClr>
                <a:srgbClr val="FFFFFF"/>
              </a:buClr>
              <a:buFont typeface="Arial"/>
              <a:buAutoNum type="arabicPeriod"/>
            </a:pPr>
            <a:r>
              <a:rPr lang="ru-RU" sz="2200" b="0" u="none" strike="noStrike" dirty="0">
                <a:solidFill>
                  <a:schemeClr val="lt1"/>
                </a:solidFill>
                <a:effectLst/>
                <a:uFillTx/>
                <a:latin typeface="Involve SemiBold"/>
                <a:ea typeface="Tahoma"/>
              </a:rPr>
              <a:t>Создание робота с компьютерным зрением для точечного земледелия.</a:t>
            </a:r>
            <a:endParaRPr lang="ru-RU" sz="2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70080" defTabSz="914400">
              <a:lnSpc>
                <a:spcPct val="110000"/>
              </a:lnSpc>
              <a:buClr>
                <a:srgbClr val="FFFFFF"/>
              </a:buClr>
              <a:buFont typeface="Arial"/>
              <a:buAutoNum type="arabicPeriod"/>
            </a:pPr>
            <a:r>
              <a:rPr lang="ru-RU" sz="2200" b="0" u="none" strike="noStrike" dirty="0">
                <a:solidFill>
                  <a:schemeClr val="lt1"/>
                </a:solidFill>
                <a:effectLst/>
                <a:uFillTx/>
                <a:latin typeface="Involve SemiBold"/>
                <a:ea typeface="Tahoma"/>
              </a:rPr>
              <a:t>Польшин Артем Денисович.</a:t>
            </a:r>
            <a:endParaRPr lang="ru-RU" sz="22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Рисунок 1"/>
          <p:cNvPicPr/>
          <p:nvPr/>
        </p:nvPicPr>
        <p:blipFill>
          <a:blip r:embed="rId3">
            <a:lum bright="70000" contrast="-70000"/>
          </a:blip>
          <a:stretch/>
        </p:blipFill>
        <p:spPr>
          <a:xfrm>
            <a:off x="424440" y="38952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4060" y="542700"/>
            <a:ext cx="9143280" cy="732240"/>
          </a:xfrm>
          <a:prstGeom prst="rect">
            <a:avLst/>
          </a:prstGeom>
          <a:noFill/>
          <a:ln w="0">
            <a:noFill/>
          </a:ln>
          <a:effectLst>
            <a:outerShdw blurRad="50800" dist="50800" dir="5400000" algn="ctr" rotWithShape="0">
              <a:srgbClr val="42287C"/>
            </a:outerShdw>
          </a:effectLst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000" b="1" u="none" strike="noStrike" dirty="0">
                <a:solidFill>
                  <a:srgbClr val="EDEEE8"/>
                </a:solidFill>
                <a:effectLst/>
                <a:uFillTx/>
                <a:latin typeface="Involve Medium"/>
              </a:rPr>
              <a:t>О продукте</a:t>
            </a:r>
            <a:endParaRPr lang="ru-RU" sz="4000" b="1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</p:txBody>
      </p:sp>
      <p:sp>
        <p:nvSpPr>
          <p:cNvPr id="76" name="Скругленный прямоугольник 4"/>
          <p:cNvSpPr/>
          <p:nvPr/>
        </p:nvSpPr>
        <p:spPr>
          <a:xfrm>
            <a:off x="588600" y="1928160"/>
            <a:ext cx="5468760" cy="2142360"/>
          </a:xfrm>
          <a:prstGeom prst="roundRect">
            <a:avLst>
              <a:gd name="adj" fmla="val 11350"/>
            </a:avLst>
          </a:prstGeom>
          <a:solidFill>
            <a:srgbClr val="EDEE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662760" y="2498910"/>
            <a:ext cx="5361480" cy="10614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600" b="0" u="none" strike="noStrike" dirty="0">
                <a:solidFill>
                  <a:srgbClr val="394F9A"/>
                </a:solidFill>
                <a:effectLst/>
                <a:uFillTx/>
                <a:latin typeface="Involve Medium"/>
              </a:rPr>
              <a:t>У предпринимателей из области сельского хозяйства высокие материальные и финансовые затраты на обработку почвы и растений, связанные с неэкономным распределением химикатов.</a:t>
            </a:r>
          </a:p>
        </p:txBody>
      </p:sp>
      <p:sp>
        <p:nvSpPr>
          <p:cNvPr id="78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Скругленный прямоугольник 4"/>
          <p:cNvSpPr/>
          <p:nvPr/>
        </p:nvSpPr>
        <p:spPr>
          <a:xfrm>
            <a:off x="770040" y="4745520"/>
            <a:ext cx="10574640" cy="1722960"/>
          </a:xfrm>
          <a:prstGeom prst="roundRect">
            <a:avLst>
              <a:gd name="adj" fmla="val 11350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Скругленный прямоугольник 13"/>
          <p:cNvSpPr/>
          <p:nvPr/>
        </p:nvSpPr>
        <p:spPr>
          <a:xfrm>
            <a:off x="302760" y="1612440"/>
            <a:ext cx="3083040" cy="617040"/>
          </a:xfrm>
          <a:prstGeom prst="roundRect">
            <a:avLst>
              <a:gd name="adj" fmla="val 11350"/>
            </a:avLst>
          </a:prstGeom>
          <a:solidFill>
            <a:srgbClr val="7D8FEB"/>
          </a:solidFill>
          <a:ln>
            <a:noFill/>
          </a:ln>
          <a:effectLst>
            <a:outerShdw blurRad="63500" dist="50800" dir="5400000" algn="ctr" rotWithShape="0">
              <a:schemeClr val="tx1"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342540" y="1620483"/>
            <a:ext cx="28501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ПРОБЛЕМА</a:t>
            </a:r>
            <a:r>
              <a:rPr lang="ru-RU" sz="14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</a:t>
            </a:r>
            <a:r>
              <a:rPr lang="ru-RU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ПОТРЕБИТЕЛЯ</a:t>
            </a:r>
            <a:endParaRPr lang="ru-RU" sz="1400" b="1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82" name="Скругленный прямоугольник 14"/>
          <p:cNvSpPr/>
          <p:nvPr/>
        </p:nvSpPr>
        <p:spPr>
          <a:xfrm>
            <a:off x="6270840" y="1928160"/>
            <a:ext cx="5298840" cy="2142360"/>
          </a:xfrm>
          <a:prstGeom prst="roundRect">
            <a:avLst>
              <a:gd name="adj" fmla="val 11350"/>
            </a:avLst>
          </a:prstGeom>
          <a:solidFill>
            <a:srgbClr val="EDEE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Скругленный прямоугольник 15"/>
          <p:cNvSpPr/>
          <p:nvPr/>
        </p:nvSpPr>
        <p:spPr>
          <a:xfrm>
            <a:off x="8807400" y="1621800"/>
            <a:ext cx="3083040" cy="617040"/>
          </a:xfrm>
          <a:prstGeom prst="roundRect">
            <a:avLst>
              <a:gd name="adj" fmla="val 11350"/>
            </a:avLst>
          </a:prstGeom>
          <a:solidFill>
            <a:srgbClr val="AC9CFA"/>
          </a:solidFill>
          <a:ln>
            <a:noFill/>
          </a:ln>
          <a:effectLst>
            <a:outerShdw blurRad="63500" dist="50800" dir="5400000" algn="ctr" rotWithShape="0">
              <a:schemeClr val="tx1">
                <a:alpha val="4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7"/>
          <p:cNvSpPr/>
          <p:nvPr/>
        </p:nvSpPr>
        <p:spPr>
          <a:xfrm>
            <a:off x="8832960" y="1741899"/>
            <a:ext cx="30319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НАШЕ</a:t>
            </a:r>
            <a:r>
              <a:rPr lang="ru-RU" sz="16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</a:t>
            </a:r>
            <a:r>
              <a:rPr lang="ru-RU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РЕШЕНИЕ</a:t>
            </a:r>
            <a:endParaRPr lang="ru-RU" sz="1600" b="1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6407280" y="2238840"/>
            <a:ext cx="5298840" cy="1568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600" b="0" u="none" strike="noStrike" dirty="0">
                <a:solidFill>
                  <a:srgbClr val="394F9A"/>
                </a:solidFill>
                <a:effectLst/>
                <a:uFillTx/>
                <a:latin typeface="Involve Medium"/>
              </a:rPr>
              <a:t>Наш робот поможет фермерам уменьшить затраты на производство продукции, а также ускорить рост и повысить качество культур посредством более точной обработки растений и своевременного выявления симптомов заболеваний при помощи систем искусственного интеллекта и машинного зрения.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5"/>
          <p:cNvSpPr/>
          <p:nvPr/>
        </p:nvSpPr>
        <p:spPr>
          <a:xfrm>
            <a:off x="918360" y="5989690"/>
            <a:ext cx="715356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600" b="0" u="none" strike="noStrike" dirty="0">
                <a:solidFill>
                  <a:schemeClr val="lt1"/>
                </a:solidFill>
                <a:effectLst/>
                <a:uFillTx/>
                <a:latin typeface="Involve Medium"/>
              </a:rPr>
              <a:t>На данный момент проектное решение находится на стадии идеи.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9"/>
          <p:cNvSpPr/>
          <p:nvPr/>
        </p:nvSpPr>
        <p:spPr>
          <a:xfrm>
            <a:off x="918360" y="5100485"/>
            <a:ext cx="1010160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ru-RU" sz="1600" b="0" u="none" strike="noStrike" dirty="0">
                <a:solidFill>
                  <a:schemeClr val="lt1"/>
                </a:solidFill>
                <a:effectLst/>
                <a:uFillTx/>
                <a:latin typeface="Involve Medium"/>
              </a:rPr>
              <a:t>Продукт ориентирован на средние и малые тепличные хозяйства Российской Федерации, преимущественно — Южного и Северо-Кавказского федерального округа</a:t>
            </a:r>
            <a:r>
              <a:rPr lang="ru-RU" sz="1600" b="0" u="none" strike="noStrike" dirty="0" smtClean="0">
                <a:solidFill>
                  <a:schemeClr val="lt1"/>
                </a:solidFill>
                <a:effectLst/>
                <a:uFillTx/>
                <a:latin typeface="Involve Medium"/>
              </a:rPr>
              <a:t>. Хозяйства из данных округов занимают 4 из 10 позиций в списке российских теплиц с наибольшим объёмом производства.</a:t>
            </a:r>
            <a:endParaRPr lang="ru-RU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Скругленный прямоугольник 16"/>
          <p:cNvSpPr/>
          <p:nvPr/>
        </p:nvSpPr>
        <p:spPr>
          <a:xfrm>
            <a:off x="3787560" y="4428540"/>
            <a:ext cx="4662720" cy="617040"/>
          </a:xfrm>
          <a:prstGeom prst="roundRect">
            <a:avLst>
              <a:gd name="adj" fmla="val 11350"/>
            </a:avLst>
          </a:prstGeom>
          <a:solidFill>
            <a:srgbClr val="9786FA"/>
          </a:solidFill>
          <a:ln>
            <a:noFill/>
          </a:ln>
          <a:effectLst>
            <a:outerShdw blurRad="63500" dist="50800" dir="5400000" algn="ctr" rotWithShape="0">
              <a:srgbClr val="2B1A52">
                <a:alpha val="5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Прямоугольник 12"/>
          <p:cNvSpPr/>
          <p:nvPr/>
        </p:nvSpPr>
        <p:spPr>
          <a:xfrm>
            <a:off x="4016597" y="4473359"/>
            <a:ext cx="4055323" cy="5833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ru-RU" sz="16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ОБЛАСТЬ ПРИМЕНЕНИЯ ПРОДУКТА ПРОЕКТА</a:t>
            </a:r>
            <a:endParaRPr lang="ru-RU" sz="1600" b="1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pic>
        <p:nvPicPr>
          <p:cNvPr id="90" name="Picture 1"/>
          <p:cNvPicPr/>
          <p:nvPr/>
        </p:nvPicPr>
        <p:blipFill>
          <a:blip r:embed="rId2"/>
          <a:stretch/>
        </p:blipFill>
        <p:spPr>
          <a:xfrm>
            <a:off x="10375200" y="74268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Рисунок 3"/>
          <p:cNvPicPr/>
          <p:nvPr/>
        </p:nvPicPr>
        <p:blipFill>
          <a:blip r:embed="rId3">
            <a:lum bright="70000" contrast="-70000"/>
          </a:blip>
          <a:stretch/>
        </p:blipFill>
        <p:spPr>
          <a:xfrm>
            <a:off x="424440" y="38952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2182149" y="756872"/>
            <a:ext cx="7730981" cy="695368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42287C">
                <a:alpha val="78000"/>
              </a:srgbClr>
            </a:outerShdw>
          </a:effectLst>
        </p:spPr>
        <p:txBody>
          <a:bodyPr lIns="91440" tIns="45720" rIns="91440" bIns="45720" anchor="b">
            <a:normAutofit fontScale="90000"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000" b="1" dirty="0">
                <a:solidFill>
                  <a:srgbClr val="FFFFFF"/>
                </a:solidFill>
                <a:latin typeface="Involve Medium"/>
                <a:ea typeface="+mn-ea"/>
                <a:cs typeface="+mn-cs"/>
              </a:rPr>
              <a:t>Технологичность стартап-проекта</a:t>
            </a:r>
          </a:p>
        </p:txBody>
      </p:sp>
      <p:sp>
        <p:nvSpPr>
          <p:cNvPr id="93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Прямоугольник 93"/>
          <p:cNvSpPr/>
          <p:nvPr/>
        </p:nvSpPr>
        <p:spPr>
          <a:xfrm>
            <a:off x="764280" y="1503576"/>
            <a:ext cx="5343480" cy="16524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10000"/>
              </a:lnSpc>
            </a:pPr>
            <a:r>
              <a:rPr lang="ru-RU" sz="1700" b="1" dirty="0">
                <a:solidFill>
                  <a:srgbClr val="FFFFFF"/>
                </a:solidFill>
                <a:latin typeface="Involve Medium"/>
              </a:rPr>
              <a:t>1. Техническое решение проекта:</a:t>
            </a: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Модель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нейросети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–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YOLOv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8</a:t>
            </a: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 err="1" smtClean="0">
                <a:solidFill>
                  <a:srgbClr val="FFFFFF"/>
                </a:solidFill>
                <a:latin typeface="Involve Medium"/>
              </a:rPr>
              <a:t>Датасеты</a:t>
            </a: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, 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суммарным объемом фотографий 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~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14000</a:t>
            </a: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Платформа </a:t>
            </a:r>
            <a:r>
              <a:rPr lang="en-US" sz="1500" dirty="0" smtClean="0">
                <a:solidFill>
                  <a:srgbClr val="FFFFFF"/>
                </a:solidFill>
                <a:latin typeface="Involve Medium"/>
              </a:rPr>
              <a:t>Raspberry PI</a:t>
            </a: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.</a:t>
            </a:r>
            <a:endParaRPr lang="ru-RU" sz="1500" dirty="0">
              <a:solidFill>
                <a:srgbClr val="FFFFFF"/>
              </a:solidFill>
              <a:latin typeface="Involve Medium"/>
            </a:endParaRP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Разработанное Программное Обеспечение.</a:t>
            </a:r>
          </a:p>
          <a:p>
            <a:pPr marL="216000" indent="-216000" defTabSz="914400">
              <a:lnSpc>
                <a:spcPct val="11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Камера высокого разрешения.</a:t>
            </a:r>
          </a:p>
        </p:txBody>
      </p:sp>
      <p:sp>
        <p:nvSpPr>
          <p:cNvPr id="95" name="Прямоугольник 94"/>
          <p:cNvSpPr/>
          <p:nvPr/>
        </p:nvSpPr>
        <p:spPr>
          <a:xfrm>
            <a:off x="764280" y="3291396"/>
            <a:ext cx="5319360" cy="22607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r>
              <a:rPr lang="ru-RU" sz="1700" b="1" dirty="0">
                <a:solidFill>
                  <a:srgbClr val="FFFFFF"/>
                </a:solidFill>
                <a:latin typeface="Involve Medium"/>
              </a:rPr>
              <a:t>2. Преимущества выбранного технического решения: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Преимущество технологии 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YOLOv</a:t>
            </a: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8:</a:t>
            </a:r>
            <a:endParaRPr lang="en-US" sz="1500" dirty="0">
              <a:solidFill>
                <a:srgbClr val="FFFFFF"/>
              </a:solidFill>
              <a:latin typeface="Involve Medium"/>
            </a:endParaRP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Средняя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точность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определения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- ~97%.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 Высокая скорость, обработка объектов в реальном времени</a:t>
            </a:r>
          </a:p>
          <a:p>
            <a:pPr marL="216000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Преимущество технологии 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Raspberry </a:t>
            </a:r>
            <a:r>
              <a:rPr lang="en-US" sz="1500" dirty="0" smtClean="0">
                <a:solidFill>
                  <a:srgbClr val="FFFFFF"/>
                </a:solidFill>
                <a:latin typeface="Involve Medium"/>
              </a:rPr>
              <a:t>PI</a:t>
            </a: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:</a:t>
            </a:r>
            <a:endParaRPr lang="en-US" sz="1500" dirty="0">
              <a:solidFill>
                <a:srgbClr val="FFFFFF"/>
              </a:solidFill>
              <a:latin typeface="Involve Medium"/>
            </a:endParaRP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Высокое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соотношение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цены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и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качества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простота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в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освоении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, </a:t>
            </a:r>
            <a:r>
              <a:rPr lang="en-US" sz="1500" dirty="0" err="1">
                <a:solidFill>
                  <a:srgbClr val="FFFFFF"/>
                </a:solidFill>
                <a:latin typeface="Involve Medium"/>
              </a:rPr>
              <a:t>дешевизна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 </a:t>
            </a:r>
            <a:endParaRPr lang="ru-RU" sz="1500" dirty="0">
              <a:solidFill>
                <a:srgbClr val="FFFFFF"/>
              </a:solidFill>
              <a:latin typeface="Involve Medium"/>
            </a:endParaRPr>
          </a:p>
        </p:txBody>
      </p:sp>
      <p:sp>
        <p:nvSpPr>
          <p:cNvPr id="96" name="Прямоугольник 95"/>
          <p:cNvSpPr/>
          <p:nvPr/>
        </p:nvSpPr>
        <p:spPr>
          <a:xfrm>
            <a:off x="6014472" y="1503576"/>
            <a:ext cx="5311080" cy="20298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700" b="1" dirty="0">
                <a:solidFill>
                  <a:srgbClr val="FFFFFF"/>
                </a:solidFill>
                <a:latin typeface="Involve Medium"/>
              </a:rPr>
              <a:t>3. Имеющийся задел: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Уровень технологической готовности - </a:t>
            </a: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УГТ1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.</a:t>
            </a:r>
            <a:endParaRPr lang="en-US" sz="1500" dirty="0">
              <a:solidFill>
                <a:srgbClr val="FFFFFF"/>
              </a:solidFill>
              <a:latin typeface="Involve Medium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Сформулирована гипотеза, определён командный состав, основные технологии, найдено 6 </a:t>
            </a:r>
            <a:r>
              <a:rPr lang="ru-RU" sz="1500" dirty="0" err="1" smtClean="0">
                <a:solidFill>
                  <a:srgbClr val="FFFFFF"/>
                </a:solidFill>
                <a:latin typeface="Involve Medium"/>
              </a:rPr>
              <a:t>датасетов</a:t>
            </a: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, 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суммарным объёмом в ~14000 фотографий, определена основная модель используемого искусственного интеллекта.</a:t>
            </a:r>
          </a:p>
          <a:p>
            <a:pPr>
              <a:lnSpc>
                <a:spcPct val="100000"/>
              </a:lnSpc>
            </a:pP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Прямоугольник 96"/>
          <p:cNvSpPr/>
          <p:nvPr/>
        </p:nvSpPr>
        <p:spPr>
          <a:xfrm>
            <a:off x="6014520" y="3291396"/>
            <a:ext cx="5561280" cy="32148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700" b="1" dirty="0">
                <a:solidFill>
                  <a:srgbClr val="FFFFFF"/>
                </a:solidFill>
                <a:latin typeface="Involve Medium"/>
              </a:rPr>
              <a:t>4. Соответствие направлению национального проекта технологического лидерства «Автономная (беспилотная) самоходная техника, прицепное и навесное оборудование к ней»: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Создание отечественного беспилотного робота с подключаемыми к нему модулями для персонализации под конкретные нужды и оптимизации финансовых и материальных расходов на обработку почвы и растений путём точечной обработки, а также повышения количества и качества выпускаемой тепличными комплексами продукции. Такой робот будет заменять зарубежные аналоги, что укрепит технологический суверенитет страны.</a:t>
            </a:r>
          </a:p>
        </p:txBody>
      </p:sp>
      <p:pic>
        <p:nvPicPr>
          <p:cNvPr id="98" name="Picture 2"/>
          <p:cNvPicPr/>
          <p:nvPr/>
        </p:nvPicPr>
        <p:blipFill>
          <a:blip r:embed="rId3"/>
          <a:stretch/>
        </p:blipFill>
        <p:spPr>
          <a:xfrm>
            <a:off x="1035216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Рисунок 2"/>
          <p:cNvPicPr/>
          <p:nvPr/>
        </p:nvPicPr>
        <p:blipFill>
          <a:blip r:embed="rId4">
            <a:lum bright="70000" contrast="-70000"/>
          </a:blip>
          <a:stretch/>
        </p:blipFill>
        <p:spPr>
          <a:xfrm>
            <a:off x="39996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20619" y="488027"/>
            <a:ext cx="10514880" cy="95184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chemeClr val="tx1">
                <a:alpha val="36000"/>
              </a:schemeClr>
            </a:outerShdw>
          </a:effectLst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b="1" dirty="0">
                <a:solidFill>
                  <a:srgbClr val="604AD1"/>
                </a:solidFill>
                <a:latin typeface="Involve Medium"/>
              </a:rPr>
              <a:t>Аналоги и </a:t>
            </a:r>
            <a:r>
              <a:rPr lang="ru-RU" b="1" u="none" strike="noStrike" dirty="0">
                <a:solidFill>
                  <a:srgbClr val="604AD1"/>
                </a:solidFill>
                <a:effectLst/>
                <a:uFillTx/>
                <a:latin typeface="Involve Medium"/>
              </a:rPr>
              <a:t>конкуренты</a:t>
            </a:r>
            <a:endParaRPr lang="ru-RU" b="0" u="none" strike="noStrike" dirty="0">
              <a:solidFill>
                <a:srgbClr val="604AD1"/>
              </a:solidFill>
              <a:effectLst/>
              <a:uFillTx/>
              <a:latin typeface="Involve Medium"/>
            </a:endParaRPr>
          </a:p>
        </p:txBody>
      </p:sp>
      <p:sp>
        <p:nvSpPr>
          <p:cNvPr id="101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634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b="0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Прямоугольник: скругленные углы 5"/>
          <p:cNvSpPr/>
          <p:nvPr/>
        </p:nvSpPr>
        <p:spPr>
          <a:xfrm>
            <a:off x="508679" y="1919366"/>
            <a:ext cx="3436560" cy="4532899"/>
          </a:xfrm>
          <a:prstGeom prst="roundRect">
            <a:avLst>
              <a:gd name="adj" fmla="val 10064"/>
            </a:avLst>
          </a:prstGeom>
          <a:solidFill>
            <a:srgbClr val="4D4CB6"/>
          </a:solidFill>
          <a:ln>
            <a:noFill/>
          </a:ln>
          <a:effectLst>
            <a:outerShdw blurRad="63500" dist="50800" dir="8520000" algn="ctr" rotWithShape="0">
              <a:srgbClr val="42287C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Прямоугольник: скругленные углы 6"/>
          <p:cNvSpPr/>
          <p:nvPr/>
        </p:nvSpPr>
        <p:spPr>
          <a:xfrm>
            <a:off x="4377720" y="1917258"/>
            <a:ext cx="3436560" cy="4511545"/>
          </a:xfrm>
          <a:prstGeom prst="roundRect">
            <a:avLst>
              <a:gd name="adj" fmla="val 10064"/>
            </a:avLst>
          </a:prstGeom>
          <a:solidFill>
            <a:srgbClr val="6C48E2"/>
          </a:solidFill>
          <a:ln>
            <a:noFill/>
          </a:ln>
          <a:effectLst>
            <a:outerShdw blurRad="63500" dist="50800" dir="8400000" algn="ctr" rotWithShape="0">
              <a:srgbClr val="42287C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Прямоугольник: скругленные углы 7"/>
          <p:cNvSpPr/>
          <p:nvPr/>
        </p:nvSpPr>
        <p:spPr>
          <a:xfrm>
            <a:off x="8246422" y="1917258"/>
            <a:ext cx="3436560" cy="4511545"/>
          </a:xfrm>
          <a:prstGeom prst="roundRect">
            <a:avLst>
              <a:gd name="adj" fmla="val 10064"/>
            </a:avLst>
          </a:prstGeom>
          <a:solidFill>
            <a:srgbClr val="884DF8"/>
          </a:solidFill>
          <a:ln>
            <a:noFill/>
          </a:ln>
          <a:effectLst>
            <a:outerShdw blurRad="63500" dist="50800" dir="8400000" algn="ctr" rotWithShape="0">
              <a:srgbClr val="42287C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Подзаголовок 2"/>
          <p:cNvSpPr/>
          <p:nvPr/>
        </p:nvSpPr>
        <p:spPr>
          <a:xfrm>
            <a:off x="508679" y="2121549"/>
            <a:ext cx="3436560" cy="344568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42287C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0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Существующие аналоги</a:t>
            </a:r>
            <a:endParaRPr lang="ru-RU" sz="2000" b="1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106" name="Подзаголовок 2"/>
          <p:cNvSpPr/>
          <p:nvPr/>
        </p:nvSpPr>
        <p:spPr>
          <a:xfrm>
            <a:off x="8299884" y="2113833"/>
            <a:ext cx="3329635" cy="36000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42287C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000" b="1" dirty="0" smtClean="0">
                <a:solidFill>
                  <a:schemeClr val="bg1"/>
                </a:solidFill>
                <a:latin typeface="Involve Medium"/>
              </a:rPr>
              <a:t>Востребованность продукта</a:t>
            </a:r>
            <a:endParaRPr lang="ru-RU" sz="2000" b="1" dirty="0">
              <a:solidFill>
                <a:schemeClr val="bg1"/>
              </a:solidFill>
              <a:latin typeface="Involve Medium"/>
            </a:endParaRPr>
          </a:p>
        </p:txBody>
      </p:sp>
      <p:sp>
        <p:nvSpPr>
          <p:cNvPr id="107" name="Подзаголовок 2"/>
          <p:cNvSpPr/>
          <p:nvPr/>
        </p:nvSpPr>
        <p:spPr>
          <a:xfrm>
            <a:off x="4377380" y="2093896"/>
            <a:ext cx="3426715" cy="70128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42287C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2000" b="1" dirty="0">
                <a:solidFill>
                  <a:schemeClr val="bg1"/>
                </a:solidFill>
                <a:latin typeface="Involve Medium"/>
              </a:rPr>
              <a:t>Конкурентные преимущества продукта</a:t>
            </a:r>
          </a:p>
        </p:txBody>
      </p:sp>
      <p:sp>
        <p:nvSpPr>
          <p:cNvPr id="108" name="Прямоугольник 107"/>
          <p:cNvSpPr/>
          <p:nvPr/>
        </p:nvSpPr>
        <p:spPr>
          <a:xfrm>
            <a:off x="562479" y="2592118"/>
            <a:ext cx="3328959" cy="35995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179388" indent="-179388">
              <a:lnSpc>
                <a:spcPct val="100000"/>
              </a:lnSpc>
              <a:buAutoNum type="arabicPeriod"/>
            </a:pP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Cognitive </a:t>
            </a:r>
            <a:r>
              <a:rPr lang="ru-RU" sz="1200" b="1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pilot</a:t>
            </a: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- Россия; Разработка полевых тракторов, требующих оператора; Сдача в аренду.</a:t>
            </a:r>
          </a:p>
          <a:p>
            <a:pPr>
              <a:lnSpc>
                <a:spcPct val="100000"/>
              </a:lnSpc>
            </a:pPr>
            <a:endParaRPr lang="ru-RU" sz="1200" b="0" u="none" strike="noStrike" dirty="0">
              <a:solidFill>
                <a:schemeClr val="bg1"/>
              </a:solidFill>
              <a:effectLst/>
              <a:uFillTx/>
              <a:latin typeface="Involve Medium"/>
            </a:endParaRPr>
          </a:p>
          <a:p>
            <a:pPr marL="179388" indent="-179388">
              <a:lnSpc>
                <a:spcPct val="100000"/>
              </a:lnSpc>
            </a:pP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2. ООО «</a:t>
            </a:r>
            <a:r>
              <a:rPr lang="ru-RU" sz="1200" b="1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ЭРлаб</a:t>
            </a: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» 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- Россия; Разработка тепличных и полевых роботов; Сдача в аренду. Blue </a:t>
            </a:r>
            <a:r>
              <a:rPr lang="ru-RU" sz="1200" b="0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Rier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- США; Информация в открытых источниках отсутствует в связи с введёнными санкциями; </a:t>
            </a:r>
          </a:p>
          <a:p>
            <a:pPr>
              <a:lnSpc>
                <a:spcPct val="100000"/>
              </a:lnSpc>
            </a:pPr>
            <a:endParaRPr lang="ru-RU" sz="1200" b="0" u="none" strike="noStrike" dirty="0">
              <a:solidFill>
                <a:schemeClr val="bg1"/>
              </a:solidFill>
              <a:effectLst/>
              <a:uFillTx/>
              <a:latin typeface="Involve Medium"/>
            </a:endParaRPr>
          </a:p>
          <a:p>
            <a:pPr marL="179388" indent="-179388">
              <a:lnSpc>
                <a:spcPct val="100000"/>
              </a:lnSpc>
            </a:pP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3. </a:t>
            </a:r>
            <a:r>
              <a:rPr lang="ru-RU" sz="1200" b="1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Naïo</a:t>
            </a: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Technologies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- Франция; Разработка как тепличных, так и полевых роботов; Сдача в аренду и продажа; Не ведёт торговых отношений с Россией из-за политики компании, а также из-за введённых санкций; </a:t>
            </a:r>
          </a:p>
          <a:p>
            <a:pPr>
              <a:lnSpc>
                <a:spcPct val="100000"/>
              </a:lnSpc>
            </a:pPr>
            <a:endParaRPr lang="ru-RU" sz="1200" b="0" u="none" strike="noStrike" dirty="0">
              <a:solidFill>
                <a:schemeClr val="bg1"/>
              </a:solidFill>
              <a:effectLst/>
              <a:uFillTx/>
              <a:latin typeface="Involve Medium"/>
            </a:endParaRPr>
          </a:p>
          <a:p>
            <a:pPr marL="179388" indent="-179388">
              <a:lnSpc>
                <a:spcPct val="100000"/>
              </a:lnSpc>
            </a:pP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4. </a:t>
            </a:r>
            <a:r>
              <a:rPr lang="ru-RU" sz="1200" b="1" u="none" strike="noStrike" dirty="0" err="1">
                <a:solidFill>
                  <a:schemeClr val="bg1"/>
                </a:solidFill>
                <a:effectLst/>
                <a:uFillTx/>
                <a:latin typeface="Involve Medium"/>
              </a:rPr>
              <a:t>MetaMotion</a:t>
            </a:r>
            <a:r>
              <a:rPr lang="ru-RU" sz="1200" b="1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 </a:t>
            </a:r>
            <a:r>
              <a:rPr lang="ru-RU" sz="1200" b="0" u="none" strike="noStrike" dirty="0">
                <a:solidFill>
                  <a:schemeClr val="bg1"/>
                </a:solidFill>
                <a:effectLst/>
                <a:uFillTx/>
                <a:latin typeface="Involve Medium"/>
              </a:rPr>
              <a:t>- Израиль; Разработка тепличных и полевых роботов; Продажа заблокирована в связи с санкциями.</a:t>
            </a:r>
          </a:p>
        </p:txBody>
      </p:sp>
      <p:sp>
        <p:nvSpPr>
          <p:cNvPr id="109" name="Прямоугольник 108"/>
          <p:cNvSpPr/>
          <p:nvPr/>
        </p:nvSpPr>
        <p:spPr>
          <a:xfrm>
            <a:off x="4478776" y="2969706"/>
            <a:ext cx="3325320" cy="30455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28600" indent="-228600">
              <a:lnSpc>
                <a:spcPct val="100000"/>
              </a:lnSpc>
              <a:buFont typeface="+mj-lt"/>
              <a:buAutoNum type="arabicPeriod"/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Модульность конструкции позволит персонализировать роботов под конкретные нужды, увеличивая их эффективность;</a:t>
            </a:r>
          </a:p>
          <a:p>
            <a:pPr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 </a:t>
            </a:r>
          </a:p>
          <a:p>
            <a:pPr marL="179388" indent="-179388"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2. Экономия ресурсов поможет производителям повысить прибыльность посредством снижения себестоимости продукции, а также снизить цену на свою продукцию, что сможет привлечь большее количество клиентов; </a:t>
            </a:r>
          </a:p>
          <a:p>
            <a:pPr>
              <a:lnSpc>
                <a:spcPct val="100000"/>
              </a:lnSpc>
            </a:pPr>
            <a:endParaRPr lang="ru-RU" sz="1200" dirty="0">
              <a:solidFill>
                <a:schemeClr val="bg1"/>
              </a:solidFill>
              <a:latin typeface="Involve Medium"/>
            </a:endParaRPr>
          </a:p>
          <a:p>
            <a:pPr marL="179388" indent="-179388"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3. Возможность покупки продукта в долгосрочной перспективе снизит финансовые затраты на использование роботов.</a:t>
            </a:r>
          </a:p>
        </p:txBody>
      </p:sp>
      <p:sp>
        <p:nvSpPr>
          <p:cNvPr id="110" name="Прямоугольник 109"/>
          <p:cNvSpPr/>
          <p:nvPr/>
        </p:nvSpPr>
        <p:spPr>
          <a:xfrm>
            <a:off x="8395642" y="3153049"/>
            <a:ext cx="3138120" cy="2122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28600" indent="-228600" defTabSz="914400">
              <a:lnSpc>
                <a:spcPct val="100000"/>
              </a:lnSpc>
              <a:buAutoNum type="arabicPeriod"/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Увеличение количество населения, а также тренды автоматизации процессов неминуемо ведут к развитию сельского хозяйства.</a:t>
            </a:r>
          </a:p>
          <a:p>
            <a:pPr defTabSz="914400">
              <a:lnSpc>
                <a:spcPct val="100000"/>
              </a:lnSpc>
            </a:pPr>
            <a:endParaRPr lang="ru-RU" sz="1200" dirty="0">
              <a:solidFill>
                <a:schemeClr val="bg1"/>
              </a:solidFill>
              <a:latin typeface="Involve Medium"/>
            </a:endParaRPr>
          </a:p>
          <a:p>
            <a:pPr marL="179388" indent="-179388" defTabSz="914400"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2. Кадровый голод: 11% работников младше 40 лет.</a:t>
            </a:r>
          </a:p>
          <a:p>
            <a:pPr marL="179388" indent="-179388" defTabSz="914400">
              <a:lnSpc>
                <a:spcPct val="100000"/>
              </a:lnSpc>
            </a:pPr>
            <a:endParaRPr lang="ru-RU" sz="1200" dirty="0">
              <a:solidFill>
                <a:schemeClr val="bg1"/>
              </a:solidFill>
              <a:latin typeface="Involve Medium"/>
            </a:endParaRPr>
          </a:p>
          <a:p>
            <a:pPr marL="179388" indent="-179388" defTabSz="914400">
              <a:lnSpc>
                <a:spcPct val="100000"/>
              </a:lnSpc>
            </a:pPr>
            <a:r>
              <a:rPr lang="ru-RU" sz="1200" dirty="0">
                <a:solidFill>
                  <a:schemeClr val="bg1"/>
                </a:solidFill>
                <a:latin typeface="Involve Medium"/>
              </a:rPr>
              <a:t>3. Увеличение количества выпускаемой продукции невозможно без наращивания производственных мощностей.</a:t>
            </a:r>
          </a:p>
        </p:txBody>
      </p:sp>
      <p:pic>
        <p:nvPicPr>
          <p:cNvPr id="111" name="Picture 3"/>
          <p:cNvPicPr/>
          <p:nvPr/>
        </p:nvPicPr>
        <p:blipFill>
          <a:blip r:embed="rId3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Рисунок 4"/>
          <p:cNvPicPr/>
          <p:nvPr/>
        </p:nvPicPr>
        <p:blipFill>
          <a:blip r:embed="rId4"/>
          <a:stretch/>
        </p:blipFill>
        <p:spPr>
          <a:xfrm>
            <a:off x="40032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F490B51-01BB-67E7-178A-789162BBD8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639" y="1569853"/>
            <a:ext cx="11120841" cy="457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790560" y="337202"/>
            <a:ext cx="10514880" cy="132480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chemeClr val="tx1">
                <a:alpha val="35000"/>
              </a:schemeClr>
            </a:outerShdw>
          </a:effectLst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1" u="none" strike="noStrike" dirty="0">
                <a:solidFill>
                  <a:srgbClr val="42287C"/>
                </a:solidFill>
                <a:effectLst/>
                <a:uFillTx/>
                <a:latin typeface="Involve Medium"/>
                <a:ea typeface="Tahoma"/>
              </a:rPr>
              <a:t>Рынок и потребитель</a:t>
            </a:r>
            <a:endParaRPr lang="ru-RU" sz="4400" b="0" u="none" strike="noStrike" dirty="0">
              <a:solidFill>
                <a:srgbClr val="42287C"/>
              </a:solidFill>
              <a:effectLst/>
              <a:uFillTx/>
              <a:latin typeface="Involve Medium"/>
            </a:endParaRPr>
          </a:p>
        </p:txBody>
      </p:sp>
      <p:sp>
        <p:nvSpPr>
          <p:cNvPr id="114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634A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508680" y="1803970"/>
            <a:ext cx="11174040" cy="1324800"/>
            <a:chOff x="508980" y="2083292"/>
            <a:chExt cx="11174040" cy="1324800"/>
          </a:xfrm>
          <a:effectLst>
            <a:outerShdw blurRad="63500" dist="50800" dir="5400000" algn="ctr" rotWithShape="0">
              <a:srgbClr val="6150A0"/>
            </a:outerShdw>
          </a:effectLst>
        </p:grpSpPr>
        <p:sp>
          <p:nvSpPr>
            <p:cNvPr id="115" name="Прямоугольник: скругленные углы 7"/>
            <p:cNvSpPr/>
            <p:nvPr/>
          </p:nvSpPr>
          <p:spPr>
            <a:xfrm>
              <a:off x="508980" y="2083292"/>
              <a:ext cx="11174040" cy="1324800"/>
            </a:xfrm>
            <a:prstGeom prst="roundRect">
              <a:avLst>
                <a:gd name="adj" fmla="val 18301"/>
              </a:avLst>
            </a:prstGeom>
            <a:solidFill>
              <a:srgbClr val="42287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16" name="Подзаголовок 2"/>
            <p:cNvSpPr/>
            <p:nvPr/>
          </p:nvSpPr>
          <p:spPr>
            <a:xfrm>
              <a:off x="854418" y="2344344"/>
              <a:ext cx="10647720" cy="778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rm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ru-RU" sz="2000" b="0" u="none" strike="noStrike" dirty="0">
                  <a:solidFill>
                    <a:schemeClr val="lt1"/>
                  </a:solidFill>
                  <a:effectLst/>
                  <a:uFillTx/>
                  <a:latin typeface="Involve Medium"/>
                </a:rPr>
                <a:t>Продукт ориентирован на средние и малые тепличные хозяйства Российской Федерации, преимущественно — Южного и Северо-Кавказского федерального округа.</a:t>
              </a:r>
              <a:endParaRPr lang="ru-RU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7" name="Прямоугольник: скругленные углы 11"/>
          <p:cNvSpPr/>
          <p:nvPr/>
        </p:nvSpPr>
        <p:spPr>
          <a:xfrm>
            <a:off x="523440" y="3742323"/>
            <a:ext cx="5441400" cy="2628720"/>
          </a:xfrm>
          <a:prstGeom prst="roundRect">
            <a:avLst>
              <a:gd name="adj" fmla="val 12072"/>
            </a:avLst>
          </a:prstGeom>
          <a:noFill/>
          <a:ln>
            <a:solidFill>
              <a:srgbClr val="4228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Прямоугольник: скругленные углы 13"/>
          <p:cNvSpPr/>
          <p:nvPr/>
        </p:nvSpPr>
        <p:spPr>
          <a:xfrm>
            <a:off x="6238080" y="3742323"/>
            <a:ext cx="5441400" cy="2628720"/>
          </a:xfrm>
          <a:prstGeom prst="roundRect">
            <a:avLst>
              <a:gd name="adj" fmla="val 12072"/>
            </a:avLst>
          </a:prstGeom>
          <a:noFill/>
          <a:ln>
            <a:solidFill>
              <a:srgbClr val="4228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Прямоугольник 120"/>
          <p:cNvSpPr/>
          <p:nvPr/>
        </p:nvSpPr>
        <p:spPr>
          <a:xfrm>
            <a:off x="642855" y="4248356"/>
            <a:ext cx="4858920" cy="19221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b="0" u="none" strike="noStrike" dirty="0">
                <a:solidFill>
                  <a:srgbClr val="42287C"/>
                </a:solidFill>
                <a:effectLst/>
                <a:uFillTx/>
                <a:latin typeface="Involve Medium"/>
              </a:rPr>
              <a:t>Категория бизнеса - средний и малый бизнес, индивидуальные предприниматели с малым объёмом производства;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b="0" u="none" strike="noStrike" dirty="0">
                <a:solidFill>
                  <a:srgbClr val="42287C"/>
                </a:solidFill>
                <a:effectLst/>
                <a:uFillTx/>
                <a:latin typeface="Involve Medium"/>
              </a:rPr>
              <a:t>Отрасль - сельское хозяйство;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b="0" u="none" strike="noStrike" dirty="0">
                <a:solidFill>
                  <a:srgbClr val="42287C"/>
                </a:solidFill>
                <a:effectLst/>
                <a:uFillTx/>
                <a:latin typeface="Involve Medium"/>
              </a:rPr>
              <a:t>Географическое расположение потребителей – Российская федерация; 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b="0" u="none" strike="noStrike" dirty="0">
                <a:solidFill>
                  <a:srgbClr val="42287C"/>
                </a:solidFill>
                <a:effectLst/>
                <a:uFillTx/>
                <a:latin typeface="Involve Medium"/>
              </a:rPr>
              <a:t>Сектор рынка - B2B, B2C;</a:t>
            </a:r>
          </a:p>
        </p:txBody>
      </p:sp>
      <p:pic>
        <p:nvPicPr>
          <p:cNvPr id="122" name="Picture 4"/>
          <p:cNvPicPr/>
          <p:nvPr/>
        </p:nvPicPr>
        <p:blipFill>
          <a:blip r:embed="rId2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Рисунок 5"/>
          <p:cNvPicPr/>
          <p:nvPr/>
        </p:nvPicPr>
        <p:blipFill>
          <a:blip r:embed="rId3"/>
          <a:stretch/>
        </p:blipFill>
        <p:spPr>
          <a:xfrm>
            <a:off x="400320" y="413945"/>
            <a:ext cx="1343160" cy="105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Прямоугольник 123"/>
          <p:cNvSpPr/>
          <p:nvPr/>
        </p:nvSpPr>
        <p:spPr>
          <a:xfrm>
            <a:off x="6460920" y="4262931"/>
            <a:ext cx="4995720" cy="19221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dirty="0">
                <a:solidFill>
                  <a:srgbClr val="42287C"/>
                </a:solidFill>
                <a:latin typeface="Involve Medium"/>
              </a:rPr>
              <a:t>Отсутствие производственных мощностей для конвейерного выпуска продукции</a:t>
            </a:r>
            <a:r>
              <a:rPr lang="ru-RU" sz="1700" dirty="0" smtClean="0">
                <a:solidFill>
                  <a:srgbClr val="42287C"/>
                </a:solidFill>
                <a:latin typeface="Involve Medium"/>
              </a:rPr>
              <a:t>.</a:t>
            </a:r>
            <a:endParaRPr lang="en-US" sz="1700" dirty="0" smtClean="0">
              <a:solidFill>
                <a:srgbClr val="42287C"/>
              </a:solidFill>
              <a:latin typeface="Involve Medium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sz="1700" dirty="0">
              <a:solidFill>
                <a:srgbClr val="42287C"/>
              </a:solidFill>
              <a:latin typeface="Involve Medium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dirty="0">
                <a:solidFill>
                  <a:srgbClr val="42287C"/>
                </a:solidFill>
                <a:latin typeface="Involve Medium"/>
              </a:rPr>
              <a:t>Отсутствие клиентской базы</a:t>
            </a:r>
            <a:r>
              <a:rPr lang="ru-RU" sz="1700" dirty="0" smtClean="0">
                <a:solidFill>
                  <a:srgbClr val="42287C"/>
                </a:solidFill>
                <a:latin typeface="Involve Medium"/>
              </a:rPr>
              <a:t>.</a:t>
            </a:r>
            <a:endParaRPr lang="en-US" sz="1700" dirty="0" smtClean="0">
              <a:solidFill>
                <a:srgbClr val="42287C"/>
              </a:solidFill>
              <a:latin typeface="Involve Medium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sz="1700" dirty="0">
              <a:solidFill>
                <a:srgbClr val="42287C"/>
              </a:solidFill>
              <a:latin typeface="Involve Medium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700" dirty="0">
                <a:solidFill>
                  <a:srgbClr val="42287C"/>
                </a:solidFill>
                <a:latin typeface="Involve Medium"/>
              </a:rPr>
              <a:t>Отсутствие практического опыта предпринимательской деятельности.</a:t>
            </a: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376552" y="3431122"/>
            <a:ext cx="4646465" cy="649363"/>
          </a:xfrm>
          <a:prstGeom prst="roundRect">
            <a:avLst/>
          </a:prstGeom>
          <a:solidFill>
            <a:srgbClr val="AC9CFA"/>
          </a:solidFill>
          <a:effectLst>
            <a:outerShdw blurRad="63500" dist="50800" dir="5400000" algn="ctr" rotWithShape="0">
              <a:srgbClr val="6150A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8" name="Подзаголовок 2"/>
          <p:cNvSpPr/>
          <p:nvPr/>
        </p:nvSpPr>
        <p:spPr>
          <a:xfrm>
            <a:off x="476373" y="3518078"/>
            <a:ext cx="4562337" cy="83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600" b="1" u="none" strike="noStrike" dirty="0" smtClean="0">
                <a:solidFill>
                  <a:srgbClr val="2B1A52"/>
                </a:solidFill>
                <a:effectLst/>
                <a:uFillTx/>
                <a:latin typeface="Involve Medium"/>
              </a:rPr>
              <a:t>РЫНОК, СЕГМЕНТ РЫНКА, ПОТЕНЦИАЛЬНЫЙ ПОТРЕБИТЕЛЬ</a:t>
            </a:r>
            <a:endParaRPr lang="ru-RU" sz="1600" b="1" u="none" strike="noStrike" dirty="0">
              <a:solidFill>
                <a:srgbClr val="2B1A52"/>
              </a:solidFill>
              <a:effectLst/>
              <a:uFillTx/>
              <a:latin typeface="Arial"/>
            </a:endParaRPr>
          </a:p>
        </p:txBody>
      </p:sp>
      <p:sp>
        <p:nvSpPr>
          <p:cNvPr id="30" name="Скругленный прямоугольник 29"/>
          <p:cNvSpPr/>
          <p:nvPr/>
        </p:nvSpPr>
        <p:spPr>
          <a:xfrm>
            <a:off x="7147213" y="3431122"/>
            <a:ext cx="4698557" cy="645846"/>
          </a:xfrm>
          <a:prstGeom prst="roundRect">
            <a:avLst/>
          </a:prstGeom>
          <a:solidFill>
            <a:srgbClr val="AC9CFA"/>
          </a:solidFill>
          <a:effectLst>
            <a:outerShdw blurRad="63500" dist="50800" dir="5400000" algn="ctr" rotWithShape="0">
              <a:srgbClr val="6150A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одзаголовок 2"/>
          <p:cNvSpPr/>
          <p:nvPr/>
        </p:nvSpPr>
        <p:spPr>
          <a:xfrm>
            <a:off x="7189747" y="3518078"/>
            <a:ext cx="4613486" cy="83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endParaRPr lang="ru-RU" sz="1600" b="1" u="none" strike="noStrike" dirty="0">
              <a:solidFill>
                <a:srgbClr val="42287C"/>
              </a:solidFill>
              <a:effectLst/>
              <a:uFillTx/>
              <a:latin typeface="Arial"/>
            </a:endParaRPr>
          </a:p>
        </p:txBody>
      </p:sp>
      <p:sp>
        <p:nvSpPr>
          <p:cNvPr id="120" name="Подзаголовок 2"/>
          <p:cNvSpPr/>
          <p:nvPr/>
        </p:nvSpPr>
        <p:spPr>
          <a:xfrm>
            <a:off x="7189747" y="3518544"/>
            <a:ext cx="4386413" cy="83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ru-RU" sz="1600" b="1" dirty="0" smtClean="0">
                <a:solidFill>
                  <a:srgbClr val="2B1A52"/>
                </a:solidFill>
                <a:latin typeface="Involve Medium"/>
              </a:rPr>
              <a:t>ВОЗМОЖНЫЕ БАРЬЕРЫ ДЛЯ ВЫХОДА НА РЫНОК</a:t>
            </a:r>
            <a:endParaRPr lang="ru-RU" sz="1600" b="1" dirty="0">
              <a:solidFill>
                <a:srgbClr val="2B1A52"/>
              </a:solidFill>
              <a:latin typeface="Involve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100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" name="Таблица 133"/>
          <p:cNvGraphicFramePr/>
          <p:nvPr>
            <p:extLst>
              <p:ext uri="{D42A27DB-BD31-4B8C-83A1-F6EECF244321}">
                <p14:modId xmlns:p14="http://schemas.microsoft.com/office/powerpoint/2010/main" val="4197100064"/>
              </p:ext>
            </p:extLst>
          </p:nvPr>
        </p:nvGraphicFramePr>
        <p:xfrm>
          <a:off x="222326" y="2013938"/>
          <a:ext cx="8046602" cy="2233263"/>
        </p:xfrm>
        <a:graphic>
          <a:graphicData uri="http://schemas.openxmlformats.org/drawingml/2006/table">
            <a:tbl>
              <a:tblPr/>
              <a:tblGrid>
                <a:gridCol w="1870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7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8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91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1755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 smtClean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2029</a:t>
                      </a:r>
                      <a:endParaRPr lang="ru-RU" sz="1600" b="0" u="none" strike="noStrike" kern="1200" dirty="0">
                        <a:solidFill>
                          <a:srgbClr val="FFFFFF"/>
                        </a:solidFill>
                        <a:effectLst/>
                        <a:uFillTx/>
                        <a:latin typeface="Involve Medium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1 квартал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 квартал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3 квартал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4 квартал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9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</a:rPr>
                        <a:t>Конверсия поль</a:t>
                      </a: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зо</a:t>
                      </a:r>
                      <a:r>
                        <a:rPr lang="ru-RU" sz="1600" b="0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</a:rPr>
                        <a:t>вателей</a:t>
                      </a:r>
                      <a:endParaRPr lang="ru-RU" sz="16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Involve Medium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20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пользователей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25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пользователей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30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пользователей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40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пользователей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6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Средний чек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 smtClean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3 </a:t>
                      </a: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млн. руб.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 smtClean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6 </a:t>
                      </a: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млн. руб.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 smtClean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9 </a:t>
                      </a: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млн. руб.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 smtClean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21 </a:t>
                      </a: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млн. руб.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9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Количество продаж в месяц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5%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8%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10%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600" b="0" u="none" strike="noStrike" kern="1200" dirty="0">
                          <a:solidFill>
                            <a:srgbClr val="FFFFFF"/>
                          </a:solidFill>
                          <a:effectLst/>
                          <a:uFillTx/>
                          <a:latin typeface="Involve Medium"/>
                          <a:ea typeface="+mn-ea"/>
                          <a:cs typeface="+mn-cs"/>
                        </a:rPr>
                        <a:t>17,5%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5" name="Скругленный прямоугольник 7"/>
          <p:cNvSpPr/>
          <p:nvPr/>
        </p:nvSpPr>
        <p:spPr>
          <a:xfrm>
            <a:off x="-82260" y="637275"/>
            <a:ext cx="6011422" cy="679965"/>
          </a:xfrm>
          <a:prstGeom prst="roundRect">
            <a:avLst>
              <a:gd name="adj" fmla="val 16667"/>
            </a:avLst>
          </a:prstGeom>
          <a:solidFill>
            <a:srgbClr val="2B1A52"/>
          </a:solidFill>
          <a:ln>
            <a:noFill/>
          </a:ln>
          <a:effectLst>
            <a:outerShdw blurRad="63500" dist="50800" dir="5400000" algn="ctr" rotWithShape="0">
              <a:schemeClr val="tx1">
                <a:alpha val="4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671513" indent="-401638" defTabSz="914400">
              <a:lnSpc>
                <a:spcPct val="100000"/>
              </a:lnSpc>
            </a:pPr>
            <a:r>
              <a:rPr lang="ru-RU" sz="2400" b="1" u="none" strike="noStrike" dirty="0">
                <a:solidFill>
                  <a:schemeClr val="lt1"/>
                </a:solidFill>
                <a:effectLst/>
                <a:uFillTx/>
                <a:latin typeface="Involve Medium"/>
              </a:rPr>
              <a:t>ФИНАНСОВАЯ МОДЕЛЬ И РЫНОК</a:t>
            </a: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</p:txBody>
      </p:sp>
      <p:sp>
        <p:nvSpPr>
          <p:cNvPr id="126" name="Текст 2"/>
          <p:cNvSpPr/>
          <p:nvPr/>
        </p:nvSpPr>
        <p:spPr>
          <a:xfrm>
            <a:off x="222326" y="4448768"/>
            <a:ext cx="7781760" cy="2016686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t">
            <a:noAutofit/>
          </a:bodyPr>
          <a:lstStyle/>
          <a:p>
            <a:pPr marL="285750" indent="-285750" defTabSz="9144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FFF"/>
                </a:solidFill>
                <a:latin typeface="Involve Medium"/>
              </a:rPr>
              <a:t>В первые месяцы планируется привлекать по одному пользователю, в последующие месяцы это число должно увеличиваться.</a:t>
            </a:r>
          </a:p>
          <a:p>
            <a:pPr defTabSz="914400">
              <a:lnSpc>
                <a:spcPct val="100000"/>
              </a:lnSpc>
              <a:buClr>
                <a:srgbClr val="FFFFFF"/>
              </a:buClr>
            </a:pPr>
            <a:endParaRPr lang="ru-RU" dirty="0">
              <a:solidFill>
                <a:srgbClr val="FFFFFF"/>
              </a:solidFill>
              <a:latin typeface="Involve Medium"/>
            </a:endParaRPr>
          </a:p>
          <a:p>
            <a:pPr marL="285750" indent="-285750" defTabSz="9144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FFF"/>
                </a:solidFill>
                <a:latin typeface="Involve Medium"/>
              </a:rPr>
              <a:t>Среднее кол-во продаж в квартал </a:t>
            </a:r>
            <a:r>
              <a:rPr lang="ru-RU" dirty="0" smtClean="0">
                <a:solidFill>
                  <a:srgbClr val="FFFFFF"/>
                </a:solidFill>
                <a:latin typeface="Involve Medium"/>
              </a:rPr>
              <a:t>– 3</a:t>
            </a:r>
          </a:p>
          <a:p>
            <a:pPr marL="285750" indent="-285750" defTabSz="9144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endParaRPr lang="ru-RU" dirty="0">
              <a:solidFill>
                <a:srgbClr val="FFFFFF"/>
              </a:solidFill>
              <a:latin typeface="Involve Medium"/>
            </a:endParaRPr>
          </a:p>
          <a:p>
            <a:pPr marL="285750" indent="-285750">
              <a:buClr>
                <a:srgbClr val="FFFFFF"/>
              </a:buClr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FFFF"/>
                </a:solidFill>
                <a:latin typeface="Involve Medium"/>
              </a:rPr>
              <a:t>Примерная стоимость робота будет составлять </a:t>
            </a:r>
            <a:r>
              <a:rPr lang="ru-RU" dirty="0" smtClean="0">
                <a:solidFill>
                  <a:srgbClr val="FFFFFF"/>
                </a:solidFill>
                <a:latin typeface="Involve Medium"/>
              </a:rPr>
              <a:t>3млн</a:t>
            </a:r>
            <a:r>
              <a:rPr lang="ru-RU" dirty="0">
                <a:solidFill>
                  <a:srgbClr val="FFFFFF"/>
                </a:solidFill>
                <a:latin typeface="Involve Medium"/>
              </a:rPr>
              <a:t>. руб., следовательно, средний чек составит </a:t>
            </a:r>
            <a:r>
              <a:rPr lang="ru-RU" dirty="0" smtClean="0">
                <a:solidFill>
                  <a:srgbClr val="FFFFFF"/>
                </a:solidFill>
                <a:latin typeface="Involve Medium"/>
              </a:rPr>
              <a:t>9,75млн</a:t>
            </a:r>
            <a:r>
              <a:rPr lang="ru-RU" dirty="0">
                <a:solidFill>
                  <a:srgbClr val="FFFFFF"/>
                </a:solidFill>
                <a:latin typeface="Involve Medium"/>
              </a:rPr>
              <a:t>. руб.</a:t>
            </a:r>
          </a:p>
          <a:p>
            <a:pPr marL="285750" indent="-285750" defTabSz="914400">
              <a:lnSpc>
                <a:spcPct val="100000"/>
              </a:lnSpc>
              <a:buClr>
                <a:srgbClr val="FFFFFF"/>
              </a:buClr>
              <a:buFont typeface="Arial" panose="020B0604020202020204" pitchFamily="34" charset="0"/>
              <a:buChar char="•"/>
            </a:pPr>
            <a:endParaRPr lang="ru-RU" dirty="0">
              <a:solidFill>
                <a:srgbClr val="FFFFFF"/>
              </a:solidFill>
              <a:latin typeface="Involve Medium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316F71D4-83AF-3A9C-3C29-8DDD793E0F39}"/>
              </a:ext>
            </a:extLst>
          </p:cNvPr>
          <p:cNvGrpSpPr/>
          <p:nvPr/>
        </p:nvGrpSpPr>
        <p:grpSpPr>
          <a:xfrm>
            <a:off x="8557502" y="1522563"/>
            <a:ext cx="3318600" cy="3260880"/>
            <a:chOff x="8693580" y="1529640"/>
            <a:chExt cx="3318600" cy="3260880"/>
          </a:xfrm>
          <a:effectLst>
            <a:outerShdw blurRad="88900" dist="76200" dir="9600000" algn="ctr" rotWithShape="0">
              <a:schemeClr val="tx1">
                <a:alpha val="48000"/>
              </a:schemeClr>
            </a:outerShdw>
          </a:effectLst>
        </p:grpSpPr>
        <p:sp>
          <p:nvSpPr>
            <p:cNvPr id="127" name="Овал 5"/>
            <p:cNvSpPr/>
            <p:nvPr/>
          </p:nvSpPr>
          <p:spPr>
            <a:xfrm>
              <a:off x="8693580" y="1529640"/>
              <a:ext cx="3244653" cy="3260880"/>
            </a:xfrm>
            <a:prstGeom prst="ellipse">
              <a:avLst/>
            </a:prstGeom>
            <a:solidFill>
              <a:srgbClr val="2B1A52"/>
            </a:solidFill>
            <a:ln>
              <a:gradFill flip="none" rotWithShape="1">
                <a:gsLst>
                  <a:gs pos="0">
                    <a:srgbClr val="CFC2EC"/>
                  </a:gs>
                  <a:gs pos="28000">
                    <a:srgbClr val="8E70D2"/>
                  </a:gs>
                  <a:gs pos="63000">
                    <a:srgbClr val="3C2472"/>
                  </a:gs>
                  <a:gs pos="100000">
                    <a:srgbClr val="2B1A52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8" name="Овал 8"/>
            <p:cNvSpPr/>
            <p:nvPr/>
          </p:nvSpPr>
          <p:spPr>
            <a:xfrm>
              <a:off x="9406546" y="1879257"/>
              <a:ext cx="2605634" cy="2516780"/>
            </a:xfrm>
            <a:prstGeom prst="ellipse">
              <a:avLst/>
            </a:prstGeom>
            <a:solidFill>
              <a:srgbClr val="42287C"/>
            </a:solidFill>
            <a:ln>
              <a:gradFill flip="none" rotWithShape="1">
                <a:gsLst>
                  <a:gs pos="0">
                    <a:srgbClr val="CFC2EC"/>
                  </a:gs>
                  <a:gs pos="40000">
                    <a:srgbClr val="42287C"/>
                  </a:gs>
                  <a:gs pos="100000">
                    <a:srgbClr val="2B1A52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9" name="Овал 10"/>
            <p:cNvSpPr/>
            <p:nvPr/>
          </p:nvSpPr>
          <p:spPr>
            <a:xfrm>
              <a:off x="10065388" y="2192192"/>
              <a:ext cx="1946792" cy="1943043"/>
            </a:xfrm>
            <a:prstGeom prst="ellipse">
              <a:avLst/>
            </a:prstGeom>
            <a:solidFill>
              <a:srgbClr val="603AB6"/>
            </a:solidFill>
            <a:ln>
              <a:gradFill flip="none" rotWithShape="1">
                <a:gsLst>
                  <a:gs pos="0">
                    <a:srgbClr val="CFC2EC"/>
                  </a:gs>
                  <a:gs pos="76000">
                    <a:srgbClr val="603AB6"/>
                  </a:gs>
                  <a:gs pos="48000">
                    <a:srgbClr val="42287C"/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30" name="TextBox 1"/>
            <p:cNvSpPr/>
            <p:nvPr/>
          </p:nvSpPr>
          <p:spPr>
            <a:xfrm>
              <a:off x="8768084" y="2721729"/>
              <a:ext cx="717643" cy="95265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ТАМ</a:t>
              </a:r>
            </a:p>
            <a:p>
              <a:pPr>
                <a:lnSpc>
                  <a:spcPct val="100000"/>
                </a:lnSpc>
              </a:pPr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106,4 млрд. руб.</a:t>
              </a:r>
            </a:p>
          </p:txBody>
        </p:sp>
        <p:sp>
          <p:nvSpPr>
            <p:cNvPr id="131" name="TextBox 15"/>
            <p:cNvSpPr/>
            <p:nvPr/>
          </p:nvSpPr>
          <p:spPr>
            <a:xfrm>
              <a:off x="9506608" y="2721728"/>
              <a:ext cx="627103" cy="95265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SAM </a:t>
              </a:r>
            </a:p>
            <a:p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26,6 млрд. руб</a:t>
              </a:r>
              <a:r>
                <a:rPr lang="ru-RU" sz="1050" b="0" u="none" strike="noStrike" dirty="0">
                  <a:solidFill>
                    <a:schemeClr val="lt1"/>
                  </a:solidFill>
                  <a:effectLst/>
                  <a:uFillTx/>
                  <a:latin typeface="Century Gothic"/>
                  <a:ea typeface="Gilroy-Light"/>
                </a:rPr>
                <a:t>.</a:t>
              </a:r>
              <a:endParaRPr lang="ru-RU" sz="105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TextBox 16"/>
            <p:cNvSpPr/>
            <p:nvPr/>
          </p:nvSpPr>
          <p:spPr>
            <a:xfrm>
              <a:off x="10463132" y="2791475"/>
              <a:ext cx="1151303" cy="73721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SOM </a:t>
              </a:r>
              <a:endParaRPr lang="en-US" sz="1400" dirty="0">
                <a:solidFill>
                  <a:srgbClr val="FFFFFF"/>
                </a:solidFill>
                <a:latin typeface="Involve Medium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ru-RU" sz="1400" dirty="0" smtClean="0">
                  <a:solidFill>
                    <a:srgbClr val="FFFFFF"/>
                  </a:solidFill>
                  <a:latin typeface="Involve Medium"/>
                </a:rPr>
                <a:t>665 </a:t>
              </a:r>
              <a:r>
                <a:rPr lang="ru-RU" sz="1400" dirty="0">
                  <a:solidFill>
                    <a:srgbClr val="FFFFFF"/>
                  </a:solidFill>
                  <a:latin typeface="Involve Medium"/>
                </a:rPr>
                <a:t>млн. руб.</a:t>
              </a:r>
            </a:p>
          </p:txBody>
        </p:sp>
      </p:grpSp>
      <p:sp>
        <p:nvSpPr>
          <p:cNvPr id="133" name="TextBox 17"/>
          <p:cNvSpPr/>
          <p:nvPr/>
        </p:nvSpPr>
        <p:spPr>
          <a:xfrm>
            <a:off x="8421424" y="4866470"/>
            <a:ext cx="3516808" cy="15989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14400"/>
            <a:r>
              <a:rPr lang="ru-RU" sz="1400" dirty="0">
                <a:solidFill>
                  <a:srgbClr val="FFFFFF"/>
                </a:solidFill>
                <a:latin typeface="Involve Medium"/>
              </a:rPr>
              <a:t>ТАМ – Российский рынок промышленной робототехники</a:t>
            </a:r>
            <a:endParaRPr lang="en-US" sz="1400" dirty="0">
              <a:solidFill>
                <a:srgbClr val="FFFFFF"/>
              </a:solidFill>
              <a:latin typeface="Involve Medium"/>
            </a:endParaRPr>
          </a:p>
          <a:p>
            <a:pPr algn="ctr" defTabSz="914400"/>
            <a:endParaRPr lang="ru-RU" sz="1400" dirty="0">
              <a:solidFill>
                <a:srgbClr val="FFFFFF"/>
              </a:solidFill>
              <a:latin typeface="Involve Medium"/>
            </a:endParaRPr>
          </a:p>
          <a:p>
            <a:pPr algn="ctr" defTabSz="914400"/>
            <a:r>
              <a:rPr lang="en-US" sz="1400" dirty="0">
                <a:solidFill>
                  <a:srgbClr val="FFFFFF"/>
                </a:solidFill>
                <a:latin typeface="Involve Medium"/>
              </a:rPr>
              <a:t>SAM – </a:t>
            </a:r>
            <a:r>
              <a:rPr lang="ru-RU" sz="1400" dirty="0">
                <a:solidFill>
                  <a:srgbClr val="FFFFFF"/>
                </a:solidFill>
                <a:latin typeface="Involve Medium"/>
              </a:rPr>
              <a:t>Российский рынок сельскохозяйственной робототехники</a:t>
            </a:r>
            <a:endParaRPr lang="en-US" sz="1400" dirty="0">
              <a:solidFill>
                <a:srgbClr val="FFFFFF"/>
              </a:solidFill>
              <a:latin typeface="Involve Medium"/>
            </a:endParaRPr>
          </a:p>
          <a:p>
            <a:pPr algn="ctr" defTabSz="914400"/>
            <a:endParaRPr lang="ru-RU" sz="1400" dirty="0">
              <a:solidFill>
                <a:srgbClr val="FFFFFF"/>
              </a:solidFill>
              <a:latin typeface="Involve Medium"/>
            </a:endParaRPr>
          </a:p>
          <a:p>
            <a:pPr algn="ctr"/>
            <a:r>
              <a:rPr lang="en-US" sz="1400" dirty="0">
                <a:solidFill>
                  <a:srgbClr val="FFFFFF"/>
                </a:solidFill>
                <a:latin typeface="Involve Medium"/>
              </a:rPr>
              <a:t>SOM</a:t>
            </a:r>
            <a:r>
              <a:rPr lang="ru-RU" sz="1400" dirty="0">
                <a:solidFill>
                  <a:srgbClr val="FFFFFF"/>
                </a:solidFill>
                <a:latin typeface="Involve Medium"/>
              </a:rPr>
              <a:t> – </a:t>
            </a:r>
            <a:r>
              <a:rPr lang="ru-RU" sz="1400" dirty="0" smtClean="0">
                <a:solidFill>
                  <a:srgbClr val="FFFFFF"/>
                </a:solidFill>
                <a:latin typeface="Involve Medium"/>
              </a:rPr>
              <a:t>2.5</a:t>
            </a:r>
            <a:r>
              <a:rPr lang="ru-RU" sz="1400" dirty="0">
                <a:solidFill>
                  <a:srgbClr val="FFFFFF"/>
                </a:solidFill>
                <a:latin typeface="Involve Medium"/>
              </a:rPr>
              <a:t>% планируемого рынка</a:t>
            </a:r>
          </a:p>
        </p:txBody>
      </p:sp>
      <p:pic>
        <p:nvPicPr>
          <p:cNvPr id="135" name="Picture 7"/>
          <p:cNvPicPr/>
          <p:nvPr/>
        </p:nvPicPr>
        <p:blipFill>
          <a:blip r:embed="rId3"/>
          <a:stretch/>
        </p:blipFill>
        <p:spPr>
          <a:xfrm>
            <a:off x="10352880" y="58428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Рисунок 9"/>
          <p:cNvPicPr/>
          <p:nvPr/>
        </p:nvPicPr>
        <p:blipFill>
          <a:blip r:embed="rId4"/>
          <a:stretch/>
        </p:blipFill>
        <p:spPr>
          <a:xfrm>
            <a:off x="8540280" y="259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Заголовок 2"/>
          <p:cNvSpPr/>
          <p:nvPr/>
        </p:nvSpPr>
        <p:spPr>
          <a:xfrm>
            <a:off x="1476360" y="883619"/>
            <a:ext cx="9143280" cy="73224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42287C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ru-RU" sz="4400" b="1" u="none" strike="noStrike" dirty="0" smtClean="0">
                <a:solidFill>
                  <a:schemeClr val="lt1"/>
                </a:solidFill>
                <a:effectLst/>
                <a:uFillTx/>
                <a:latin typeface="Cygre ExtraBold"/>
                <a:ea typeface="Tahoma"/>
              </a:rPr>
              <a:t>Потоки финансов и специалисты</a:t>
            </a:r>
            <a:endParaRPr lang="ru-RU" sz="4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9" name="Picture 5"/>
          <p:cNvPicPr/>
          <p:nvPr/>
        </p:nvPicPr>
        <p:blipFill>
          <a:blip r:embed="rId2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Рисунок 7"/>
          <p:cNvPicPr/>
          <p:nvPr/>
        </p:nvPicPr>
        <p:blipFill>
          <a:blip r:embed="rId3">
            <a:lum bright="70000" contrast="-70000"/>
          </a:blip>
          <a:stretch/>
        </p:blipFill>
        <p:spPr>
          <a:xfrm>
            <a:off x="40032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Прямоугольник 140"/>
          <p:cNvSpPr/>
          <p:nvPr/>
        </p:nvSpPr>
        <p:spPr>
          <a:xfrm>
            <a:off x="461160" y="1662130"/>
            <a:ext cx="5697360" cy="12450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5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1. Ключевая техническая задача: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о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пределять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степень полива растения;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о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пределять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степень химической обработанности растения;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о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пределять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степень зрелости растения;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о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пределять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заболевание растения.</a:t>
            </a:r>
          </a:p>
        </p:txBody>
      </p:sp>
      <p:sp>
        <p:nvSpPr>
          <p:cNvPr id="142" name="Прямоугольник 141"/>
          <p:cNvSpPr/>
          <p:nvPr/>
        </p:nvSpPr>
        <p:spPr>
          <a:xfrm>
            <a:off x="400320" y="3054447"/>
            <a:ext cx="524736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5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2. Ресурсы проекта:</a:t>
            </a:r>
            <a:endParaRPr lang="ru-RU" sz="15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с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пециалисты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из области машинного обучения;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специалисты из области электроники;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мощности для обучения искусственного интеллекта;</a:t>
            </a: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платформа </a:t>
            </a:r>
            <a:r>
              <a:rPr lang="en-US" sz="1500" dirty="0">
                <a:solidFill>
                  <a:srgbClr val="FFFFFF"/>
                </a:solidFill>
                <a:latin typeface="Involve Medium"/>
              </a:rPr>
              <a:t>Raspberry </a:t>
            </a:r>
            <a:r>
              <a:rPr lang="en-US" sz="1500" dirty="0" smtClean="0">
                <a:solidFill>
                  <a:srgbClr val="FFFFFF"/>
                </a:solidFill>
                <a:latin typeface="Involve Medium"/>
              </a:rPr>
              <a:t>PI</a:t>
            </a: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, сервоприводы, провода;</a:t>
            </a:r>
            <a:endParaRPr lang="ru-RU" sz="1500" dirty="0">
              <a:solidFill>
                <a:srgbClr val="FFFFFF"/>
              </a:solidFill>
              <a:latin typeface="Involve Medium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dirty="0" smtClean="0">
                <a:solidFill>
                  <a:srgbClr val="FFFFFF"/>
                </a:solidFill>
                <a:latin typeface="Involve Medium"/>
              </a:rPr>
              <a:t>3D</a:t>
            </a: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-принтеры, </a:t>
            </a:r>
            <a:r>
              <a:rPr lang="en-US" sz="1500" dirty="0" smtClean="0">
                <a:solidFill>
                  <a:srgbClr val="FFFFFF"/>
                </a:solidFill>
                <a:latin typeface="Involve Medium"/>
              </a:rPr>
              <a:t>PLA</a:t>
            </a: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-пластик.</a:t>
            </a:r>
            <a:endParaRPr lang="ru-RU" sz="1500" dirty="0">
              <a:solidFill>
                <a:srgbClr val="FFFFFF"/>
              </a:solidFill>
              <a:latin typeface="Involve Medium"/>
            </a:endParaRPr>
          </a:p>
        </p:txBody>
      </p:sp>
      <p:sp>
        <p:nvSpPr>
          <p:cNvPr id="143" name="Прямоугольник 142"/>
          <p:cNvSpPr/>
          <p:nvPr/>
        </p:nvSpPr>
        <p:spPr>
          <a:xfrm>
            <a:off x="461160" y="4699647"/>
            <a:ext cx="458892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5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3. Затраты на реализацию проекта:</a:t>
            </a:r>
            <a:endParaRPr lang="ru-RU" sz="15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з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арплата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рабочим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;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а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ренда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помещений;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>
                <a:solidFill>
                  <a:srgbClr val="FFFFFF"/>
                </a:solidFill>
                <a:latin typeface="Involve Medium"/>
              </a:rPr>
              <a:t>а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ренда серверных мощностей для обучения нейронной сети.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с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ырьё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для производства.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Прямоугольник 143"/>
          <p:cNvSpPr/>
          <p:nvPr/>
        </p:nvSpPr>
        <p:spPr>
          <a:xfrm>
            <a:off x="6158520" y="1662130"/>
            <a:ext cx="5515200" cy="2399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5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4. Планы по формированию команды проекта:</a:t>
            </a:r>
            <a:endParaRPr lang="ru-RU" sz="15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-2412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Специалист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по электронике и робототехнике. 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Опыт работы в сфере – от 5 лет. Опыт в реализации </a:t>
            </a:r>
            <a:r>
              <a:rPr lang="ru-RU" sz="1500" b="0" u="none" strike="noStrike" dirty="0" err="1" smtClean="0">
                <a:solidFill>
                  <a:srgbClr val="FFFFFF"/>
                </a:solidFill>
                <a:effectLst/>
                <a:uFillTx/>
                <a:latin typeface="Involve Medium"/>
              </a:rPr>
              <a:t>стартап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-проектов – от 1 года.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Заключение договора ГПХ.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-2412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Специалист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по машинному обучению. 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Опыт работы в сфере – от 5 лет. Опыт в реализации </a:t>
            </a:r>
            <a:r>
              <a:rPr lang="ru-RU" sz="1500" dirty="0" err="1">
                <a:solidFill>
                  <a:srgbClr val="FFFFFF"/>
                </a:solidFill>
                <a:latin typeface="Involve Medium"/>
              </a:rPr>
              <a:t>стартап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-проектов – от 1 года. </a:t>
            </a:r>
            <a:r>
              <a:rPr lang="ru-RU" sz="15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Заключение договора ГПХ</a:t>
            </a: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.</a:t>
            </a:r>
          </a:p>
          <a:p>
            <a:pPr indent="-2412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 err="1" smtClean="0">
                <a:solidFill>
                  <a:srgbClr val="FFFFFF"/>
                </a:solidFill>
                <a:latin typeface="Involve Medium"/>
              </a:rPr>
              <a:t>Фулстек</a:t>
            </a: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 разработчик. 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Опыт работы в сфере – от 5 лет. Опыт в реализации </a:t>
            </a:r>
            <a:r>
              <a:rPr lang="ru-RU" sz="1500" dirty="0" err="1">
                <a:solidFill>
                  <a:srgbClr val="FFFFFF"/>
                </a:solidFill>
                <a:latin typeface="Involve Medium"/>
              </a:rPr>
              <a:t>стартап</a:t>
            </a:r>
            <a:r>
              <a:rPr lang="ru-RU" sz="1500" dirty="0">
                <a:solidFill>
                  <a:srgbClr val="FFFFFF"/>
                </a:solidFill>
                <a:latin typeface="Involve Medium"/>
              </a:rPr>
              <a:t>-проектов – от 1 года. Заключение договора ГПХ</a:t>
            </a: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.</a:t>
            </a:r>
            <a:endParaRPr lang="ru-RU" sz="15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Прямоугольник 144"/>
          <p:cNvSpPr/>
          <p:nvPr/>
        </p:nvSpPr>
        <p:spPr>
          <a:xfrm>
            <a:off x="6171210" y="4189146"/>
            <a:ext cx="5840893" cy="23992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ru-RU" sz="15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5. </a:t>
            </a:r>
            <a:r>
              <a:rPr lang="ru-RU" sz="1500" b="1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Планируемый способ получения дохода:</a:t>
            </a:r>
            <a:endParaRPr lang="ru-RU" sz="15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Потоки доходов:</a:t>
            </a: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Пробный период с возможностью покупки;</a:t>
            </a: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Онлайн-платформы;</a:t>
            </a: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Прямые продажи.</a:t>
            </a:r>
            <a:endParaRPr lang="ru-RU" sz="1500" b="0" u="none" strike="noStrike" dirty="0" smtClean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Способ выхода на рынок:</a:t>
            </a: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Онлайн и офлайн встречи;</a:t>
            </a: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dirty="0" smtClean="0">
                <a:solidFill>
                  <a:srgbClr val="FFFFFF"/>
                </a:solidFill>
                <a:latin typeface="Involve Medium"/>
              </a:rPr>
              <a:t>Презентация проекта на тематических форумах;</a:t>
            </a:r>
          </a:p>
          <a:p>
            <a:pPr marL="673200" lvl="1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5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</a:rPr>
              <a:t>Специальные предложения ( бесплатный пробный период/подарочная лицензия на определенный срок).</a:t>
            </a:r>
            <a:endParaRPr lang="ru-RU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Заголовок 3"/>
          <p:cNvSpPr/>
          <p:nvPr/>
        </p:nvSpPr>
        <p:spPr>
          <a:xfrm>
            <a:off x="1476360" y="657843"/>
            <a:ext cx="9143280" cy="73224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42287C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 defTabSz="914400">
              <a:lnSpc>
                <a:spcPct val="90000"/>
              </a:lnSpc>
            </a:pPr>
            <a:r>
              <a:rPr lang="ru-RU" sz="4400" b="1" u="none" strike="noStrike" dirty="0" smtClean="0">
                <a:solidFill>
                  <a:schemeClr val="lt1"/>
                </a:solidFill>
                <a:effectLst/>
                <a:uFillTx/>
                <a:latin typeface="Cygre ExtraBold"/>
                <a:ea typeface="Tahoma"/>
              </a:rPr>
              <a:t>Команда проекта</a:t>
            </a:r>
            <a:endParaRPr lang="ru-RU" sz="4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" name="Picture 6"/>
          <p:cNvPicPr/>
          <p:nvPr/>
        </p:nvPicPr>
        <p:blipFill>
          <a:blip r:embed="rId3"/>
          <a:stretch/>
        </p:blipFill>
        <p:spPr>
          <a:xfrm>
            <a:off x="10352520" y="745200"/>
            <a:ext cx="1223640" cy="57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Рисунок 8"/>
          <p:cNvPicPr/>
          <p:nvPr/>
        </p:nvPicPr>
        <p:blipFill>
          <a:blip r:embed="rId4">
            <a:lum bright="70000" contrast="-70000"/>
          </a:blip>
          <a:stretch/>
        </p:blipFill>
        <p:spPr>
          <a:xfrm>
            <a:off x="400320" y="394200"/>
            <a:ext cx="1343160" cy="105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Полилиния: фигура 149"/>
          <p:cNvSpPr/>
          <p:nvPr/>
        </p:nvSpPr>
        <p:spPr>
          <a:xfrm>
            <a:off x="573067" y="2067603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CAC0FC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Прямоугольник 150"/>
          <p:cNvSpPr/>
          <p:nvPr/>
        </p:nvSpPr>
        <p:spPr>
          <a:xfrm>
            <a:off x="850087" y="2117298"/>
            <a:ext cx="2008800" cy="596880"/>
          </a:xfrm>
          <a:prstGeom prst="rect">
            <a:avLst/>
          </a:prstGeom>
          <a:noFill/>
          <a:ln w="0">
            <a:noFill/>
          </a:ln>
          <a:effectLst>
            <a:glow rad="1282700">
              <a:schemeClr val="accent1">
                <a:alpha val="40000"/>
              </a:schemeClr>
            </a:glow>
            <a:outerShdw blurRad="63500" dist="50800" dir="5400000" algn="ctr" rotWithShape="0">
              <a:srgbClr val="6150A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6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Польшин Артем Денисович</a:t>
            </a:r>
            <a:endParaRPr lang="ru-RU" sz="16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Прямоугольник 151"/>
          <p:cNvSpPr/>
          <p:nvPr/>
        </p:nvSpPr>
        <p:spPr>
          <a:xfrm>
            <a:off x="659827" y="2722485"/>
            <a:ext cx="2389320" cy="30686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1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Определение цели и гипотезы проекта.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информации и выбор модели нейронной сети.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Разработка траектории развития.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 анализ конкурентов.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Расчёт рынков </a:t>
            </a:r>
            <a:r>
              <a:rPr lang="en-US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TAM, SAM, SOM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акселерационной программы «</a:t>
            </a:r>
            <a:r>
              <a:rPr lang="ru-RU" sz="11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Маяк»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научной лаборатории 3D-моделирования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СтГАУ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</p:txBody>
      </p:sp>
      <p:sp>
        <p:nvSpPr>
          <p:cNvPr id="153" name="Полилиния: фигура 152"/>
          <p:cNvSpPr/>
          <p:nvPr/>
        </p:nvSpPr>
        <p:spPr>
          <a:xfrm>
            <a:off x="3405367" y="2051043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CAC0FC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Полилиния: фигура 153"/>
          <p:cNvSpPr/>
          <p:nvPr/>
        </p:nvSpPr>
        <p:spPr>
          <a:xfrm>
            <a:off x="9090307" y="2054643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CAC0FC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Полилиния: фигура 154"/>
          <p:cNvSpPr/>
          <p:nvPr/>
        </p:nvSpPr>
        <p:spPr>
          <a:xfrm>
            <a:off x="6269707" y="2051043"/>
            <a:ext cx="2527920" cy="3921480"/>
          </a:xfrm>
          <a:custGeom>
            <a:avLst/>
            <a:gdLst>
              <a:gd name="textAreaLeft" fmla="*/ 123120 w 2527920"/>
              <a:gd name="textAreaRight" fmla="*/ 2405160 w 2527920"/>
              <a:gd name="textAreaTop" fmla="*/ 123120 h 3921480"/>
              <a:gd name="textAreaBottom" fmla="*/ 3798720 h 3921480"/>
            </a:gdLst>
            <a:ahLst/>
            <a:cxnLst/>
            <a:rect l="textAreaLeft" t="textAreaTop" r="textAreaRight" b="textAreaBottom"/>
            <a:pathLst>
              <a:path w="21600" h="33504">
                <a:moveTo>
                  <a:pt x="3600" y="0"/>
                </a:moveTo>
                <a:arcTo wR="3600" hR="3600" stAng="16200000" swAng="-5400000"/>
                <a:lnTo>
                  <a:pt x="0" y="29904"/>
                </a:lnTo>
                <a:arcTo wR="3600" hR="3600" stAng="10800000" swAng="-5400000"/>
                <a:lnTo>
                  <a:pt x="18000" y="3350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CAC0FC">
              <a:alpha val="4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Прямоугольник 155"/>
          <p:cNvSpPr/>
          <p:nvPr/>
        </p:nvSpPr>
        <p:spPr>
          <a:xfrm>
            <a:off x="3543967" y="2713083"/>
            <a:ext cx="2389320" cy="31070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Определение цели и гипотезы проекта.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 разработка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датасетов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Разработка бизнес-модели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 анализ конкурентов.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Оформление презентации.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Расчёт рынков </a:t>
            </a:r>
            <a:r>
              <a:rPr lang="en-US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TAM, SAM, SOM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акселерационной программы «Маяк»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Участник научной лаборатории 3D-моделирования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СтГАУ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Прямоугольник 156"/>
          <p:cNvSpPr/>
          <p:nvPr/>
        </p:nvSpPr>
        <p:spPr>
          <a:xfrm>
            <a:off x="3696551" y="2117298"/>
            <a:ext cx="2008800" cy="59688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6150A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600" b="1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Оберемко</a:t>
            </a:r>
            <a:r>
              <a:rPr lang="ru-RU" sz="16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 Анна Алексеевна</a:t>
            </a:r>
            <a:endParaRPr lang="ru-RU" sz="16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Прямоугольник 157"/>
          <p:cNvSpPr/>
          <p:nvPr/>
        </p:nvSpPr>
        <p:spPr>
          <a:xfrm>
            <a:off x="6408307" y="2708499"/>
            <a:ext cx="2389320" cy="275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информации и выбор платформы для реализации технической части проекта.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Руководитель научной лаборатории 3D-моделирования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СтГАУ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Заведующий кафедрой </a:t>
            </a:r>
            <a:r>
              <a:rPr lang="ru-RU" sz="11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инжиниринга 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и </a:t>
            </a:r>
            <a:r>
              <a:rPr lang="ru-RU" sz="11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IT-решений </a:t>
            </a:r>
            <a:r>
              <a:rPr lang="ru-RU" sz="1100" b="0" u="none" strike="noStrike" dirty="0" err="1" smtClean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СтГАУ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Руководитель выпускных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квалификционных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 работ, научный руководитель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стартап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-проектов.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Прямоугольник 158"/>
          <p:cNvSpPr/>
          <p:nvPr/>
        </p:nvSpPr>
        <p:spPr>
          <a:xfrm>
            <a:off x="9228907" y="2719707"/>
            <a:ext cx="2389320" cy="154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spcAft>
                <a:spcPts val="300"/>
              </a:spcAft>
            </a:pPr>
            <a:r>
              <a:rPr lang="ru-RU" sz="11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Вклад в развитие проекта и квалификация:</a:t>
            </a:r>
            <a:endParaRPr lang="ru-RU" sz="11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Поиск информации и выбор модели нейронной сети.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300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Преподаватель кафедры </a:t>
            </a:r>
            <a:r>
              <a:rPr lang="ru-RU" sz="11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инжиниринга 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и </a:t>
            </a:r>
            <a:r>
              <a:rPr lang="ru-RU" sz="1100" b="0" u="none" strike="noStrike" dirty="0" smtClean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IT-решений </a:t>
            </a:r>
            <a:r>
              <a:rPr lang="ru-RU" sz="1100" b="0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СтГАУ</a:t>
            </a:r>
            <a:r>
              <a:rPr lang="ru-RU" sz="11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  <a:ea typeface="Jost"/>
              </a:rPr>
              <a:t>.</a:t>
            </a: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300"/>
              </a:spcAft>
            </a:pPr>
            <a:endParaRPr lang="ru-RU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Прямоугольник 159"/>
          <p:cNvSpPr/>
          <p:nvPr/>
        </p:nvSpPr>
        <p:spPr>
          <a:xfrm>
            <a:off x="6477970" y="2111619"/>
            <a:ext cx="2008800" cy="59688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6150A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600" b="1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Шлаев</a:t>
            </a:r>
            <a:r>
              <a:rPr lang="ru-RU" sz="16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 Дмитрий Валерьевич</a:t>
            </a:r>
            <a:endParaRPr lang="ru-RU" sz="16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Прямоугольник 160"/>
          <p:cNvSpPr/>
          <p:nvPr/>
        </p:nvSpPr>
        <p:spPr>
          <a:xfrm>
            <a:off x="9419167" y="2117957"/>
            <a:ext cx="2008800" cy="596880"/>
          </a:xfrm>
          <a:prstGeom prst="rect">
            <a:avLst/>
          </a:prstGeom>
          <a:noFill/>
          <a:ln w="0">
            <a:noFill/>
          </a:ln>
          <a:effectLst>
            <a:outerShdw blurRad="63500" dist="50800" dir="5400000" algn="ctr" rotWithShape="0">
              <a:srgbClr val="6150A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600" b="1" u="none" strike="noStrike" dirty="0" err="1">
                <a:solidFill>
                  <a:srgbClr val="FFFFFF"/>
                </a:solidFill>
                <a:effectLst/>
                <a:uFillTx/>
                <a:latin typeface="Involve Medium"/>
              </a:rPr>
              <a:t>Огур</a:t>
            </a:r>
            <a:r>
              <a:rPr lang="ru-RU" sz="1600" b="1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 Максим Геннадьевич</a:t>
            </a:r>
            <a:endParaRPr lang="ru-RU" sz="1600" b="1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" name="Группа 3"/>
          <p:cNvGrpSpPr/>
          <p:nvPr/>
        </p:nvGrpSpPr>
        <p:grpSpPr>
          <a:xfrm>
            <a:off x="869358" y="5830323"/>
            <a:ext cx="1976065" cy="468936"/>
            <a:chOff x="1520614" y="6164496"/>
            <a:chExt cx="1676366" cy="410400"/>
          </a:xfrm>
          <a:solidFill>
            <a:srgbClr val="2B1A52"/>
          </a:solidFill>
        </p:grpSpPr>
        <p:sp>
          <p:nvSpPr>
            <p:cNvPr id="162" name="Скругленный прямоугольник 1"/>
            <p:cNvSpPr/>
            <p:nvPr/>
          </p:nvSpPr>
          <p:spPr>
            <a:xfrm>
              <a:off x="1700064" y="6164496"/>
              <a:ext cx="1160496" cy="410400"/>
            </a:xfrm>
            <a:prstGeom prst="roundRect">
              <a:avLst>
                <a:gd name="adj" fmla="val 113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" name="Блок-схема: задержка 2"/>
            <p:cNvSpPr/>
            <p:nvPr/>
          </p:nvSpPr>
          <p:spPr>
            <a:xfrm>
              <a:off x="2824128" y="6164496"/>
              <a:ext cx="372852" cy="410400"/>
            </a:xfrm>
            <a:prstGeom prst="flowChartDelay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Блок-схема: задержка 36"/>
            <p:cNvSpPr/>
            <p:nvPr/>
          </p:nvSpPr>
          <p:spPr>
            <a:xfrm flipH="1">
              <a:off x="1520614" y="6164496"/>
              <a:ext cx="372411" cy="410400"/>
            </a:xfrm>
            <a:prstGeom prst="flowChartDelay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128717" y="5908765"/>
            <a:ext cx="1412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solidFill>
                  <a:srgbClr val="FFFFFF"/>
                </a:solidFill>
                <a:latin typeface="Involve Medium"/>
              </a:rPr>
              <a:t>Лидер проекта</a:t>
            </a:r>
          </a:p>
        </p:txBody>
      </p:sp>
      <p:grpSp>
        <p:nvGrpSpPr>
          <p:cNvPr id="6" name="Группа 5"/>
          <p:cNvGrpSpPr/>
          <p:nvPr/>
        </p:nvGrpSpPr>
        <p:grpSpPr>
          <a:xfrm>
            <a:off x="3681474" y="5823950"/>
            <a:ext cx="1976065" cy="468936"/>
            <a:chOff x="3683831" y="5936400"/>
            <a:chExt cx="1976065" cy="468936"/>
          </a:xfrm>
        </p:grpSpPr>
        <p:grpSp>
          <p:nvGrpSpPr>
            <p:cNvPr id="48" name="Группа 47"/>
            <p:cNvGrpSpPr/>
            <p:nvPr/>
          </p:nvGrpSpPr>
          <p:grpSpPr>
            <a:xfrm>
              <a:off x="3683831" y="5936400"/>
              <a:ext cx="1976065" cy="468936"/>
              <a:chOff x="1520614" y="6164496"/>
              <a:chExt cx="1676366" cy="410400"/>
            </a:xfrm>
            <a:solidFill>
              <a:srgbClr val="2B1A52"/>
            </a:solidFill>
          </p:grpSpPr>
          <p:sp>
            <p:nvSpPr>
              <p:cNvPr id="49" name="Скругленный прямоугольник 1"/>
              <p:cNvSpPr/>
              <p:nvPr/>
            </p:nvSpPr>
            <p:spPr>
              <a:xfrm>
                <a:off x="1700064" y="6164496"/>
                <a:ext cx="1160496" cy="410400"/>
              </a:xfrm>
              <a:prstGeom prst="roundRect">
                <a:avLst>
                  <a:gd name="adj" fmla="val 1135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50" name="Блок-схема: задержка 49"/>
              <p:cNvSpPr/>
              <p:nvPr/>
            </p:nvSpPr>
            <p:spPr>
              <a:xfrm>
                <a:off x="2824128" y="6164496"/>
                <a:ext cx="372852" cy="410400"/>
              </a:xfrm>
              <a:prstGeom prst="flowChartDelay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1" name="Блок-схема: задержка 50"/>
              <p:cNvSpPr/>
              <p:nvPr/>
            </p:nvSpPr>
            <p:spPr>
              <a:xfrm flipH="1">
                <a:off x="1520614" y="6164496"/>
                <a:ext cx="372411" cy="410400"/>
              </a:xfrm>
              <a:prstGeom prst="flowChartDelay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</p:grpSp>
        <p:sp>
          <p:nvSpPr>
            <p:cNvPr id="165" name="Прямоугольник 164"/>
            <p:cNvSpPr/>
            <p:nvPr/>
          </p:nvSpPr>
          <p:spPr>
            <a:xfrm>
              <a:off x="3837508" y="6017869"/>
              <a:ext cx="1731600" cy="28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1400" b="0" u="none" strike="noStrike" dirty="0">
                  <a:solidFill>
                    <a:srgbClr val="FFFFFF"/>
                  </a:solidFill>
                  <a:effectLst/>
                  <a:uFillTx/>
                  <a:latin typeface="Involve Medium"/>
                </a:rPr>
                <a:t>Участник проекта</a:t>
              </a:r>
              <a:endParaRPr lang="ru-RU" sz="14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2" name="Группа 51"/>
          <p:cNvGrpSpPr/>
          <p:nvPr/>
        </p:nvGrpSpPr>
        <p:grpSpPr>
          <a:xfrm>
            <a:off x="6586854" y="5811693"/>
            <a:ext cx="1976065" cy="468936"/>
            <a:chOff x="1520614" y="6164496"/>
            <a:chExt cx="1676366" cy="410400"/>
          </a:xfrm>
          <a:solidFill>
            <a:srgbClr val="2B1A52"/>
          </a:solidFill>
        </p:grpSpPr>
        <p:sp>
          <p:nvSpPr>
            <p:cNvPr id="53" name="Скругленный прямоугольник 1"/>
            <p:cNvSpPr/>
            <p:nvPr/>
          </p:nvSpPr>
          <p:spPr>
            <a:xfrm>
              <a:off x="1700064" y="6164496"/>
              <a:ext cx="1160496" cy="410400"/>
            </a:xfrm>
            <a:prstGeom prst="roundRect">
              <a:avLst>
                <a:gd name="adj" fmla="val 1135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endParaRPr lang="ru-RU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4" name="Блок-схема: задержка 53"/>
            <p:cNvSpPr/>
            <p:nvPr/>
          </p:nvSpPr>
          <p:spPr>
            <a:xfrm>
              <a:off x="2824128" y="6164496"/>
              <a:ext cx="372852" cy="410400"/>
            </a:xfrm>
            <a:prstGeom prst="flowChartDelay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5" name="Блок-схема: задержка 54"/>
            <p:cNvSpPr/>
            <p:nvPr/>
          </p:nvSpPr>
          <p:spPr>
            <a:xfrm flipH="1">
              <a:off x="1520614" y="6164496"/>
              <a:ext cx="372411" cy="410400"/>
            </a:xfrm>
            <a:prstGeom prst="flowChartDelay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167" name="Прямоугольник 166"/>
          <p:cNvSpPr/>
          <p:nvPr/>
        </p:nvSpPr>
        <p:spPr>
          <a:xfrm>
            <a:off x="6571759" y="5769267"/>
            <a:ext cx="1991160" cy="48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spAutoFit/>
          </a:bodyPr>
          <a:lstStyle/>
          <a:p>
            <a:pPr algn="ctr">
              <a:lnSpc>
                <a:spcPct val="100000"/>
              </a:lnSpc>
            </a:pPr>
            <a:r>
              <a:rPr lang="ru-RU" sz="1400" b="0" u="none" strike="noStrike" dirty="0">
                <a:solidFill>
                  <a:srgbClr val="FFFFFF"/>
                </a:solidFill>
                <a:effectLst/>
                <a:uFillTx/>
                <a:latin typeface="Involve Medium"/>
              </a:rPr>
              <a:t>Научный руководитель</a:t>
            </a:r>
            <a:endParaRPr lang="ru-RU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1" name="Группа 60"/>
          <p:cNvGrpSpPr/>
          <p:nvPr/>
        </p:nvGrpSpPr>
        <p:grpSpPr>
          <a:xfrm>
            <a:off x="9360060" y="5776359"/>
            <a:ext cx="1976065" cy="468936"/>
            <a:chOff x="3683831" y="5936400"/>
            <a:chExt cx="1976065" cy="468936"/>
          </a:xfrm>
        </p:grpSpPr>
        <p:grpSp>
          <p:nvGrpSpPr>
            <p:cNvPr id="62" name="Группа 61"/>
            <p:cNvGrpSpPr/>
            <p:nvPr/>
          </p:nvGrpSpPr>
          <p:grpSpPr>
            <a:xfrm>
              <a:off x="3683831" y="5936400"/>
              <a:ext cx="1976065" cy="468936"/>
              <a:chOff x="1520614" y="6164496"/>
              <a:chExt cx="1676366" cy="410400"/>
            </a:xfrm>
            <a:solidFill>
              <a:srgbClr val="2B1A52"/>
            </a:solidFill>
          </p:grpSpPr>
          <p:sp>
            <p:nvSpPr>
              <p:cNvPr id="64" name="Скругленный прямоугольник 1"/>
              <p:cNvSpPr/>
              <p:nvPr/>
            </p:nvSpPr>
            <p:spPr>
              <a:xfrm>
                <a:off x="1700064" y="6164496"/>
                <a:ext cx="1160496" cy="410400"/>
              </a:xfrm>
              <a:prstGeom prst="roundRect">
                <a:avLst>
                  <a:gd name="adj" fmla="val 1135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endParaRPr lang="ru-RU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sp>
            <p:nvSpPr>
              <p:cNvPr id="65" name="Блок-схема: задержка 64"/>
              <p:cNvSpPr/>
              <p:nvPr/>
            </p:nvSpPr>
            <p:spPr>
              <a:xfrm>
                <a:off x="2824128" y="6164496"/>
                <a:ext cx="372852" cy="410400"/>
              </a:xfrm>
              <a:prstGeom prst="flowChartDelay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6" name="Блок-схема: задержка 65"/>
              <p:cNvSpPr/>
              <p:nvPr/>
            </p:nvSpPr>
            <p:spPr>
              <a:xfrm flipH="1">
                <a:off x="1520614" y="6164496"/>
                <a:ext cx="372411" cy="410400"/>
              </a:xfrm>
              <a:prstGeom prst="flowChartDelay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</p:grpSp>
        <p:sp>
          <p:nvSpPr>
            <p:cNvPr id="63" name="Прямоугольник 62"/>
            <p:cNvSpPr/>
            <p:nvPr/>
          </p:nvSpPr>
          <p:spPr>
            <a:xfrm>
              <a:off x="3819454" y="6020291"/>
              <a:ext cx="1731600" cy="28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1400" b="0" u="none" strike="noStrike" dirty="0">
                  <a:solidFill>
                    <a:srgbClr val="FFFFFF"/>
                  </a:solidFill>
                  <a:effectLst/>
                  <a:uFillTx/>
                  <a:latin typeface="Involve Medium"/>
                </a:rPr>
                <a:t>Участник проекта</a:t>
              </a:r>
              <a:endParaRPr lang="ru-RU" sz="1400" b="0" u="none" strike="noStrike" dirty="0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9256F2"/>
            </a:gs>
            <a:gs pos="31000">
              <a:srgbClr val="7F46FD"/>
            </a:gs>
            <a:gs pos="90000">
              <a:srgbClr val="394F9A"/>
            </a:gs>
            <a:gs pos="97000">
              <a:srgbClr val="394F9A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Прямоугольник: скругленные углы 3"/>
          <p:cNvSpPr/>
          <p:nvPr/>
        </p:nvSpPr>
        <p:spPr>
          <a:xfrm>
            <a:off x="238680" y="212040"/>
            <a:ext cx="11714040" cy="6479640"/>
          </a:xfrm>
          <a:prstGeom prst="roundRect">
            <a:avLst>
              <a:gd name="adj" fmla="val 6033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Google Shape;178;p9"/>
          <p:cNvSpPr/>
          <p:nvPr/>
        </p:nvSpPr>
        <p:spPr>
          <a:xfrm>
            <a:off x="120239" y="538920"/>
            <a:ext cx="5731921" cy="563400"/>
          </a:xfrm>
          <a:prstGeom prst="roundRect">
            <a:avLst>
              <a:gd name="adj" fmla="val 16667"/>
            </a:avLst>
          </a:prstGeom>
          <a:solidFill>
            <a:srgbClr val="13196B"/>
          </a:solidFill>
          <a:ln w="0">
            <a:noFill/>
          </a:ln>
          <a:effectLst>
            <a:outerShdw blurRad="63500" dist="76200" dir="8400000" algn="ctr" rotWithShape="0">
              <a:schemeClr val="tx1">
                <a:alpha val="62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671513" indent="136525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2400" b="1" u="none" strike="noStrike" dirty="0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СПАСИБО ЗА ВНИМАНИЕ!</a:t>
            </a: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179;p9"/>
          <p:cNvSpPr/>
          <p:nvPr/>
        </p:nvSpPr>
        <p:spPr>
          <a:xfrm>
            <a:off x="1990959" y="1429200"/>
            <a:ext cx="6964920" cy="654120"/>
          </a:xfrm>
          <a:prstGeom prst="roundRect">
            <a:avLst>
              <a:gd name="adj" fmla="val 50000"/>
            </a:avLst>
          </a:prstGeom>
          <a:solidFill>
            <a:srgbClr val="13196B"/>
          </a:solidFill>
          <a:ln w="0">
            <a:noFill/>
          </a:ln>
          <a:effectLst>
            <a:outerShdw blurRad="63500" dist="50800" dir="8400000" algn="ctr" rotWithShape="0">
              <a:schemeClr val="tx1">
                <a:alpha val="63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671760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800" b="1" u="none" strike="noStrike" dirty="0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Есть вопросы, которые не успели задать?</a:t>
            </a:r>
            <a:endParaRPr lang="ru-RU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180;p9"/>
          <p:cNvSpPr/>
          <p:nvPr/>
        </p:nvSpPr>
        <p:spPr>
          <a:xfrm>
            <a:off x="6333840" y="2092500"/>
            <a:ext cx="3776040" cy="654120"/>
          </a:xfrm>
          <a:prstGeom prst="roundRect">
            <a:avLst>
              <a:gd name="adj" fmla="val 50000"/>
            </a:avLst>
          </a:prstGeom>
          <a:solidFill>
            <a:srgbClr val="868FE2"/>
          </a:solidFill>
          <a:ln w="0">
            <a:noFill/>
          </a:ln>
          <a:effectLst>
            <a:outerShdw blurRad="63500" dist="50800" dir="7800000" algn="ctr" rotWithShape="0">
              <a:schemeClr val="tx1">
                <a:alpha val="47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671760"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1800" b="1" u="none" strike="noStrike">
                <a:solidFill>
                  <a:schemeClr val="lt1"/>
                </a:solidFill>
                <a:effectLst/>
                <a:uFillTx/>
                <a:latin typeface="Century Gothic"/>
                <a:ea typeface="Century Gothic"/>
              </a:rPr>
              <a:t>Свяжитесь с нами!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Группа 2"/>
          <p:cNvGrpSpPr/>
          <p:nvPr/>
        </p:nvGrpSpPr>
        <p:grpSpPr>
          <a:xfrm>
            <a:off x="7439417" y="2990614"/>
            <a:ext cx="2878920" cy="3272931"/>
            <a:chOff x="7344227" y="2972938"/>
            <a:chExt cx="2878920" cy="3272931"/>
          </a:xfrm>
          <a:effectLst>
            <a:outerShdw blurRad="63500" dist="101600" dir="7800000" algn="ctr" rotWithShape="0">
              <a:schemeClr val="tx1">
                <a:alpha val="31000"/>
              </a:schemeClr>
            </a:outerShdw>
          </a:effectLst>
        </p:grpSpPr>
        <p:sp>
          <p:nvSpPr>
            <p:cNvPr id="173" name="Прямоугольник 12"/>
            <p:cNvSpPr/>
            <p:nvPr/>
          </p:nvSpPr>
          <p:spPr>
            <a:xfrm>
              <a:off x="7461947" y="3692218"/>
              <a:ext cx="12150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ru-RU" sz="1800" b="0" u="none" strike="noStrike">
                  <a:solidFill>
                    <a:srgbClr val="14243E"/>
                  </a:solidFill>
                  <a:effectLst/>
                  <a:uFillTx/>
                  <a:latin typeface="Involve SemiBold"/>
                </a:rPr>
                <a:t>Логотип</a:t>
              </a:r>
              <a:endParaRPr lang="ru-RU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8" name="Изображение 10"/>
            <p:cNvPicPr/>
            <p:nvPr/>
          </p:nvPicPr>
          <p:blipFill rotWithShape="1">
            <a:blip r:embed="rId2"/>
            <a:srcRect b="4338"/>
            <a:stretch/>
          </p:blipFill>
          <p:spPr>
            <a:xfrm>
              <a:off x="7344227" y="2972938"/>
              <a:ext cx="2878920" cy="2750931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9" name="Изображение 12"/>
            <p:cNvPicPr/>
            <p:nvPr/>
          </p:nvPicPr>
          <p:blipFill>
            <a:blip r:embed="rId3"/>
            <a:stretch/>
          </p:blipFill>
          <p:spPr>
            <a:xfrm>
              <a:off x="7344227" y="5723869"/>
              <a:ext cx="2878920" cy="5220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80" name="TextBox 4"/>
          <p:cNvSpPr/>
          <p:nvPr/>
        </p:nvSpPr>
        <p:spPr>
          <a:xfrm>
            <a:off x="825821" y="3300480"/>
            <a:ext cx="5161092" cy="25623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 dirty="0">
                <a:solidFill>
                  <a:schemeClr val="lt1"/>
                </a:solidFill>
                <a:effectLst/>
                <a:uFillTx/>
                <a:latin typeface="Involve Medium"/>
                <a:ea typeface="Microsoft YaHei"/>
              </a:rPr>
              <a:t>Номер заявки </a:t>
            </a:r>
            <a:r>
              <a:rPr lang="ru-RU" sz="2400" b="0" u="none" strike="noStrike" dirty="0">
                <a:solidFill>
                  <a:schemeClr val="lt1"/>
                </a:solidFill>
                <a:effectLst/>
                <a:uFillTx/>
                <a:latin typeface="Involve Medium"/>
                <a:ea typeface="Tahoma"/>
              </a:rPr>
              <a:t>— СтС-618733</a:t>
            </a: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 dirty="0">
                <a:solidFill>
                  <a:schemeClr val="lt1"/>
                </a:solidFill>
                <a:effectLst/>
                <a:uFillTx/>
                <a:latin typeface="Involve Medium"/>
              </a:rPr>
              <a:t>Польшин Артем Денисович</a:t>
            </a: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 dirty="0">
                <a:solidFill>
                  <a:schemeClr val="lt1"/>
                </a:solidFill>
                <a:effectLst/>
                <a:uFillTx/>
                <a:latin typeface="Involve Medium"/>
              </a:rPr>
              <a:t>8-906-492-62-05</a:t>
            </a: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  <a:p>
            <a:pPr marL="216000" indent="-216000" defTabSz="914400">
              <a:lnSpc>
                <a:spcPct val="110000"/>
              </a:lnSpc>
              <a:spcBef>
                <a:spcPts val="1191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 dirty="0">
                <a:solidFill>
                  <a:schemeClr val="lt1"/>
                </a:solidFill>
                <a:effectLst/>
                <a:uFillTx/>
                <a:latin typeface="Involve Medium"/>
              </a:rPr>
              <a:t>89064926205</a:t>
            </a:r>
            <a:r>
              <a:rPr lang="en-US" sz="2400" b="0" u="none" strike="noStrike" dirty="0">
                <a:solidFill>
                  <a:schemeClr val="lt1"/>
                </a:solidFill>
                <a:effectLst/>
                <a:uFillTx/>
                <a:latin typeface="Involve Medium"/>
              </a:rPr>
              <a:t>a@gmail.com</a:t>
            </a:r>
            <a:endParaRPr lang="ru-RU" sz="2400" b="0" u="none" strike="noStrike" dirty="0">
              <a:solidFill>
                <a:srgbClr val="FFFFFF"/>
              </a:solidFill>
              <a:effectLst/>
              <a:uFillTx/>
              <a:latin typeface="Involve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502</TotalTime>
  <Words>1206</Words>
  <Application>Microsoft Office PowerPoint</Application>
  <PresentationFormat>Широкоэкранный</PresentationFormat>
  <Paragraphs>181</Paragraphs>
  <Slides>9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26" baseType="lpstr">
      <vt:lpstr>Microsoft YaHei</vt:lpstr>
      <vt:lpstr>Aptos</vt:lpstr>
      <vt:lpstr>Arial</vt:lpstr>
      <vt:lpstr>Calibri</vt:lpstr>
      <vt:lpstr>Calibri Light</vt:lpstr>
      <vt:lpstr>Century Gothic</vt:lpstr>
      <vt:lpstr>Cygre ExtraBold</vt:lpstr>
      <vt:lpstr>Gilroy-Light</vt:lpstr>
      <vt:lpstr>Involve Medium</vt:lpstr>
      <vt:lpstr>Involve SemiBold</vt:lpstr>
      <vt:lpstr>Jost</vt:lpstr>
      <vt:lpstr>OpenSymbol</vt:lpstr>
      <vt:lpstr>Symbol</vt:lpstr>
      <vt:lpstr>Tahoma</vt:lpstr>
      <vt:lpstr>Times New Roman</vt:lpstr>
      <vt:lpstr>Wingdings</vt:lpstr>
      <vt:lpstr>Тема Office</vt:lpstr>
      <vt:lpstr>Студенческий стартап </vt:lpstr>
      <vt:lpstr>О продукте</vt:lpstr>
      <vt:lpstr>Технологичность стартап-проекта</vt:lpstr>
      <vt:lpstr>Аналоги и конкуренты</vt:lpstr>
      <vt:lpstr>Рынок и потребитель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Консультация №1</dc:title>
  <dc:subject/>
  <dc:creator>Артём Радченко</dc:creator>
  <dc:description/>
  <cp:lastModifiedBy>user</cp:lastModifiedBy>
  <cp:revision>52</cp:revision>
  <dcterms:created xsi:type="dcterms:W3CDTF">2026-02-12T15:37:00Z</dcterms:created>
  <dcterms:modified xsi:type="dcterms:W3CDTF">2026-05-19T12:12:18Z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7B7741367E084B3399ADB7A88C060550_12</vt:lpwstr>
  </property>
  <property fmtid="{D5CDD505-2E9C-101B-9397-08002B2CF9AE}" pid="3" name="KSOProductBuildVer">
    <vt:lpwstr>1049-12.2.0.23196</vt:lpwstr>
  </property>
  <property fmtid="{D5CDD505-2E9C-101B-9397-08002B2CF9AE}" pid="4" name="PresentationFormat">
    <vt:lpwstr>Широкоэкранный</vt:lpwstr>
  </property>
  <property fmtid="{D5CDD505-2E9C-101B-9397-08002B2CF9AE}" pid="5" name="Slides">
    <vt:i4>8</vt:i4>
  </property>
</Properties>
</file>