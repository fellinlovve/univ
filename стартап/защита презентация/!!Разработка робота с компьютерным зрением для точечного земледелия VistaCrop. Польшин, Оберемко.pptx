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wmf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rgbClr val="edeee8"/>
                </a:solidFill>
                <a:effectLst/>
                <a:uFillTx/>
                <a:latin typeface="Cygre ExtraBold"/>
              </a:rPr>
              <a:t>Студенческий стартап 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621560" y="213228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682400" y="2186640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en-US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1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2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51912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3400" b="0" u="none" strike="noStrike">
                <a:solidFill>
                  <a:srgbClr val="edeee8"/>
                </a:solidFill>
                <a:effectLst/>
                <a:uFillTx/>
                <a:latin typeface="Cygre ExtraBold"/>
              </a:rPr>
              <a:t>О продукте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88600" y="2603160"/>
            <a:ext cx="5530320" cy="126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81920" y="4500720"/>
            <a:ext cx="10574640" cy="1884600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419040" y="1750680"/>
            <a:ext cx="285012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ПРОБЛЕМА ПОТРЕБИТЕЛЯ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920800" y="1750680"/>
            <a:ext cx="3031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НАШЕ РЕШЕНИЕ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343560" y="2190240"/>
            <a:ext cx="5377680" cy="182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24120" y="5895720"/>
            <a:ext cx="7153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930600" y="4881240"/>
            <a:ext cx="1010160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4011840" y="418680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1840" y="4325040"/>
            <a:ext cx="475812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1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2"/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45152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7500" lnSpcReduction="19999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стартап-проекта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"/>
          <p:cNvSpPr/>
          <p:nvPr/>
        </p:nvSpPr>
        <p:spPr>
          <a:xfrm>
            <a:off x="330840" y="1921320"/>
            <a:ext cx="5343480" cy="16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10000"/>
              </a:lnSpc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1. Техническое решение проекта: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Модель нейросети – YOLOv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8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DataSet’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ы, суммарным объемом фотографий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~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14000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Платформа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Arduino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Разработанное Программное Обеспечение.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Камера высокого разрешения.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674680" y="1921320"/>
            <a:ext cx="5319360" cy="17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Преимущества выбранного технического решения: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Преимущество технологии 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YOLOv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8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Средняя точность определения - ~97%.</a:t>
            </a: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 Высокая скорость, обработка объектов в реальном времени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Преимущество технологии Arduino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Light"/>
              </a:rPr>
              <a:t>Высокое соотношение цены и качества, простота в освоении, дешевизна 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403560" y="3745440"/>
            <a:ext cx="531108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Имеющийся задел: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Уровень технологической готовности - TRL1. Сформулирована гипотеза, определён командный состав, основные технологии, найдено 6 DataSet'ов, суммарным объёмом в ~14000 фотографий, определена основная модель используемого искусственного интеллекта.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5751000" y="3673080"/>
            <a:ext cx="5561280" cy="284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2"/>
          <p:cNvPicPr/>
          <p:nvPr/>
        </p:nvPicPr>
        <p:blipFill>
          <a:blip r:embed="rId1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2"/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394f9a"/>
                </a:solidFill>
                <a:effectLst/>
                <a:uFillTx/>
                <a:latin typeface="Cygre ExtraBold"/>
              </a:rPr>
              <a:t>Аналоги и конкуренты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394f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4235760" y="2265480"/>
            <a:ext cx="3719520" cy="4226760"/>
          </a:xfrm>
          <a:prstGeom prst="roundRect">
            <a:avLst>
              <a:gd name="adj" fmla="val 10064"/>
            </a:avLst>
          </a:prstGeom>
          <a:solidFill>
            <a:srgbClr val="b4d0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363240" y="2265480"/>
            <a:ext cx="3719520" cy="4226760"/>
          </a:xfrm>
          <a:prstGeom prst="roundRect">
            <a:avLst>
              <a:gd name="adj" fmla="val 10064"/>
            </a:avLst>
          </a:prstGeom>
          <a:solidFill>
            <a:srgbClr val="394f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108640" y="2265480"/>
            <a:ext cx="3719520" cy="4226760"/>
          </a:xfrm>
          <a:prstGeom prst="roundRect">
            <a:avLst>
              <a:gd name="adj" fmla="val 10064"/>
            </a:avLst>
          </a:prstGeom>
          <a:solidFill>
            <a:srgbClr val="142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858960" y="2409840"/>
            <a:ext cx="27280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399160" y="2409840"/>
            <a:ext cx="313812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Востребованность продукта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Подзаголовок 2"/>
          <p:cNvSpPr/>
          <p:nvPr/>
        </p:nvSpPr>
        <p:spPr>
          <a:xfrm>
            <a:off x="4526640" y="2409840"/>
            <a:ext cx="313812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rgbClr val="14243e"/>
                </a:solidFill>
                <a:effectLst/>
                <a:uFillTx/>
                <a:latin typeface="Involve Medium"/>
              </a:rPr>
              <a:t>Конкурентные преимущества продукта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508680" y="2809080"/>
            <a:ext cx="3357360" cy="346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1. Cognitive pilot - Россия; Разработка полевых тракторов, требующих оператора; Сдача в аренду.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2. ООО «ЭРлаб» - Россия; Разработка тепличных и полевых роботов; Сдача в аренду. Blue Rier - США; Информация в открытых источниках отсутствует в связи с введёнными санкциями;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3. Naïo Technologies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4. MetaMotion - Израиль; Разработка тепличных и полевых роботов; Продажа заблокирована в связи с санкциями.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415400" y="2978640"/>
            <a:ext cx="3325320" cy="32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Модульность конструкции позволит персонализировать роботов под конкретные нужды, увеличивая их эффективность;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8362800" y="2825280"/>
            <a:ext cx="3204000" cy="25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Jost"/>
              </a:rPr>
              <a:t>1. Увеличение количество населения, а также тренды автоматизации процессов неминуемо ведут к развитию сельского хозяйства.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Jost"/>
              </a:rPr>
              <a:t>2. Кадровый голод: 11% работников младше 40 лет.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Jost"/>
              </a:rPr>
              <a:t>3. Увеличение количества выпускаемой продукции невозможно без наращивания производственных мощностей.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3"/>
          <p:cNvPicPr/>
          <p:nvPr/>
        </p:nvPicPr>
        <p:blipFill>
          <a:blip r:embed="rId1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2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394f9a"/>
                </a:solidFill>
                <a:effectLst/>
                <a:uFillTx/>
                <a:latin typeface="Cygre ExtraBold"/>
                <a:ea typeface="Tahoma"/>
              </a:rPr>
              <a:t>Рынок и потребитель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394f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Прямоугольник: скругленные углы 7"/>
          <p:cNvSpPr/>
          <p:nvPr/>
        </p:nvSpPr>
        <p:spPr>
          <a:xfrm>
            <a:off x="654120" y="1953720"/>
            <a:ext cx="11174040" cy="1324800"/>
          </a:xfrm>
          <a:prstGeom prst="roundRect">
            <a:avLst>
              <a:gd name="adj" fmla="val 18301"/>
            </a:avLst>
          </a:prstGeom>
          <a:solidFill>
            <a:srgbClr val="1424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Подзаголовок 2"/>
          <p:cNvSpPr/>
          <p:nvPr/>
        </p:nvSpPr>
        <p:spPr>
          <a:xfrm>
            <a:off x="991800" y="2275560"/>
            <a:ext cx="10647720" cy="7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Прямоугольник: скругленные углы 11"/>
          <p:cNvSpPr/>
          <p:nvPr/>
        </p:nvSpPr>
        <p:spPr>
          <a:xfrm>
            <a:off x="654120" y="3432600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925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Подзаголовок 2"/>
          <p:cNvSpPr/>
          <p:nvPr/>
        </p:nvSpPr>
        <p:spPr>
          <a:xfrm>
            <a:off x="838080" y="3573000"/>
            <a:ext cx="5257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rgbClr val="9256f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386760" y="3432600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394f9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6570720" y="3573000"/>
            <a:ext cx="525708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lang="ru-RU" sz="1600" b="0" u="none" strike="noStrike">
                <a:solidFill>
                  <a:srgbClr val="394f9a"/>
                </a:solidFill>
                <a:effectLst/>
                <a:uFillTx/>
                <a:latin typeface="Involve Medium"/>
              </a:rPr>
              <a:t>Возможные барьеры для выхода на рынок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838080" y="3942360"/>
            <a:ext cx="4858920" cy="177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c05fd7"/>
                </a:solidFill>
                <a:effectLst/>
                <a:uFillTx/>
                <a:latin typeface="Involve Medium"/>
              </a:rPr>
              <a:t>Сектор рынка - B2B, B2C;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4"/>
          <p:cNvPicPr/>
          <p:nvPr/>
        </p:nvPicPr>
        <p:blipFill>
          <a:blip r:embed="rId1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2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6570720" y="3913920"/>
            <a:ext cx="4995720" cy="18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производственных мощностей для конвейерного выпуска продукции.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клиентской базы.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Involve Medium"/>
              </a:rPr>
              <a:t>Отсутствие практического опыта предпринимательской деятельности.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Скругленный прямоугольник 7"/>
          <p:cNvSpPr/>
          <p:nvPr/>
        </p:nvSpPr>
        <p:spPr>
          <a:xfrm>
            <a:off x="-117720" y="545040"/>
            <a:ext cx="5591880" cy="563040"/>
          </a:xfrm>
          <a:prstGeom prst="roundRect">
            <a:avLst>
              <a:gd name="adj" fmla="val 16667"/>
            </a:avLst>
          </a:prstGeom>
          <a:solidFill>
            <a:srgbClr val="0f1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671760" defTabSz="914400">
              <a:lnSpc>
                <a:spcPct val="100000"/>
              </a:lnSpc>
            </a:pPr>
            <a:r>
              <a:rPr lang="ru-RU" sz="2000" b="1" u="none" strike="noStrike">
                <a:solidFill>
                  <a:schemeClr val="lt1"/>
                </a:solidFill>
                <a:effectLst/>
                <a:uFillTx/>
                <a:latin typeface="Century Gothic"/>
              </a:rPr>
              <a:t>ФИНАНСОВАЯ МОДЕЛЬ И РЫНОК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633600" y="4956480"/>
            <a:ext cx="7781760" cy="1694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pPr marL="285840" indent="-285840" defTabSz="914400">
              <a:lnSpc>
                <a:spcPct val="100000"/>
              </a:lnSpc>
              <a:buClr>
                <a:srgbClr val="0f1454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f1454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Примерная стоимость робота будет составлять 4млн. руб., следовательно, средний чек составит 12млн. руб.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f1454"/>
              </a:buClr>
              <a:buFont typeface="Wingdings" charset="2"/>
              <a:buChar char=""/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Среднее кол-во продаж в квартал - 3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Овал 5"/>
          <p:cNvSpPr/>
          <p:nvPr/>
        </p:nvSpPr>
        <p:spPr>
          <a:xfrm>
            <a:off x="8513280" y="1419480"/>
            <a:ext cx="3575880" cy="3535920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Овал 8"/>
          <p:cNvSpPr/>
          <p:nvPr/>
        </p:nvSpPr>
        <p:spPr>
          <a:xfrm>
            <a:off x="9218160" y="1798200"/>
            <a:ext cx="2871000" cy="272628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Овал 10"/>
          <p:cNvSpPr/>
          <p:nvPr/>
        </p:nvSpPr>
        <p:spPr>
          <a:xfrm>
            <a:off x="9886320" y="2067120"/>
            <a:ext cx="2202840" cy="2244240"/>
          </a:xfrm>
          <a:prstGeom prst="ellipse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"/>
          <p:cNvSpPr/>
          <p:nvPr/>
        </p:nvSpPr>
        <p:spPr>
          <a:xfrm>
            <a:off x="8593560" y="2710800"/>
            <a:ext cx="773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ТАМ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106,4 млрд. руб.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5"/>
          <p:cNvSpPr/>
          <p:nvPr/>
        </p:nvSpPr>
        <p:spPr>
          <a:xfrm>
            <a:off x="9281520" y="2684520"/>
            <a:ext cx="6757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SAM 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26,6 млрд. руб.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10393200" y="2820240"/>
            <a:ext cx="12405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SOM 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Century Gothic"/>
                <a:ea typeface="Gilroy-Light"/>
              </a:rPr>
              <a:t>931 млн. руб</a:t>
            </a:r>
            <a:r>
              <a:rPr lang="ru-RU" sz="1400" b="0" u="none" strike="noStrike">
                <a:solidFill>
                  <a:schemeClr val="lt1"/>
                </a:solidFill>
                <a:effectLst/>
                <a:uFillTx/>
                <a:latin typeface="Calibri"/>
                <a:ea typeface="Gilroy-Light"/>
              </a:rPr>
              <a:t>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8513280" y="4951800"/>
            <a:ext cx="357588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ТАМ – Российский рынок промышленной робототехники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SAM – 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Российский рынок сельскохозяйственной робототехники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SOM</a:t>
            </a: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Gilroy-Regular"/>
              </a:rPr>
              <a:t> – 3.5% планируемого рынка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"/>
          <p:cNvGraphicFramePr/>
          <p:nvPr/>
        </p:nvGraphicFramePr>
        <p:xfrm>
          <a:off x="182520" y="2234880"/>
          <a:ext cx="8265600" cy="2209680"/>
        </p:xfrm>
        <a:graphic>
          <a:graphicData uri="http://schemas.openxmlformats.org/drawingml/2006/table">
            <a:tbl>
              <a:tblPr/>
              <a:tblGrid>
                <a:gridCol w="2142720"/>
                <a:gridCol w="1289880"/>
                <a:gridCol w="1299960"/>
                <a:gridCol w="1597320"/>
                <a:gridCol w="1936080"/>
              </a:tblGrid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2028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b93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1 квартал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b93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2 квартал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b93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3 квартал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b93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4 квартал</a:t>
                      </a:r>
                      <a:endParaRPr lang="ru-RU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3b93f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Конверсия пользователей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20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пользователей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25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пользователей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30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пользователей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40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пользователей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Средний чек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4 млн. руб.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8 млн. руб.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12 млн. руб.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  <a:ea typeface="Microsoft YaHei"/>
                        </a:rPr>
                        <a:t>28 млн. руб.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</a:tr>
              <a:tr h="346320"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Количество продаж в месяц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5%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8%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10%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entury Gothic"/>
                        </a:rPr>
                        <a:t>17,5%</a:t>
                      </a: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solidFill>
                      <a:srgbClr val="64aaff"/>
                    </a:solidFill>
                  </a:tcPr>
                </a:tc>
              </a:tr>
            </a:tbl>
          </a:graphicData>
        </a:graphic>
      </p:graphicFrame>
      <p:pic>
        <p:nvPicPr>
          <p:cNvPr id="135" name="Picture 7"/>
          <p:cNvPicPr/>
          <p:nvPr/>
        </p:nvPicPr>
        <p:blipFill>
          <a:blip r:embed="rId1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2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5188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77500" lnSpcReduction="19999"/>
          </a:bodyPr>
          <a:p>
            <a:pPr algn="ctr"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стартап-проекта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1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2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84920" y="1706400"/>
            <a:ext cx="5697360" cy="122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полива растения;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химической обработанности растения;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степень зрелости растения;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Определять заболевание растения.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59000" y="3091320"/>
            <a:ext cx="5247360" cy="164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Специалисты из области машинного обучения;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Специалисты из области электроники;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Мощности для обучения искусственного интеллекта;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Платформа Arduino;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Прочая электроника.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519840" y="4736520"/>
            <a:ext cx="4588920" cy="174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Зарплата рабочим;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Лицензии на ПО;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Аренда помещений;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Аренда серверов;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Реклама;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Сырьё для производства.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6338520" y="1688760"/>
            <a:ext cx="5515200" cy="39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1 квартал - обсуждение пунктов договора ГПХ, составление договора ГПХ.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2 квартал - найм сотрудников: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Шлаев Дмитрий Валерьевич - специалист по электронике и робототехнике. Заведующий кафедрой инженеринга и IT-решений в АПК СтГАУ. Руководитель ВКР, научный руководитель стартап-проектов. Заключение договора ГПХ.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Огур Максим Геннадьевич - специалист по машинному обучению. Преподаватель кафедры инженеринга и IT-решений в АПК СтГАУ. Заключение договора ГПХ.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338520" y="4727880"/>
            <a:ext cx="4727520" cy="15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5. Планируемый способ получения дохода: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Прямая продажа;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Сдача робота в аренду.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51880" y="527040"/>
            <a:ext cx="9143280" cy="73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rmAutofit fontScale="77500" lnSpcReduction="19999"/>
          </a:bodyPr>
          <a:p>
            <a:pPr algn="ctr" defTabSz="914400">
              <a:lnSpc>
                <a:spcPct val="90000"/>
              </a:lnSpc>
            </a:pPr>
            <a:r>
              <a:rPr lang="ru-RU" sz="4400" b="1" u="none" strike="noStrike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Технологичность стартап-проекта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1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2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/>
          <p:nvPr/>
        </p:nvSpPr>
        <p:spPr>
          <a:xfrm>
            <a:off x="574920" y="217368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51760" y="227916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61680" y="2883240"/>
            <a:ext cx="2389320" cy="25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3458160" y="218088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9092160" y="21607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6271560" y="2157120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649fd1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3536280" y="2874960"/>
            <a:ext cx="2389320" cy="25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датасетов.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3700440" y="22777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Оберемко Анна Алексеевна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382080" y="2854080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квалификционных работ, научный руководитель стартап-проектов.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9230760" y="2885760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инженеринга и IT-решений в АПК СтГАУ.</a:t>
            </a: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6494760" y="225684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Шлаев Дмитрий Валерьевич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9352440" y="2288520"/>
            <a:ext cx="2008800" cy="59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6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Огур Максим Геннадьевич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Скругленный прямоугольник 1"/>
          <p:cNvSpPr/>
          <p:nvPr/>
        </p:nvSpPr>
        <p:spPr>
          <a:xfrm>
            <a:off x="891720" y="587592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"/>
          <p:cNvSpPr/>
          <p:nvPr/>
        </p:nvSpPr>
        <p:spPr>
          <a:xfrm>
            <a:off x="1013040" y="594612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Лидер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Скругленный прямоугольник 2"/>
          <p:cNvSpPr/>
          <p:nvPr/>
        </p:nvSpPr>
        <p:spPr>
          <a:xfrm>
            <a:off x="3809880" y="585936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"/>
          <p:cNvSpPr/>
          <p:nvPr/>
        </p:nvSpPr>
        <p:spPr>
          <a:xfrm>
            <a:off x="3931200" y="592956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Скругленный прямоугольник 3"/>
          <p:cNvSpPr/>
          <p:nvPr/>
        </p:nvSpPr>
        <p:spPr>
          <a:xfrm>
            <a:off x="6572160" y="585864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"/>
          <p:cNvSpPr/>
          <p:nvPr/>
        </p:nvSpPr>
        <p:spPr>
          <a:xfrm>
            <a:off x="6536160" y="5928840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Скругленный прямоугольник 5"/>
          <p:cNvSpPr/>
          <p:nvPr/>
        </p:nvSpPr>
        <p:spPr>
          <a:xfrm>
            <a:off x="9421200" y="5866200"/>
            <a:ext cx="1913400" cy="410400"/>
          </a:xfrm>
          <a:prstGeom prst="roundRect">
            <a:avLst>
              <a:gd name="adj" fmla="val 11350"/>
            </a:avLst>
          </a:prstGeom>
          <a:solidFill>
            <a:srgbClr val="d5b4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"/>
          <p:cNvSpPr/>
          <p:nvPr/>
        </p:nvSpPr>
        <p:spPr>
          <a:xfrm>
            <a:off x="9542520" y="5936400"/>
            <a:ext cx="1731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ffffff"/>
                </a:solidFill>
                <a:effectLst/>
                <a:uFillTx/>
                <a:latin typeface="Involve Medium"/>
              </a:rPr>
              <a:t>Участник проекта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t="0" r="0" b="10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Рисунок 6"/>
          <p:cNvPicPr/>
          <p:nvPr/>
        </p:nvPicPr>
        <p:blipFill>
          <a:blip r:embed="rId1"/>
          <a:stretch/>
        </p:blipFill>
        <p:spPr>
          <a:xfrm>
            <a:off x="11021400" y="504000"/>
            <a:ext cx="681120" cy="68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2" name="Picture 9"/>
          <p:cNvPicPr/>
          <p:nvPr/>
        </p:nvPicPr>
        <p:blipFill>
          <a:blip r:embed="rId2"/>
          <a:stretch/>
        </p:blipFill>
        <p:spPr>
          <a:xfrm>
            <a:off x="9560160" y="556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Прямоугольник 12"/>
          <p:cNvSpPr/>
          <p:nvPr/>
        </p:nvSpPr>
        <p:spPr>
          <a:xfrm>
            <a:off x="8757000" y="3633480"/>
            <a:ext cx="1215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1800" b="0" u="none" strike="noStrike">
                <a:solidFill>
                  <a:srgbClr val="14243e"/>
                </a:solidFill>
                <a:effectLst/>
                <a:uFillTx/>
                <a:latin typeface="Involve SemiBold"/>
              </a:rPr>
              <a:t>Логотип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40" y="538920"/>
            <a:ext cx="6213600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671760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2040120" y="152172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671760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415920" y="217692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671760" defTabSz="914400">
              <a:lnSpc>
                <a:spcPct val="100000"/>
              </a:lnSpc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Google Shape;182;p9"/>
          <p:cNvPicPr/>
          <p:nvPr/>
        </p:nvPicPr>
        <p:blipFill>
          <a:blip r:embed="rId3"/>
          <a:stretch/>
        </p:blipFill>
        <p:spPr>
          <a:xfrm>
            <a:off x="4710240" y="2913840"/>
            <a:ext cx="3087360" cy="3378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Изображение 10"/>
          <p:cNvPicPr/>
          <p:nvPr/>
        </p:nvPicPr>
        <p:blipFill>
          <a:blip r:embed="rId4"/>
          <a:stretch/>
        </p:blipFill>
        <p:spPr>
          <a:xfrm>
            <a:off x="8639280" y="2914200"/>
            <a:ext cx="2878920" cy="287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" name="Изображение 12"/>
          <p:cNvPicPr/>
          <p:nvPr/>
        </p:nvPicPr>
        <p:blipFill>
          <a:blip r:embed="rId5"/>
          <a:stretch/>
        </p:blipFill>
        <p:spPr>
          <a:xfrm>
            <a:off x="8639280" y="5771160"/>
            <a:ext cx="2878920" cy="5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TextBox 4"/>
          <p:cNvSpPr/>
          <p:nvPr/>
        </p:nvSpPr>
        <p:spPr>
          <a:xfrm>
            <a:off x="238680" y="3372840"/>
            <a:ext cx="4471200" cy="23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LibreOffice/25.8.5.2$Windows_x86 LibreOffice_project/9c8b85f387cc00a89945a79c9e6239f32e450ac2</Application>
  <AppVersion>15.0000</AppVersion>
  <Words>344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2026-02-12T15:37:00Z</dcterms:created>
  <dc:creator>Артём Радченко</dc:creator>
  <dc:description/>
  <dc:language>ru-RU</dc:language>
  <cp:lastModifiedBy/>
  <dcterms:modified xsi:type="dcterms:W3CDTF">2026-03-15T19:27:44Z</dcterms:modified>
  <cp:revision>23</cp:revision>
  <dc:subject/>
  <dc:title>Консультация №1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