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96B"/>
    <a:srgbClr val="1F29AD"/>
    <a:srgbClr val="D5B4FB"/>
    <a:srgbClr val="868FE2"/>
    <a:srgbClr val="E880D9"/>
    <a:srgbClr val="8BAADD"/>
    <a:srgbClr val="394F9A"/>
    <a:srgbClr val="9256F2"/>
    <a:srgbClr val="14243E"/>
    <a:srgbClr val="B4D0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85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35B43-8FAA-4450-9631-56DF46ABE5B3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D2E55-1BE2-40B4-AC21-7491C6260EB3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1731963"/>
            <a:ext cx="9144000" cy="992187"/>
          </a:xfrm>
        </p:spPr>
        <p:txBody>
          <a:bodyPr>
            <a:normAutofit/>
          </a:bodyPr>
          <a:lstStyle/>
          <a:p>
            <a:pPr algn="l"/>
            <a:r>
              <a:rPr lang="ru-RU" sz="4400" dirty="0">
                <a:solidFill>
                  <a:srgbClr val="EDEEE8"/>
                </a:solidFill>
                <a:latin typeface="Cygre ExtraBold" panose="02000803000000000000" pitchFamily="2" charset="-52"/>
                <a:cs typeface="NauryzRedKeds" panose="020B0704020202020204" pitchFamily="34" charset="0"/>
              </a:rPr>
              <a:t>Студенческий стартап 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621656" y="2132169"/>
            <a:ext cx="3199678" cy="572550"/>
          </a:xfrm>
          <a:prstGeom prst="roundRect">
            <a:avLst>
              <a:gd name="adj" fmla="val 50000"/>
            </a:avLst>
          </a:prstGeom>
          <a:solidFill>
            <a:srgbClr val="EDEE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682434" y="2186608"/>
            <a:ext cx="3072640" cy="557867"/>
          </a:xfrm>
        </p:spPr>
        <p:txBody>
          <a:bodyPr>
            <a:normAutofit lnSpcReduction="10000"/>
          </a:bodyPr>
          <a:lstStyle/>
          <a:p>
            <a:r>
              <a:rPr lang="en-US" sz="3600" dirty="0">
                <a:solidFill>
                  <a:srgbClr val="394F9A"/>
                </a:solidFill>
                <a:latin typeface="Cygre ExtraBold" panose="02000803000000000000" pitchFamily="2" charset="-52"/>
              </a:rPr>
              <a:t>VII </a:t>
            </a:r>
            <a:r>
              <a:rPr lang="ru-RU" sz="3600" dirty="0">
                <a:solidFill>
                  <a:srgbClr val="394F9A"/>
                </a:solidFill>
                <a:latin typeface="Cygre ExtraBold" panose="02000803000000000000" pitchFamily="2" charset="-52"/>
              </a:rPr>
              <a:t>очередь</a:t>
            </a: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1280" y="685724"/>
            <a:ext cx="1224318" cy="57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14400" y="3315583"/>
            <a:ext cx="9610725" cy="158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370205">
              <a:lnSpc>
                <a:spcPct val="110000"/>
              </a:lnSpc>
              <a:buAutoNum type="arabicPeriod"/>
            </a:pPr>
            <a:r>
              <a:rPr lang="ru-RU" sz="2200" dirty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Номер </a:t>
            </a:r>
            <a:r>
              <a:rPr lang="ru-RU" sz="2200" dirty="0" smtClean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заявки.</a:t>
            </a:r>
            <a:endParaRPr lang="ru-RU" sz="2200" dirty="0">
              <a:solidFill>
                <a:schemeClr val="bg1"/>
              </a:solidFill>
              <a:latin typeface="Involve SemiBold" panose="020B05020202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370205">
              <a:lnSpc>
                <a:spcPct val="110000"/>
              </a:lnSpc>
              <a:buFont typeface="Arial" panose="020B0604020202020204" pitchFamily="34" charset="0"/>
              <a:buAutoNum type="arabicPeriod"/>
            </a:pPr>
            <a:r>
              <a:rPr lang="ru-RU" sz="2200" dirty="0" smtClean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Создание робота </a:t>
            </a:r>
            <a:r>
              <a:rPr lang="ru-RU" sz="2200" dirty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 компьютерным зрением для точечного </a:t>
            </a:r>
            <a:r>
              <a:rPr lang="ru-RU" sz="2200" dirty="0" smtClean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земледелия.</a:t>
            </a:r>
            <a:endParaRPr lang="ru-RU" sz="2200" dirty="0">
              <a:solidFill>
                <a:schemeClr val="bg1"/>
              </a:solidFill>
              <a:latin typeface="Involve SemiBold" panose="020B05020202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370205">
              <a:lnSpc>
                <a:spcPct val="110000"/>
              </a:lnSpc>
              <a:buAutoNum type="arabicPeriod"/>
            </a:pPr>
            <a:r>
              <a:rPr lang="ru-RU" sz="2200" dirty="0" smtClean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Польшин Артем </a:t>
            </a:r>
            <a:r>
              <a:rPr lang="ru-RU" sz="2200" dirty="0" smtClean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Денисович.</a:t>
            </a:r>
            <a:endParaRPr lang="ru-RU" sz="2200" dirty="0">
              <a:solidFill>
                <a:schemeClr val="bg1"/>
              </a:solidFill>
              <a:latin typeface="Involve SemiBold" panose="020B05020202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491" y="560244"/>
            <a:ext cx="894078" cy="8235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64398"/>
            <a:ext cx="9144000" cy="732941"/>
          </a:xfrm>
        </p:spPr>
        <p:txBody>
          <a:bodyPr>
            <a:normAutofit/>
          </a:bodyPr>
          <a:lstStyle/>
          <a:p>
            <a:r>
              <a:rPr lang="ru-RU" sz="4400" dirty="0">
                <a:solidFill>
                  <a:srgbClr val="EDEEE8"/>
                </a:solidFill>
                <a:latin typeface="Cygre ExtraBold" panose="02000803000000000000" pitchFamily="2" charset="-52"/>
                <a:cs typeface="NauryzRedKeds" panose="020B0704020202020204" pitchFamily="34" charset="0"/>
              </a:rPr>
              <a:t>О продукте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88532" y="1928121"/>
            <a:ext cx="5469368" cy="2143016"/>
          </a:xfrm>
          <a:prstGeom prst="roundRect">
            <a:avLst>
              <a:gd name="adj" fmla="val 11350"/>
            </a:avLst>
          </a:prstGeom>
          <a:solidFill>
            <a:srgbClr val="EDEE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88532" y="2603236"/>
            <a:ext cx="5530915" cy="1267065"/>
          </a:xfrm>
        </p:spPr>
        <p:txBody>
          <a:bodyPr>
            <a:normAutofit/>
          </a:bodyPr>
          <a:lstStyle/>
          <a:p>
            <a:pPr algn="l"/>
            <a:r>
              <a:rPr lang="ru-RU" sz="1600" dirty="0" smtClean="0">
                <a:solidFill>
                  <a:srgbClr val="394F9A"/>
                </a:solidFill>
                <a:latin typeface="Involve Medium" panose="020B0502020202020204" pitchFamily="34" charset="0"/>
              </a:rPr>
              <a:t>У </a:t>
            </a:r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предпринимателей из области сельского хозяйства высокие материальные и финансовые затраты на обработку почвы и растений, связанные с неэкономным распределением </a:t>
            </a:r>
            <a:r>
              <a:rPr lang="ru-RU" sz="1600" dirty="0" smtClean="0">
                <a:solidFill>
                  <a:srgbClr val="394F9A"/>
                </a:solidFill>
                <a:latin typeface="Involve Medium" panose="020B0502020202020204" pitchFamily="34" charset="0"/>
              </a:rPr>
              <a:t>химикатов.</a:t>
            </a:r>
            <a:endParaRPr lang="ru-RU" sz="1600" dirty="0">
              <a:solidFill>
                <a:srgbClr val="394F9A"/>
              </a:solidFill>
              <a:latin typeface="Involve Medium" panose="020B0502020202020204" pitchFamily="34" charset="0"/>
            </a:endParaRPr>
          </a:p>
          <a:p>
            <a:pPr algn="l"/>
            <a:endParaRPr lang="ru-RU" sz="1600" dirty="0">
              <a:solidFill>
                <a:srgbClr val="394F9A"/>
              </a:solidFill>
              <a:latin typeface="Involve Medium" panose="020B0502020202020204" pitchFamily="34" charset="0"/>
            </a:endParaRP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4"/>
          <p:cNvSpPr/>
          <p:nvPr/>
        </p:nvSpPr>
        <p:spPr>
          <a:xfrm>
            <a:off x="781880" y="4500794"/>
            <a:ext cx="10575235" cy="1885401"/>
          </a:xfrm>
          <a:prstGeom prst="roundRect">
            <a:avLst>
              <a:gd name="adj" fmla="val 113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302752" y="1612489"/>
            <a:ext cx="3083862" cy="617611"/>
          </a:xfrm>
          <a:prstGeom prst="roundRect">
            <a:avLst>
              <a:gd name="adj" fmla="val 11350"/>
            </a:avLst>
          </a:prstGeom>
          <a:solidFill>
            <a:srgbClr val="D5B4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19208" y="1750689"/>
            <a:ext cx="2850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ПРОБЛЕМА ПОТРЕБИТЕЛЯ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6270997" y="1928121"/>
            <a:ext cx="5299622" cy="2143016"/>
          </a:xfrm>
          <a:prstGeom prst="roundRect">
            <a:avLst>
              <a:gd name="adj" fmla="val 11350"/>
            </a:avLst>
          </a:prstGeom>
          <a:solidFill>
            <a:srgbClr val="EDEE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8807504" y="1621968"/>
            <a:ext cx="3083862" cy="617611"/>
          </a:xfrm>
          <a:prstGeom prst="roundRect">
            <a:avLst>
              <a:gd name="adj" fmla="val 11350"/>
            </a:avLst>
          </a:prstGeom>
          <a:solidFill>
            <a:srgbClr val="D5B4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8920808" y="1750689"/>
            <a:ext cx="3032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НАШЕ РЕШЕНИЕ - </a:t>
            </a:r>
            <a:r>
              <a:rPr lang="en-US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VistaCrop</a:t>
            </a:r>
            <a:endParaRPr lang="ru-RU" sz="1600" dirty="0">
              <a:solidFill>
                <a:srgbClr val="394F9A"/>
              </a:solidFill>
              <a:latin typeface="Involve Medium" panose="020B0502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43680" y="2190329"/>
            <a:ext cx="537848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Наш робот поможет фермерам уменьшить затраты на производство </a:t>
            </a:r>
            <a:r>
              <a:rPr lang="ru-RU" sz="1600" dirty="0" smtClean="0">
                <a:solidFill>
                  <a:srgbClr val="394F9A"/>
                </a:solidFill>
                <a:latin typeface="Involve Medium" panose="020B0502020202020204" pitchFamily="34" charset="0"/>
              </a:rPr>
              <a:t>продукции</a:t>
            </a:r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, а также ускорить рост и повысить качество культур посредством более точной обработки растений и своевременного выявления симптомов заболеваний при помощи систем </a:t>
            </a:r>
            <a:r>
              <a:rPr lang="ru-RU" sz="1600" dirty="0" smtClean="0">
                <a:solidFill>
                  <a:srgbClr val="394F9A"/>
                </a:solidFill>
                <a:latin typeface="Involve Medium" panose="020B0502020202020204" pitchFamily="34" charset="0"/>
              </a:rPr>
              <a:t>искусственного </a:t>
            </a:r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интеллекта и машинного зрения.</a:t>
            </a:r>
            <a:endParaRPr lang="en-US" sz="1600" dirty="0">
              <a:solidFill>
                <a:srgbClr val="394F9A"/>
              </a:solidFill>
              <a:latin typeface="Involve Medium" panose="020B0502020202020204" pitchFamily="34" charset="0"/>
            </a:endParaRPr>
          </a:p>
          <a:p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924028" y="5895705"/>
            <a:ext cx="7154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На данный момент </a:t>
            </a:r>
            <a:r>
              <a:rPr lang="ru-RU" sz="1600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проектное решение находится </a:t>
            </a: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на стадии </a:t>
            </a:r>
            <a:r>
              <a:rPr lang="ru-RU" sz="1600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идеи.</a:t>
            </a:r>
            <a:endParaRPr lang="ru-RU" sz="1600" dirty="0">
              <a:solidFill>
                <a:schemeClr val="bg1"/>
              </a:solidFill>
              <a:latin typeface="Involve Medium" panose="020B0502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0594" y="4881273"/>
            <a:ext cx="101022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Продукт ориентирован на средние и малые огуречные тепличные хозяйства </a:t>
            </a:r>
            <a:r>
              <a:rPr lang="ru-RU" sz="1600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Южного и Северо-Кавказского </a:t>
            </a: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ф</a:t>
            </a:r>
            <a:r>
              <a:rPr lang="ru-RU" sz="1600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едерального округа.</a:t>
            </a:r>
            <a:endParaRPr lang="ru-RU" sz="1600" dirty="0">
              <a:solidFill>
                <a:schemeClr val="bg1"/>
              </a:solidFill>
              <a:latin typeface="Involve Medium" panose="020B0502020202020204" pitchFamily="34" charset="0"/>
            </a:endParaRP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4011924" y="4186907"/>
            <a:ext cx="4663512" cy="617611"/>
          </a:xfrm>
          <a:prstGeom prst="roundRect">
            <a:avLst>
              <a:gd name="adj" fmla="val 11350"/>
            </a:avLst>
          </a:prstGeom>
          <a:solidFill>
            <a:srgbClr val="D5B4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4011924" y="4325135"/>
            <a:ext cx="47003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solidFill>
                  <a:srgbClr val="394F9A"/>
                </a:solidFill>
                <a:latin typeface="Involve Medium" panose="020B0502020202020204" pitchFamily="34" charset="0"/>
              </a:rPr>
              <a:t>ОБЛАСТЬ ПРИМЕНЕНИЯ ПРОДУКТА ПРОЕКТА</a:t>
            </a:r>
            <a:endParaRPr lang="ru-RU" sz="1600" dirty="0">
              <a:solidFill>
                <a:srgbClr val="394F9A"/>
              </a:solidFill>
              <a:latin typeface="Involve Medium" panose="020B0502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64398"/>
            <a:ext cx="9144000" cy="732941"/>
          </a:xfrm>
        </p:spPr>
        <p:txBody>
          <a:bodyPr>
            <a:normAutofit fontScale="90000"/>
          </a:bodyPr>
          <a:lstStyle/>
          <a:p>
            <a:r>
              <a:rPr lang="ru-RU" sz="4400" b="1" dirty="0">
                <a:solidFill>
                  <a:schemeClr val="bg1"/>
                </a:solidFill>
                <a:latin typeface="Cygre ExtraBold" panose="02000803000000000000" pitchFamily="2" charset="-52"/>
                <a:ea typeface="Tahoma" panose="020B0604030504040204" pitchFamily="34" charset="0"/>
                <a:cs typeface="Tahoma" panose="020B0604030504040204" pitchFamily="34" charset="0"/>
              </a:rPr>
              <a:t>Технологичность стартап-проекта</a:t>
            </a: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609601" y="1782297"/>
            <a:ext cx="8481391" cy="377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6995">
              <a:lnSpc>
                <a:spcPct val="110000"/>
              </a:lnSpc>
            </a:pPr>
            <a:r>
              <a:rPr lang="ru-RU" dirty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Что должно быть на слайде?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9600" y="2475183"/>
            <a:ext cx="957162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Техническое решение проекта, инновационность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Преимущества выбранного технического решения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Имеющийся задел (в том числе научно-технический) для реализации проекта</a:t>
            </a:r>
            <a:endParaRPr lang="en-US" sz="1600" dirty="0">
              <a:solidFill>
                <a:schemeClr val="bg1"/>
              </a:solidFill>
              <a:latin typeface="Involve Medium" panose="020B0502020202020204" pitchFamily="34" charset="0"/>
            </a:endParaRP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Соответствие направлению национального проекта технологического лидерства (если указано в заявке)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При наличии интеллектуальная собственность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394F9A"/>
                </a:solidFill>
                <a:latin typeface="Cygre ExtraBold" panose="02000803000000000000" pitchFamily="2" charset="-52"/>
              </a:rPr>
              <a:t>Аналоги и конкуренты</a:t>
            </a:r>
            <a:endParaRPr lang="ru-RU" dirty="0">
              <a:solidFill>
                <a:srgbClr val="394F9A"/>
              </a:solidFill>
              <a:latin typeface="Cygre ExtraBold" panose="02000803000000000000" pitchFamily="2" charset="-52"/>
            </a:endParaRP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rgbClr val="394F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09601" y="1782297"/>
            <a:ext cx="8481391" cy="377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6995">
              <a:lnSpc>
                <a:spcPct val="110000"/>
              </a:lnSpc>
            </a:pPr>
            <a:r>
              <a:rPr lang="ru-RU" dirty="0">
                <a:solidFill>
                  <a:srgbClr val="394F9A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Что должно быть на слайде?</a:t>
            </a:r>
          </a:p>
        </p:txBody>
      </p:sp>
      <p:sp>
        <p:nvSpPr>
          <p:cNvPr id="6" name="Прямоугольник: скругленные углы 5"/>
          <p:cNvSpPr/>
          <p:nvPr/>
        </p:nvSpPr>
        <p:spPr>
          <a:xfrm>
            <a:off x="4235924" y="2265528"/>
            <a:ext cx="3720152" cy="4227347"/>
          </a:xfrm>
          <a:prstGeom prst="roundRect">
            <a:avLst>
              <a:gd name="adj" fmla="val 10064"/>
            </a:avLst>
          </a:prstGeom>
          <a:solidFill>
            <a:srgbClr val="B4D0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/>
          <p:cNvSpPr/>
          <p:nvPr/>
        </p:nvSpPr>
        <p:spPr>
          <a:xfrm>
            <a:off x="363372" y="2265528"/>
            <a:ext cx="3720152" cy="4227347"/>
          </a:xfrm>
          <a:prstGeom prst="roundRect">
            <a:avLst>
              <a:gd name="adj" fmla="val 10064"/>
            </a:avLst>
          </a:prstGeom>
          <a:solidFill>
            <a:srgbClr val="394F9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: скругленные углы 7"/>
          <p:cNvSpPr/>
          <p:nvPr/>
        </p:nvSpPr>
        <p:spPr>
          <a:xfrm>
            <a:off x="8108476" y="2265528"/>
            <a:ext cx="3720152" cy="4227347"/>
          </a:xfrm>
          <a:prstGeom prst="roundRect">
            <a:avLst>
              <a:gd name="adj" fmla="val 10064"/>
            </a:avLst>
          </a:prstGeom>
          <a:solidFill>
            <a:srgbClr val="142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одзаголовок 2"/>
          <p:cNvSpPr txBox="1"/>
          <p:nvPr/>
        </p:nvSpPr>
        <p:spPr>
          <a:xfrm>
            <a:off x="859093" y="2409735"/>
            <a:ext cx="2728710" cy="360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Существующие аналоги</a:t>
            </a:r>
          </a:p>
        </p:txBody>
      </p:sp>
      <p:sp>
        <p:nvSpPr>
          <p:cNvPr id="10" name="Подзаголовок 2"/>
          <p:cNvSpPr txBox="1"/>
          <p:nvPr/>
        </p:nvSpPr>
        <p:spPr>
          <a:xfrm>
            <a:off x="8399059" y="2409735"/>
            <a:ext cx="3138985" cy="360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Востребованность продукта</a:t>
            </a:r>
          </a:p>
        </p:txBody>
      </p:sp>
      <p:sp>
        <p:nvSpPr>
          <p:cNvPr id="11" name="Подзаголовок 2"/>
          <p:cNvSpPr txBox="1"/>
          <p:nvPr/>
        </p:nvSpPr>
        <p:spPr>
          <a:xfrm>
            <a:off x="4526507" y="2409734"/>
            <a:ext cx="3138985" cy="701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rgbClr val="14243E"/>
                </a:solidFill>
                <a:latin typeface="Involve Medium" panose="020B0502020202020204" pitchFamily="34" charset="0"/>
              </a:rPr>
              <a:t>Конкурентные преимущества продукта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394F9A"/>
                </a:solidFill>
                <a:latin typeface="Cygre ExtraBold" panose="02000803000000000000" pitchFamily="2" charset="-52"/>
                <a:ea typeface="Tahoma" panose="020B0604030504040204" pitchFamily="34" charset="0"/>
                <a:cs typeface="Tahoma" panose="020B0604030504040204" pitchFamily="34" charset="0"/>
              </a:rPr>
              <a:t>Рынок и потребитель</a:t>
            </a: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rgbClr val="394F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09601" y="1782297"/>
            <a:ext cx="8481391" cy="377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6995">
              <a:lnSpc>
                <a:spcPct val="110000"/>
              </a:lnSpc>
            </a:pPr>
            <a:r>
              <a:rPr lang="ru-RU" dirty="0">
                <a:solidFill>
                  <a:srgbClr val="394F9A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Что должно быть на слайде?</a:t>
            </a:r>
          </a:p>
        </p:txBody>
      </p:sp>
      <p:sp>
        <p:nvSpPr>
          <p:cNvPr id="8" name="Прямоугольник: скругленные углы 7"/>
          <p:cNvSpPr/>
          <p:nvPr/>
        </p:nvSpPr>
        <p:spPr>
          <a:xfrm>
            <a:off x="653956" y="2265529"/>
            <a:ext cx="11174672" cy="1325564"/>
          </a:xfrm>
          <a:prstGeom prst="roundRect">
            <a:avLst>
              <a:gd name="adj" fmla="val 18301"/>
            </a:avLst>
          </a:prstGeom>
          <a:solidFill>
            <a:srgbClr val="142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одзаголовок 2"/>
          <p:cNvSpPr txBox="1"/>
          <p:nvPr/>
        </p:nvSpPr>
        <p:spPr>
          <a:xfrm>
            <a:off x="1064525" y="2409735"/>
            <a:ext cx="10473519" cy="360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Область применения продукта проекта</a:t>
            </a:r>
          </a:p>
        </p:txBody>
      </p:sp>
      <p:sp>
        <p:nvSpPr>
          <p:cNvPr id="12" name="Прямоугольник: скругленные углы 11"/>
          <p:cNvSpPr/>
          <p:nvPr/>
        </p:nvSpPr>
        <p:spPr>
          <a:xfrm>
            <a:off x="653956" y="3744182"/>
            <a:ext cx="5442044" cy="2629322"/>
          </a:xfrm>
          <a:prstGeom prst="roundRect">
            <a:avLst>
              <a:gd name="adj" fmla="val 12072"/>
            </a:avLst>
          </a:prstGeom>
          <a:noFill/>
          <a:ln>
            <a:solidFill>
              <a:srgbClr val="9256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одзаголовок 2"/>
          <p:cNvSpPr txBox="1"/>
          <p:nvPr/>
        </p:nvSpPr>
        <p:spPr>
          <a:xfrm>
            <a:off x="838200" y="3884725"/>
            <a:ext cx="5257799" cy="837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rgbClr val="9256F2"/>
                </a:solidFill>
                <a:latin typeface="Involve Medium" panose="020B0502020202020204" pitchFamily="34" charset="0"/>
              </a:rPr>
              <a:t>Рынок, сегмент рынка, потенциальный потребитель</a:t>
            </a:r>
          </a:p>
        </p:txBody>
      </p:sp>
      <p:sp>
        <p:nvSpPr>
          <p:cNvPr id="14" name="Прямоугольник: скругленные углы 13"/>
          <p:cNvSpPr/>
          <p:nvPr/>
        </p:nvSpPr>
        <p:spPr>
          <a:xfrm>
            <a:off x="6386584" y="3744182"/>
            <a:ext cx="5442044" cy="2629322"/>
          </a:xfrm>
          <a:prstGeom prst="roundRect">
            <a:avLst>
              <a:gd name="adj" fmla="val 12072"/>
            </a:avLst>
          </a:prstGeom>
          <a:noFill/>
          <a:ln>
            <a:solidFill>
              <a:srgbClr val="394F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дзаголовок 2"/>
          <p:cNvSpPr txBox="1"/>
          <p:nvPr/>
        </p:nvSpPr>
        <p:spPr>
          <a:xfrm>
            <a:off x="6570829" y="3884725"/>
            <a:ext cx="5257799" cy="837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rgbClr val="394F9A"/>
                </a:solidFill>
                <a:latin typeface="Involve Medium" panose="020B0502020202020204" pitchFamily="34" charset="0"/>
              </a:rPr>
              <a:t>Возможные барьеры для выхода на рынок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64398"/>
            <a:ext cx="9144000" cy="732941"/>
          </a:xfrm>
        </p:spPr>
        <p:txBody>
          <a:bodyPr>
            <a:normAutofit fontScale="90000"/>
          </a:bodyPr>
          <a:lstStyle/>
          <a:p>
            <a:r>
              <a:rPr lang="ru-RU" sz="4400" b="1" dirty="0">
                <a:solidFill>
                  <a:schemeClr val="bg1"/>
                </a:solidFill>
                <a:latin typeface="Cygre ExtraBold" panose="02000803000000000000" pitchFamily="2" charset="-52"/>
                <a:ea typeface="Tahoma" panose="020B0604030504040204" pitchFamily="34" charset="0"/>
                <a:cs typeface="Tahoma" panose="020B0604030504040204" pitchFamily="34" charset="0"/>
              </a:rPr>
              <a:t>Технологичность стартап-проекта</a:t>
            </a: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609601" y="1782297"/>
            <a:ext cx="8481391" cy="377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6995">
              <a:lnSpc>
                <a:spcPct val="110000"/>
              </a:lnSpc>
            </a:pPr>
            <a:r>
              <a:rPr lang="ru-RU" dirty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Что должно быть на слайде?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9600" y="2475183"/>
            <a:ext cx="957162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Ключевая техническая задача 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Ресурсы проекта (имеющиеся и планируемые к привлечению (людские, материалы, оборудование, финансовые и пр.)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Затраты на реализацию проекта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Планы по формированию команды проекта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Планируемый способ получения дохода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64398"/>
            <a:ext cx="9144000" cy="732941"/>
          </a:xfrm>
        </p:spPr>
        <p:txBody>
          <a:bodyPr>
            <a:normAutofit fontScale="90000"/>
          </a:bodyPr>
          <a:lstStyle/>
          <a:p>
            <a:r>
              <a:rPr lang="ru-RU" sz="4400" b="1" dirty="0">
                <a:solidFill>
                  <a:schemeClr val="bg1"/>
                </a:solidFill>
                <a:latin typeface="Cygre ExtraBold" panose="02000803000000000000" pitchFamily="2" charset="-52"/>
                <a:ea typeface="Tahoma" panose="020B0604030504040204" pitchFamily="34" charset="0"/>
                <a:cs typeface="Tahoma" panose="020B0604030504040204" pitchFamily="34" charset="0"/>
              </a:rPr>
              <a:t>Технологичность стартап-проекта</a:t>
            </a:r>
          </a:p>
        </p:txBody>
      </p:sp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609601" y="1782297"/>
            <a:ext cx="8481391" cy="377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6995">
              <a:lnSpc>
                <a:spcPct val="110000"/>
              </a:lnSpc>
            </a:pPr>
            <a:r>
              <a:rPr lang="ru-RU" dirty="0">
                <a:solidFill>
                  <a:schemeClr val="bg1"/>
                </a:solidFill>
                <a:latin typeface="Involve SemiBold" panose="020B0502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Что должно быть на слайде?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9600" y="2475183"/>
            <a:ext cx="9571629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Команда проекта, квалификация и опыт ее членов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Опыт реализации научно-технических, технологических, инновационных и иных проектов по теме заявки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При наличии: участие в программе «Стартап как диплом», участие в образовательных программ в области предпринимательства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Участие в университетских и отраслевых акселераторах, бизнес-инкубаторах и пр.</a:t>
            </a:r>
          </a:p>
          <a:p>
            <a:pPr marL="514350" indent="-514350"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Involve Medium" panose="020B0502020202020204" pitchFamily="34" charset="0"/>
              </a:rPr>
              <a:t>Участие в передовой инженерной школе/ молодежной лаборатории/студенческом конструкторском </a:t>
            </a:r>
            <a:r>
              <a:rPr lang="ru-RU" sz="1600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бюро !!!!!!!!!!</a:t>
            </a:r>
            <a:r>
              <a:rPr lang="ru-RU" sz="1600" b="1" dirty="0" smtClean="0">
                <a:solidFill>
                  <a:schemeClr val="bg1"/>
                </a:solidFill>
                <a:latin typeface="Involve Medium" panose="020B0502020202020204" pitchFamily="34" charset="0"/>
              </a:rPr>
              <a:t>НАПИСАТЬ ПРО ЛАБОРАТОРИЮ РОБОТОТЕХНИКИ</a:t>
            </a:r>
            <a:endParaRPr lang="ru-RU" sz="1600" b="1" dirty="0">
              <a:solidFill>
                <a:schemeClr val="bg1"/>
              </a:solidFill>
              <a:latin typeface="Involve Medium" panose="020B0502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56F2"/>
            </a:gs>
            <a:gs pos="31000">
              <a:srgbClr val="7F46FD"/>
            </a:gs>
            <a:gs pos="90000">
              <a:srgbClr val="394F9A"/>
            </a:gs>
            <a:gs pos="97000">
              <a:srgbClr val="394F9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1459" y="503888"/>
            <a:ext cx="681867" cy="680903"/>
          </a:xfrm>
          <a:prstGeom prst="rect">
            <a:avLst/>
          </a:prstGeom>
        </p:spPr>
      </p:pic>
      <p:sp>
        <p:nvSpPr>
          <p:cNvPr id="4" name="Прямоугольник: скругленные углы 3"/>
          <p:cNvSpPr/>
          <p:nvPr/>
        </p:nvSpPr>
        <p:spPr>
          <a:xfrm>
            <a:off x="238540" y="212035"/>
            <a:ext cx="11714922" cy="6480313"/>
          </a:xfrm>
          <a:prstGeom prst="roundRect">
            <a:avLst>
              <a:gd name="adj" fmla="val 603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0257" y="556222"/>
            <a:ext cx="1224318" cy="57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8756953" y="3633618"/>
            <a:ext cx="1119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14243E"/>
                </a:solidFill>
                <a:latin typeface="Involve SemiBold" panose="020B0502020202020204" pitchFamily="34" charset="0"/>
              </a:rPr>
              <a:t>Логотип</a:t>
            </a:r>
          </a:p>
        </p:txBody>
      </p:sp>
      <p:sp>
        <p:nvSpPr>
          <p:cNvPr id="14" name="Google Shape;178;p9"/>
          <p:cNvSpPr/>
          <p:nvPr/>
        </p:nvSpPr>
        <p:spPr>
          <a:xfrm>
            <a:off x="120361" y="539072"/>
            <a:ext cx="6214303" cy="564182"/>
          </a:xfrm>
          <a:prstGeom prst="roundRect">
            <a:avLst>
              <a:gd name="adj" fmla="val 16667"/>
            </a:avLst>
          </a:prstGeom>
          <a:solidFill>
            <a:srgbClr val="13196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67183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lt1"/>
                </a:solidFill>
                <a:latin typeface="Century Gothic" panose="020B0502020202020204"/>
                <a:ea typeface="Century Gothic" panose="020B0502020202020204"/>
                <a:cs typeface="Century Gothic" panose="020B0502020202020204"/>
                <a:sym typeface="Century Gothic" panose="020B0502020202020204"/>
              </a:rPr>
              <a:t>СПАСИБО ЗА ВНИМАНИЕ!</a:t>
            </a:r>
            <a:endParaRPr sz="2400" b="1" dirty="0">
              <a:solidFill>
                <a:schemeClr val="lt1"/>
              </a:solidFill>
              <a:latin typeface="Century Gothic" panose="020B0502020202020204"/>
              <a:ea typeface="Century Gothic" panose="020B0502020202020204"/>
              <a:cs typeface="Century Gothic" panose="020B0502020202020204"/>
              <a:sym typeface="Century Gothic" panose="020B0502020202020204"/>
            </a:endParaRPr>
          </a:p>
        </p:txBody>
      </p:sp>
      <p:sp>
        <p:nvSpPr>
          <p:cNvPr id="15" name="Google Shape;179;p9"/>
          <p:cNvSpPr/>
          <p:nvPr/>
        </p:nvSpPr>
        <p:spPr>
          <a:xfrm>
            <a:off x="2040256" y="1521787"/>
            <a:ext cx="6965522" cy="655008"/>
          </a:xfrm>
          <a:prstGeom prst="roundRect">
            <a:avLst>
              <a:gd name="adj" fmla="val 50000"/>
            </a:avLst>
          </a:prstGeom>
          <a:solidFill>
            <a:srgbClr val="13196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67183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Century Gothic" panose="020B0502020202020204"/>
                <a:ea typeface="Century Gothic" panose="020B0502020202020204"/>
                <a:cs typeface="Century Gothic" panose="020B0502020202020204"/>
                <a:sym typeface="Century Gothic" panose="020B0502020202020204"/>
              </a:rPr>
              <a:t>Есть вопросы, которые не успели задать?</a:t>
            </a:r>
            <a:endParaRPr sz="1800" b="1" dirty="0">
              <a:solidFill>
                <a:schemeClr val="lt1"/>
              </a:solidFill>
              <a:latin typeface="Century Gothic" panose="020B0502020202020204"/>
              <a:ea typeface="Century Gothic" panose="020B0502020202020204"/>
              <a:cs typeface="Century Gothic" panose="020B0502020202020204"/>
              <a:sym typeface="Century Gothic" panose="020B0502020202020204"/>
            </a:endParaRPr>
          </a:p>
        </p:txBody>
      </p:sp>
      <p:sp>
        <p:nvSpPr>
          <p:cNvPr id="16" name="Google Shape;180;p9"/>
          <p:cNvSpPr/>
          <p:nvPr/>
        </p:nvSpPr>
        <p:spPr>
          <a:xfrm>
            <a:off x="6415947" y="2176795"/>
            <a:ext cx="3776819" cy="655008"/>
          </a:xfrm>
          <a:prstGeom prst="roundRect">
            <a:avLst>
              <a:gd name="adj" fmla="val 50000"/>
            </a:avLst>
          </a:prstGeom>
          <a:solidFill>
            <a:srgbClr val="868F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67183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Century Gothic" panose="020B0502020202020204"/>
                <a:ea typeface="Century Gothic" panose="020B0502020202020204"/>
                <a:cs typeface="Century Gothic" panose="020B0502020202020204"/>
                <a:sym typeface="Century Gothic" panose="020B0502020202020204"/>
              </a:rPr>
              <a:t>Свяжитесь с нами!</a:t>
            </a:r>
            <a:endParaRPr sz="1800" b="1" dirty="0">
              <a:solidFill>
                <a:schemeClr val="lt1"/>
              </a:solidFill>
              <a:latin typeface="Century Gothic" panose="020B0502020202020204"/>
              <a:ea typeface="Century Gothic" panose="020B0502020202020204"/>
              <a:cs typeface="Century Gothic" panose="020B0502020202020204"/>
              <a:sym typeface="Century Gothic" panose="020B0502020202020204"/>
            </a:endParaRPr>
          </a:p>
        </p:txBody>
      </p:sp>
      <p:pic>
        <p:nvPicPr>
          <p:cNvPr id="17" name="Google Shape;182;p9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4710305" y="2913989"/>
            <a:ext cx="3087940" cy="3379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Изображение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335" y="2914170"/>
            <a:ext cx="2879725" cy="2876550"/>
          </a:xfrm>
          <a:prstGeom prst="rect">
            <a:avLst/>
          </a:prstGeom>
        </p:spPr>
      </p:pic>
      <p:pic>
        <p:nvPicPr>
          <p:cNvPr id="20" name="Изображение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9334" y="5770990"/>
            <a:ext cx="2879725" cy="522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8539" y="3372685"/>
            <a:ext cx="447176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00025">
              <a:buFont typeface="Arial" panose="020B0604020202020204" pitchFamily="34" charset="0"/>
              <a:buChar char="•"/>
            </a:pPr>
            <a:r>
              <a:rPr lang="ru-RU" sz="22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Номер заявки</a:t>
            </a:r>
          </a:p>
          <a:p>
            <a:pPr marL="285750" indent="-200025">
              <a:buFont typeface="Arial" panose="020B0604020202020204" pitchFamily="34" charset="0"/>
              <a:buChar char="•"/>
            </a:pPr>
            <a:endParaRPr lang="ru-RU" sz="22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pPr marL="285750" indent="-200025">
              <a:buFont typeface="Arial" panose="020B0604020202020204" pitchFamily="34" charset="0"/>
              <a:buChar char="•"/>
            </a:pPr>
            <a:r>
              <a:rPr lang="ru-RU" sz="22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Польшин Артем Денисович</a:t>
            </a:r>
          </a:p>
          <a:p>
            <a:pPr marL="285750" indent="-200025">
              <a:buFont typeface="Arial" panose="020B0604020202020204" pitchFamily="34" charset="0"/>
              <a:buChar char="•"/>
            </a:pPr>
            <a:endParaRPr lang="ru-RU" sz="22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pPr marL="285750" indent="-200025">
              <a:buFont typeface="Arial" panose="020B0604020202020204" pitchFamily="34" charset="0"/>
              <a:buChar char="•"/>
            </a:pPr>
            <a:r>
              <a:rPr lang="ru-RU" sz="22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8-906-492-62-05</a:t>
            </a:r>
          </a:p>
          <a:p>
            <a:pPr marL="285750" indent="-200025">
              <a:buFont typeface="Arial" panose="020B0604020202020204" pitchFamily="34" charset="0"/>
              <a:buChar char="•"/>
            </a:pPr>
            <a:endParaRPr lang="ru-RU" sz="22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pPr marL="285750" indent="-200025">
              <a:buFont typeface="Arial" panose="020B0604020202020204" pitchFamily="34" charset="0"/>
              <a:buChar char="•"/>
            </a:pPr>
            <a:r>
              <a:rPr lang="ru-RU" sz="22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89064926205</a:t>
            </a:r>
            <a:r>
              <a:rPr lang="en-US" sz="22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a@gmail.com</a:t>
            </a:r>
            <a:endParaRPr lang="ru-RU" sz="2200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344</Words>
  <Application>Microsoft Office PowerPoint</Application>
  <PresentationFormat>Широкоэкранный</PresentationFormat>
  <Paragraphs>55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8" baseType="lpstr">
      <vt:lpstr>Arial</vt:lpstr>
      <vt:lpstr>Calibri</vt:lpstr>
      <vt:lpstr>Calibri Light</vt:lpstr>
      <vt:lpstr>Century Gothic</vt:lpstr>
      <vt:lpstr>Cygre ExtraBold</vt:lpstr>
      <vt:lpstr>Involve Medium</vt:lpstr>
      <vt:lpstr>Involve SemiBold</vt:lpstr>
      <vt:lpstr>NauryzRedKeds</vt:lpstr>
      <vt:lpstr>Tahoma</vt:lpstr>
      <vt:lpstr>Тема Office</vt:lpstr>
      <vt:lpstr>Студенческий стартап </vt:lpstr>
      <vt:lpstr>О продукте</vt:lpstr>
      <vt:lpstr>Технологичность стартап-проекта</vt:lpstr>
      <vt:lpstr>Аналоги и конкуренты</vt:lpstr>
      <vt:lpstr>Рынок и потребитель</vt:lpstr>
      <vt:lpstr>Технологичность стартап-проекта</vt:lpstr>
      <vt:lpstr>Технологичность стартап-проекта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Консультация №1</dc:title>
  <dc:creator>Артём Радченко</dc:creator>
  <cp:lastModifiedBy>user</cp:lastModifiedBy>
  <cp:revision>21</cp:revision>
  <dcterms:created xsi:type="dcterms:W3CDTF">2026-02-12T15:37:00Z</dcterms:created>
  <dcterms:modified xsi:type="dcterms:W3CDTF">2026-03-11T19:59:03Z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7B7741367E084B3399ADB7A88C060550_12</vt:lpwstr>
  </property>
  <property fmtid="{D5CDD505-2E9C-101B-9397-08002B2CF9AE}" pid="3" name="KSOProductBuildVer">
    <vt:lpwstr>1049-12.2.0.23196</vt:lpwstr>
  </property>
</Properties>
</file>