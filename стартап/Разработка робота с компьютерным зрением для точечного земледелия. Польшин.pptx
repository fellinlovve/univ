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4CC0"/>
    <a:srgbClr val="42287C"/>
    <a:srgbClr val="2B1A52"/>
    <a:srgbClr val="6150A0"/>
    <a:srgbClr val="CAC0FC"/>
    <a:srgbClr val="5D71C7"/>
    <a:srgbClr val="7D8FEB"/>
    <a:srgbClr val="714BC5"/>
    <a:srgbClr val="603AB6"/>
    <a:srgbClr val="1A1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35" autoAdjust="0"/>
  </p:normalViewPr>
  <p:slideViewPr>
    <p:cSldViewPr snapToGrid="0">
      <p:cViewPr varScale="1">
        <p:scale>
          <a:sx n="99" d="100"/>
          <a:sy n="99" d="100"/>
        </p:scale>
        <p:origin x="102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76E39-F482-4629-80FF-AE18280773C7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4794B-FE4B-4595-A0EC-A8018C1C29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7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480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035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792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3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5F813E-BC9F-4D84-B47F-8BF9EF788C5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BB86B5-C7D9-460D-BBEC-B819E17DE7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B2B4A7-A51A-49A3-8A1D-BF5E1336FE7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AD02F-5021-4C04-ABF8-ACBABF36B50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C2F2FA-CFE4-4D51-922D-7BA8653BCA3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90763B-8138-49DE-A239-927771690E8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0528A0-8AF9-44BA-B00B-A4950F5D9ED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DA4029-042A-48A5-BE6C-55D9A0EE248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AC63FD-F3CC-4B75-A0B7-8F3854B493E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8C3669-6187-41D7-8709-FCAF2AA347B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0C4F42-F221-49EF-89E9-87AE8DDD437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7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EAC849-112E-49D0-BFCD-47D5E50B5D4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1731960"/>
            <a:ext cx="9143280" cy="991440"/>
          </a:xfrm>
          <a:prstGeom prst="rect">
            <a:avLst/>
          </a:prstGeom>
          <a:noFill/>
          <a:ln w="0">
            <a:noFill/>
          </a:ln>
          <a:effectLst>
            <a:outerShdw blurRad="50800" dist="63500" dir="5400000" algn="ctr" rotWithShape="0">
              <a:schemeClr val="tx1">
                <a:alpha val="63000"/>
              </a:scheme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800" b="0" u="none" strike="noStrike" dirty="0">
                <a:solidFill>
                  <a:srgbClr val="EDEEE8"/>
                </a:solidFill>
                <a:effectLst/>
                <a:uFillTx/>
                <a:latin typeface="Involve Medium"/>
              </a:rPr>
              <a:t>Студенческий стартап </a:t>
            </a:r>
            <a:endParaRPr lang="ru-RU" sz="48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69" name="Скругленный прямоугольник 4"/>
          <p:cNvSpPr/>
          <p:nvPr/>
        </p:nvSpPr>
        <p:spPr>
          <a:xfrm>
            <a:off x="7869780" y="2112840"/>
            <a:ext cx="3198960" cy="571680"/>
          </a:xfrm>
          <a:prstGeom prst="roundRect">
            <a:avLst>
              <a:gd name="adj" fmla="val 50000"/>
            </a:avLst>
          </a:prstGeom>
          <a:solidFill>
            <a:srgbClr val="EDEEE8"/>
          </a:solidFill>
          <a:ln>
            <a:noFill/>
          </a:ln>
          <a:effectLst>
            <a:outerShdw blurRad="50800" dist="50800" dir="5400000" algn="ctr" rotWithShape="0">
              <a:schemeClr val="tx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7933320" y="2173955"/>
            <a:ext cx="3071880" cy="5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394F9A"/>
                </a:solidFill>
                <a:effectLst/>
                <a:uFillTx/>
                <a:latin typeface="Cygre ExtraBold"/>
              </a:rPr>
              <a:t>VII </a:t>
            </a:r>
            <a:r>
              <a:rPr lang="ru-RU" sz="3600" b="0" u="none" strike="noStrike" dirty="0">
                <a:solidFill>
                  <a:srgbClr val="394F9A"/>
                </a:solidFill>
                <a:effectLst/>
                <a:uFillTx/>
                <a:latin typeface="Cygre ExtraBold"/>
              </a:rPr>
              <a:t>очередь</a:t>
            </a:r>
            <a:endParaRPr lang="ru-RU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9"/>
          <p:cNvPicPr/>
          <p:nvPr/>
        </p:nvPicPr>
        <p:blipFill>
          <a:blip r:embed="rId2"/>
          <a:stretch/>
        </p:blipFill>
        <p:spPr>
          <a:xfrm>
            <a:off x="10383840" y="6858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10"/>
          <p:cNvSpPr/>
          <p:nvPr/>
        </p:nvSpPr>
        <p:spPr>
          <a:xfrm>
            <a:off x="914400" y="3315600"/>
            <a:ext cx="9609840" cy="16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370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Номер заявки — СтС-618733.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Создание робота с компьютерным зрением для точечного земледелия.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Польшин Артем Денисович.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Рисунок 1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4060" y="542700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50800" dist="50800" dir="5400000" algn="ctr" rotWithShape="0">
              <a:srgbClr val="42287C"/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u="none" strike="noStrike" dirty="0">
                <a:solidFill>
                  <a:srgbClr val="EDEEE8"/>
                </a:solidFill>
                <a:effectLst/>
                <a:uFillTx/>
                <a:latin typeface="Involve Medium"/>
              </a:rPr>
              <a:t>О продукте</a:t>
            </a:r>
            <a:endParaRPr lang="ru-RU" sz="4000" b="1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76" name="Скругленный прямоугольник 4"/>
          <p:cNvSpPr/>
          <p:nvPr/>
        </p:nvSpPr>
        <p:spPr>
          <a:xfrm>
            <a:off x="588600" y="1928160"/>
            <a:ext cx="546876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62760" y="2498910"/>
            <a:ext cx="5361480" cy="10614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У предпринимателей из области сельского хозяйства высокие материальные и финансовые затраты на обработку почвы и растений, связанные с неэкономным распределением химикатов.</a:t>
            </a:r>
          </a:p>
        </p:txBody>
      </p:sp>
      <p:sp>
        <p:nvSpPr>
          <p:cNvPr id="78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Скругленный прямоугольник 4"/>
          <p:cNvSpPr/>
          <p:nvPr/>
        </p:nvSpPr>
        <p:spPr>
          <a:xfrm>
            <a:off x="770040" y="4745520"/>
            <a:ext cx="10574640" cy="1722960"/>
          </a:xfrm>
          <a:prstGeom prst="roundRect">
            <a:avLst>
              <a:gd name="adj" fmla="val 11350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Скругленный прямоугольник 13"/>
          <p:cNvSpPr/>
          <p:nvPr/>
        </p:nvSpPr>
        <p:spPr>
          <a:xfrm>
            <a:off x="302760" y="161244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7D8FEB"/>
          </a:solidFill>
          <a:ln>
            <a:noFill/>
          </a:ln>
          <a:effectLst>
            <a:outerShdw blurRad="63500" dist="50800" dir="5400000" algn="ctr" rotWithShape="0">
              <a:schemeClr val="tx1"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342540" y="1620483"/>
            <a:ext cx="2850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ПРОБЛЕМА</a:t>
            </a:r>
            <a:r>
              <a:rPr lang="ru-RU" sz="14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ПОТРЕБИТЕЛЯ</a:t>
            </a:r>
            <a:endParaRPr lang="ru-RU" sz="14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2" name="Скругленный прямоугольник 14"/>
          <p:cNvSpPr/>
          <p:nvPr/>
        </p:nvSpPr>
        <p:spPr>
          <a:xfrm>
            <a:off x="6270840" y="1928160"/>
            <a:ext cx="529884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Скругленный прямоугольник 15"/>
          <p:cNvSpPr/>
          <p:nvPr/>
        </p:nvSpPr>
        <p:spPr>
          <a:xfrm>
            <a:off x="8807400" y="162180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AC9CFA"/>
          </a:solidFill>
          <a:ln>
            <a:noFill/>
          </a:ln>
          <a:effectLst>
            <a:outerShdw blurRad="63500" dist="50800" dir="5400000" algn="ctr" rotWithShape="0">
              <a:schemeClr val="tx1"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832960" y="1741899"/>
            <a:ext cx="30319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НАШЕ</a:t>
            </a: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РЕШЕНИЕ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407280" y="2238840"/>
            <a:ext cx="529884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Наш робот поможет фермерам уменьшить затраты на производство продукции, а также ускорить рост и повысить качество культур посредством более точной обработки растений и своевременного выявления симптомов заболеваний при помощи систем искусственного интеллекта и машинного зрения.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918360" y="5989690"/>
            <a:ext cx="7153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На данный момент проектное решение находится на стадии идеи.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918360" y="5100485"/>
            <a:ext cx="101016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</a:t>
            </a:r>
            <a:r>
              <a:rPr lang="ru-RU" sz="1600" b="0" u="none" strike="noStrike" dirty="0" smtClean="0">
                <a:solidFill>
                  <a:schemeClr val="lt1"/>
                </a:solidFill>
                <a:effectLst/>
                <a:uFillTx/>
                <a:latin typeface="Involve Medium"/>
              </a:rPr>
              <a:t>. Хозяйства из данных округов занимают 4 из 10 позиций в списке российских теплиц с наибольшим объёмом производства.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Скругленный прямоугольник 16"/>
          <p:cNvSpPr/>
          <p:nvPr/>
        </p:nvSpPr>
        <p:spPr>
          <a:xfrm>
            <a:off x="3787560" y="4428540"/>
            <a:ext cx="4662720" cy="617040"/>
          </a:xfrm>
          <a:prstGeom prst="roundRect">
            <a:avLst>
              <a:gd name="adj" fmla="val 11350"/>
            </a:avLst>
          </a:prstGeom>
          <a:solidFill>
            <a:srgbClr val="9786FA"/>
          </a:solidFill>
          <a:ln>
            <a:noFill/>
          </a:ln>
          <a:effectLst>
            <a:outerShdw blurRad="63500" dist="50800" dir="5400000" algn="ctr" rotWithShape="0">
              <a:srgbClr val="2B1A52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Прямоугольник 12"/>
          <p:cNvSpPr/>
          <p:nvPr/>
        </p:nvSpPr>
        <p:spPr>
          <a:xfrm>
            <a:off x="4016597" y="4473359"/>
            <a:ext cx="4055323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ОБЛАСТЬ ПРИМЕНЕНИЯ ПРОДУКТА ПРОЕКТА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"/>
          <p:cNvPicPr/>
          <p:nvPr/>
        </p:nvPicPr>
        <p:blipFill>
          <a:blip r:embed="rId2"/>
          <a:stretch/>
        </p:blipFill>
        <p:spPr>
          <a:xfrm>
            <a:off x="10375200" y="7426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3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182149" y="756872"/>
            <a:ext cx="7730981" cy="695368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>
                <a:alpha val="78000"/>
              </a:srgbClr>
            </a:outerShdw>
          </a:effectLst>
        </p:spPr>
        <p:txBody>
          <a:bodyPr lIns="91440" tIns="45720" rIns="91440" bIns="45720" anchor="b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Involve Medium"/>
                <a:ea typeface="+mn-ea"/>
                <a:cs typeface="+mn-cs"/>
              </a:rPr>
              <a:t>Технологичность стартап-проекта</a:t>
            </a:r>
          </a:p>
        </p:txBody>
      </p:sp>
      <p:sp>
        <p:nvSpPr>
          <p:cNvPr id="93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Прямоугольник 93"/>
          <p:cNvSpPr/>
          <p:nvPr/>
        </p:nvSpPr>
        <p:spPr>
          <a:xfrm>
            <a:off x="764280" y="1503576"/>
            <a:ext cx="5343480" cy="1652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1. Техническое решение проекта: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Модель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нейросети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–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err="1" smtClean="0">
                <a:solidFill>
                  <a:srgbClr val="FFFFFF"/>
                </a:solidFill>
                <a:latin typeface="Involve Medium"/>
              </a:rPr>
              <a:t>Датасеты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,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суммарным объемом фотографий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~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14000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Платформа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Raspberry PI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.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Разработанное Программное Обеспечение.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Камера высокого разрешения.</a:t>
            </a:r>
          </a:p>
        </p:txBody>
      </p:sp>
      <p:sp>
        <p:nvSpPr>
          <p:cNvPr id="95" name="Прямоугольник 94"/>
          <p:cNvSpPr/>
          <p:nvPr/>
        </p:nvSpPr>
        <p:spPr>
          <a:xfrm>
            <a:off x="764280" y="3291396"/>
            <a:ext cx="5319360" cy="2260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2. Преимущества выбранного технического решения: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8: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Средняя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точность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определения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- ~97%.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Высокая скорость, обработка объектов в реальном времени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Raspberry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PI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: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Высокое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соотношение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цены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и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качества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простота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освоении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дешевизна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6014472" y="1503576"/>
            <a:ext cx="5311080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3. Имеющийся задел: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Уровень технологической готовности - 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УГТ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1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.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Сформулирована гипотеза, определён командный состав, основные технологии, найдено 6 </a:t>
            </a:r>
            <a:r>
              <a:rPr lang="ru-RU" sz="1500" dirty="0" err="1" smtClean="0">
                <a:solidFill>
                  <a:srgbClr val="FFFFFF"/>
                </a:solidFill>
                <a:latin typeface="Involve Medium"/>
              </a:rPr>
              <a:t>датасетов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,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суммарным объёмом в ~14000 фотографий, определена основная модель используемого искусственного интеллекта.</a:t>
            </a:r>
          </a:p>
          <a:p>
            <a:pPr>
              <a:lnSpc>
                <a:spcPct val="100000"/>
              </a:lnSpc>
            </a:pP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014520" y="3291396"/>
            <a:ext cx="5561280" cy="3214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4. Соответствие направлению национального проекта технологического лидерства «Автономная (беспилотная) самоходная техника, прицепное и навесное оборудование к ней»: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Создание отечественного беспилотного робота с подключаемыми к нему модулями для персонализации под конкретные нужды и оптимизации финансовых и материальных расходов на обработку почвы и растений путём точечной обработки, а также повышения количества и качества выпускаемой тепличными комплексами продукции. Такой робот будет заменять зарубежные аналоги, что укрепит технологический суверенитет страны.</a:t>
            </a:r>
          </a:p>
        </p:txBody>
      </p:sp>
      <p:pic>
        <p:nvPicPr>
          <p:cNvPr id="98" name="Picture 2"/>
          <p:cNvPicPr/>
          <p:nvPr/>
        </p:nvPicPr>
        <p:blipFill>
          <a:blip r:embed="rId3"/>
          <a:stretch/>
        </p:blipFill>
        <p:spPr>
          <a:xfrm>
            <a:off x="1035216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Рисунок 2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39996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20619" y="488027"/>
            <a:ext cx="10514880" cy="9518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chemeClr val="tx1">
                <a:alpha val="36000"/>
              </a:scheme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b="1" dirty="0">
                <a:solidFill>
                  <a:srgbClr val="604AD1"/>
                </a:solidFill>
                <a:latin typeface="Involve Medium"/>
              </a:rPr>
              <a:t>Аналоги и </a:t>
            </a:r>
            <a:r>
              <a:rPr lang="ru-RU" b="1" u="none" strike="noStrike" dirty="0">
                <a:solidFill>
                  <a:srgbClr val="604AD1"/>
                </a:solidFill>
                <a:effectLst/>
                <a:uFillTx/>
                <a:latin typeface="Involve Medium"/>
              </a:rPr>
              <a:t>конкуренты</a:t>
            </a:r>
            <a:endParaRPr lang="ru-RU" b="0" u="none" strike="noStrike" dirty="0">
              <a:solidFill>
                <a:srgbClr val="604AD1"/>
              </a:solidFill>
              <a:effectLst/>
              <a:uFillTx/>
              <a:latin typeface="Involve Medium"/>
            </a:endParaRPr>
          </a:p>
        </p:txBody>
      </p:sp>
      <p:sp>
        <p:nvSpPr>
          <p:cNvPr id="10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Прямоугольник: скругленные углы 5"/>
          <p:cNvSpPr/>
          <p:nvPr/>
        </p:nvSpPr>
        <p:spPr>
          <a:xfrm>
            <a:off x="508679" y="1919366"/>
            <a:ext cx="3436560" cy="4532899"/>
          </a:xfrm>
          <a:prstGeom prst="roundRect">
            <a:avLst>
              <a:gd name="adj" fmla="val 10064"/>
            </a:avLst>
          </a:prstGeom>
          <a:solidFill>
            <a:srgbClr val="4D4CB6"/>
          </a:solidFill>
          <a:ln>
            <a:noFill/>
          </a:ln>
          <a:effectLst>
            <a:outerShdw blurRad="63500" dist="50800" dir="852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Прямоугольник: скругленные углы 6"/>
          <p:cNvSpPr/>
          <p:nvPr/>
        </p:nvSpPr>
        <p:spPr>
          <a:xfrm>
            <a:off x="4377720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6C48E2"/>
          </a:solidFill>
          <a:ln>
            <a:noFill/>
          </a:ln>
          <a:effectLst>
            <a:outerShdw blurRad="63500" dist="50800" dir="840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Прямоугольник: скругленные углы 7"/>
          <p:cNvSpPr/>
          <p:nvPr/>
        </p:nvSpPr>
        <p:spPr>
          <a:xfrm>
            <a:off x="8246422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884DF8"/>
          </a:solidFill>
          <a:ln>
            <a:noFill/>
          </a:ln>
          <a:effectLst>
            <a:outerShdw blurRad="63500" dist="50800" dir="840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Подзаголовок 2"/>
          <p:cNvSpPr/>
          <p:nvPr/>
        </p:nvSpPr>
        <p:spPr>
          <a:xfrm>
            <a:off x="508679" y="2121549"/>
            <a:ext cx="3436560" cy="344568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Существующие аналоги</a:t>
            </a:r>
            <a:endParaRPr lang="ru-RU" sz="20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06" name="Подзаголовок 2"/>
          <p:cNvSpPr/>
          <p:nvPr/>
        </p:nvSpPr>
        <p:spPr>
          <a:xfrm>
            <a:off x="8299884" y="2113833"/>
            <a:ext cx="3329635" cy="36000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dirty="0" smtClean="0">
                <a:solidFill>
                  <a:schemeClr val="bg1"/>
                </a:solidFill>
                <a:latin typeface="Involve Medium"/>
              </a:rPr>
              <a:t>Востребованность продукта</a:t>
            </a:r>
            <a:endParaRPr lang="ru-RU" sz="2000" b="1" dirty="0">
              <a:solidFill>
                <a:schemeClr val="bg1"/>
              </a:solidFill>
              <a:latin typeface="Involve Medium"/>
            </a:endParaRPr>
          </a:p>
        </p:txBody>
      </p:sp>
      <p:sp>
        <p:nvSpPr>
          <p:cNvPr id="107" name="Подзаголовок 2"/>
          <p:cNvSpPr/>
          <p:nvPr/>
        </p:nvSpPr>
        <p:spPr>
          <a:xfrm>
            <a:off x="4377380" y="2093896"/>
            <a:ext cx="3426715" cy="7012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dirty="0">
                <a:solidFill>
                  <a:schemeClr val="bg1"/>
                </a:solidFill>
                <a:latin typeface="Involve Medium"/>
              </a:rPr>
              <a:t>Конкурентные преимущества продукта</a:t>
            </a:r>
          </a:p>
        </p:txBody>
      </p:sp>
      <p:sp>
        <p:nvSpPr>
          <p:cNvPr id="108" name="Прямоугольник 107"/>
          <p:cNvSpPr/>
          <p:nvPr/>
        </p:nvSpPr>
        <p:spPr>
          <a:xfrm>
            <a:off x="562479" y="2592118"/>
            <a:ext cx="3328959" cy="3599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179388" indent="-179388">
              <a:lnSpc>
                <a:spcPct val="100000"/>
              </a:lnSpc>
              <a:buAutoNum type="arabicPeriod"/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Cognitive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pilot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полевых тракторов, требующих оператора; Сдача в аренду.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2. ООО «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ЭРлаб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»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тепличных и полевых роботов; Сдача в аренду. Blue </a:t>
            </a:r>
            <a:r>
              <a:rPr lang="ru-RU" sz="1200" b="0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Rier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США; Информация в открытых источниках отсутствует в связи с введёнными санкциями;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3.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Naïo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Technologies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Франция; Разработка как тепличных, так и полевых роботов; Сдача в аренду и продажа; Не ведёт торговых отношений с Россией из-за политики компании, а также из-за введённых санкций;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4.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MetaMotion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Израиль; Разработка тепличных и полевых роботов; Продажа заблокирована в связи с санкциями.</a:t>
            </a:r>
          </a:p>
        </p:txBody>
      </p:sp>
      <p:sp>
        <p:nvSpPr>
          <p:cNvPr id="109" name="Прямоугольник 108"/>
          <p:cNvSpPr/>
          <p:nvPr/>
        </p:nvSpPr>
        <p:spPr>
          <a:xfrm>
            <a:off x="4478776" y="2969706"/>
            <a:ext cx="332532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28600" indent="-228600">
              <a:lnSpc>
                <a:spcPct val="100000"/>
              </a:lnSpc>
              <a:buFont typeface="+mj-lt"/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Модульность конструкции позволит персонализировать роботов под конкретные нужды, увеличивая их эффективность;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 </a:t>
            </a: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Экономия ресурсов поможет производителям повысить прибыльность посредством снижения себестоимости продукции, а также снизить цену на свою продукцию, что сможет привлечь большее количество клиентов; </a:t>
            </a:r>
          </a:p>
          <a:p>
            <a:pPr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Возможность покупки продукта в долгосрочной перспективе снизит финансовые затраты на использование роботов.</a:t>
            </a:r>
          </a:p>
        </p:txBody>
      </p:sp>
      <p:sp>
        <p:nvSpPr>
          <p:cNvPr id="110" name="Прямоугольник 109"/>
          <p:cNvSpPr/>
          <p:nvPr/>
        </p:nvSpPr>
        <p:spPr>
          <a:xfrm>
            <a:off x="8395642" y="3153049"/>
            <a:ext cx="3138120" cy="2122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indent="-228600" defTabSz="914400">
              <a:lnSpc>
                <a:spcPct val="100000"/>
              </a:lnSpc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Увеличение количество населения, а также тренды автоматизации процессов неминуемо ведут к развитию сельского хозяйства.</a:t>
            </a:r>
          </a:p>
          <a:p>
            <a:pPr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Кадровый голод: 11% работников младше 40 лет.</a:t>
            </a:r>
          </a:p>
          <a:p>
            <a:pPr marL="179388" indent="-179388"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Увеличение количества выпускаемой продукции невозможно без наращивания производственных мощностей.</a:t>
            </a:r>
          </a:p>
        </p:txBody>
      </p:sp>
      <p:pic>
        <p:nvPicPr>
          <p:cNvPr id="111" name="Picture 3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4"/>
          <p:cNvPicPr/>
          <p:nvPr/>
        </p:nvPicPr>
        <p:blipFill>
          <a:blip r:embed="rId4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490B51-01BB-67E7-178A-789162BBD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39" y="1569853"/>
            <a:ext cx="11120841" cy="45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90560" y="337202"/>
            <a:ext cx="10514880" cy="132480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chemeClr val="tx1">
                <a:alpha val="35000"/>
              </a:scheme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1" u="none" strike="noStrike" dirty="0">
                <a:solidFill>
                  <a:srgbClr val="42287C"/>
                </a:solidFill>
                <a:effectLst/>
                <a:uFillTx/>
                <a:latin typeface="Involve Medium"/>
                <a:ea typeface="Tahoma"/>
              </a:rPr>
              <a:t>Рынок и потребитель</a:t>
            </a:r>
            <a:endParaRPr lang="ru-RU" sz="4400" b="0" u="none" strike="noStrike" dirty="0">
              <a:solidFill>
                <a:srgbClr val="42287C"/>
              </a:solidFill>
              <a:effectLst/>
              <a:uFillTx/>
              <a:latin typeface="Involve Medium"/>
            </a:endParaRPr>
          </a:p>
        </p:txBody>
      </p:sp>
      <p:sp>
        <p:nvSpPr>
          <p:cNvPr id="114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508680" y="1803970"/>
            <a:ext cx="11174040" cy="1324800"/>
            <a:chOff x="508980" y="2083292"/>
            <a:chExt cx="11174040" cy="1324800"/>
          </a:xfrm>
          <a:effectLst>
            <a:outerShdw blurRad="63500" dist="50800" dir="5400000" algn="ctr" rotWithShape="0">
              <a:srgbClr val="6150A0"/>
            </a:outerShdw>
          </a:effectLst>
        </p:grpSpPr>
        <p:sp>
          <p:nvSpPr>
            <p:cNvPr id="115" name="Прямоугольник: скругленные углы 7"/>
            <p:cNvSpPr/>
            <p:nvPr/>
          </p:nvSpPr>
          <p:spPr>
            <a:xfrm>
              <a:off x="508980" y="2083292"/>
              <a:ext cx="11174040" cy="1324800"/>
            </a:xfrm>
            <a:prstGeom prst="roundRect">
              <a:avLst>
                <a:gd name="adj" fmla="val 18301"/>
              </a:avLst>
            </a:prstGeom>
            <a:solidFill>
              <a:srgbClr val="4228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" name="Подзаголовок 2"/>
            <p:cNvSpPr/>
            <p:nvPr/>
          </p:nvSpPr>
          <p:spPr>
            <a:xfrm>
              <a:off x="854418" y="2344344"/>
              <a:ext cx="10647720" cy="77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rm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2000" b="0" u="none" strike="noStrike" dirty="0">
                  <a:solidFill>
                    <a:schemeClr val="lt1"/>
                  </a:solidFill>
                  <a:effectLst/>
                  <a:uFillTx/>
                  <a:latin typeface="Involve Medium"/>
                </a:rPr>
  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  </a:r>
              <a:endParaRPr lang="ru-RU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" name="Прямоугольник: скругленные углы 11"/>
          <p:cNvSpPr/>
          <p:nvPr/>
        </p:nvSpPr>
        <p:spPr>
          <a:xfrm>
            <a:off x="52344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Прямоугольник: скругленные углы 13"/>
          <p:cNvSpPr/>
          <p:nvPr/>
        </p:nvSpPr>
        <p:spPr>
          <a:xfrm>
            <a:off x="623808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Прямоугольник 120"/>
          <p:cNvSpPr/>
          <p:nvPr/>
        </p:nvSpPr>
        <p:spPr>
          <a:xfrm>
            <a:off x="642855" y="4248356"/>
            <a:ext cx="48589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Категория бизнеса - средний и малый бизнес, индивидуальные предприниматели с малым объёмом производства;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Отрасль - сельское хозяйство;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Географическое расположение потребителей – Российская федерация;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Сектор рынка - B2B, B2C;</a:t>
            </a:r>
          </a:p>
        </p:txBody>
      </p:sp>
      <p:pic>
        <p:nvPicPr>
          <p:cNvPr id="122" name="Picture 4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5"/>
          <p:cNvPicPr/>
          <p:nvPr/>
        </p:nvPicPr>
        <p:blipFill>
          <a:blip r:embed="rId3"/>
          <a:stretch/>
        </p:blipFill>
        <p:spPr>
          <a:xfrm>
            <a:off x="400320" y="413945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Прямоугольник 123"/>
          <p:cNvSpPr/>
          <p:nvPr/>
        </p:nvSpPr>
        <p:spPr>
          <a:xfrm>
            <a:off x="6460920" y="4262931"/>
            <a:ext cx="49957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производственных мощностей для конвейерного выпуска продукции</a:t>
            </a:r>
            <a:r>
              <a:rPr lang="ru-RU" sz="1700" dirty="0" smtClean="0">
                <a:solidFill>
                  <a:srgbClr val="42287C"/>
                </a:solidFill>
                <a:latin typeface="Involve Medium"/>
              </a:rPr>
              <a:t>.</a:t>
            </a:r>
            <a:endParaRPr lang="en-US" sz="1700" dirty="0" smtClean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клиентской базы</a:t>
            </a:r>
            <a:r>
              <a:rPr lang="ru-RU" sz="1700" dirty="0" smtClean="0">
                <a:solidFill>
                  <a:srgbClr val="42287C"/>
                </a:solidFill>
                <a:latin typeface="Involve Medium"/>
              </a:rPr>
              <a:t>.</a:t>
            </a:r>
            <a:endParaRPr lang="en-US" sz="1700" dirty="0" smtClean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практического опыта предпринимательской деятельности.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76552" y="3431122"/>
            <a:ext cx="4646465" cy="649363"/>
          </a:xfrm>
          <a:prstGeom prst="roundRect">
            <a:avLst/>
          </a:prstGeom>
          <a:solidFill>
            <a:srgbClr val="AC9CFA"/>
          </a:solidFill>
          <a:effectLst>
            <a:outerShdw blurRad="63500" dist="50800" dir="5400000" algn="ctr" rotWithShape="0">
              <a:srgbClr val="6150A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" name="Подзаголовок 2"/>
          <p:cNvSpPr/>
          <p:nvPr/>
        </p:nvSpPr>
        <p:spPr>
          <a:xfrm>
            <a:off x="476373" y="3518078"/>
            <a:ext cx="4562337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u="none" strike="noStrike" dirty="0" smtClean="0">
                <a:solidFill>
                  <a:srgbClr val="2B1A52"/>
                </a:solidFill>
                <a:effectLst/>
                <a:uFillTx/>
                <a:latin typeface="Involve Medium"/>
              </a:rPr>
              <a:t>РЫНОК, СЕГМЕНТ РЫНКА, ПОТЕНЦИАЛЬНЫЙ ПОТРЕБИТЕЛЬ</a:t>
            </a:r>
            <a:endParaRPr lang="ru-RU" sz="1600" b="1" u="none" strike="noStrike" dirty="0">
              <a:solidFill>
                <a:srgbClr val="2B1A52"/>
              </a:solidFill>
              <a:effectLst/>
              <a:uFillTx/>
              <a:latin typeface="Arial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7147213" y="3431122"/>
            <a:ext cx="4698557" cy="645846"/>
          </a:xfrm>
          <a:prstGeom prst="roundRect">
            <a:avLst/>
          </a:prstGeom>
          <a:solidFill>
            <a:srgbClr val="AC9CFA"/>
          </a:solidFill>
          <a:effectLst>
            <a:outerShdw blurRad="63500" dist="50800" dir="5400000" algn="ctr" rotWithShape="0">
              <a:srgbClr val="6150A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дзаголовок 2"/>
          <p:cNvSpPr/>
          <p:nvPr/>
        </p:nvSpPr>
        <p:spPr>
          <a:xfrm>
            <a:off x="7189747" y="3518078"/>
            <a:ext cx="4613486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ru-RU" sz="1600" b="1" u="none" strike="noStrike" dirty="0">
              <a:solidFill>
                <a:srgbClr val="42287C"/>
              </a:solidFill>
              <a:effectLst/>
              <a:uFillTx/>
              <a:latin typeface="Arial"/>
            </a:endParaRPr>
          </a:p>
        </p:txBody>
      </p:sp>
      <p:sp>
        <p:nvSpPr>
          <p:cNvPr id="120" name="Подзаголовок 2"/>
          <p:cNvSpPr/>
          <p:nvPr/>
        </p:nvSpPr>
        <p:spPr>
          <a:xfrm>
            <a:off x="7189747" y="3518544"/>
            <a:ext cx="4386413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dirty="0" smtClean="0">
                <a:solidFill>
                  <a:srgbClr val="2B1A52"/>
                </a:solidFill>
                <a:latin typeface="Involve Medium"/>
              </a:rPr>
              <a:t>ВОЗМОЖНЫЕ БАРЬЕРЫ ДЛЯ ВЫХОДА НА РЫНОК</a:t>
            </a:r>
            <a:endParaRPr lang="ru-RU" sz="1600" b="1" dirty="0">
              <a:solidFill>
                <a:srgbClr val="2B1A52"/>
              </a:solidFill>
              <a:latin typeface="Involve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100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Таблица 133"/>
          <p:cNvGraphicFramePr/>
          <p:nvPr>
            <p:extLst>
              <p:ext uri="{D42A27DB-BD31-4B8C-83A1-F6EECF244321}">
                <p14:modId xmlns:p14="http://schemas.microsoft.com/office/powerpoint/2010/main" val="1077162897"/>
              </p:ext>
            </p:extLst>
          </p:nvPr>
        </p:nvGraphicFramePr>
        <p:xfrm>
          <a:off x="222326" y="2013938"/>
          <a:ext cx="8046602" cy="2233263"/>
        </p:xfrm>
        <a:graphic>
          <a:graphicData uri="http://schemas.openxmlformats.org/drawingml/2006/table">
            <a:tbl>
              <a:tblPr/>
              <a:tblGrid>
                <a:gridCol w="1870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75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 smtClean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2029</a:t>
                      </a:r>
                      <a:endParaRPr lang="ru-RU" sz="1600" b="0" u="none" strike="noStrike" kern="1200" dirty="0">
                        <a:solidFill>
                          <a:srgbClr val="FFFFFF"/>
                        </a:solidFill>
                        <a:effectLst/>
                        <a:uFillTx/>
                        <a:latin typeface="Involve Medium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Конверсия поль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зо</a:t>
                      </a: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вателей</a:t>
                      </a:r>
                      <a:endParaRPr lang="ru-RU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Involve Medium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Средний чек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12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28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Количество продаж в месяц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17,5%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" name="Скругленный прямоугольник 7"/>
          <p:cNvSpPr/>
          <p:nvPr/>
        </p:nvSpPr>
        <p:spPr>
          <a:xfrm>
            <a:off x="-82260" y="637275"/>
            <a:ext cx="6011422" cy="679965"/>
          </a:xfrm>
          <a:prstGeom prst="roundRect">
            <a:avLst>
              <a:gd name="adj" fmla="val 16667"/>
            </a:avLst>
          </a:prstGeom>
          <a:solidFill>
            <a:srgbClr val="2B1A52"/>
          </a:solidFill>
          <a:ln>
            <a:noFill/>
          </a:ln>
          <a:effectLst>
            <a:outerShdw blurRad="63500" dist="50800" dir="5400000" algn="ctr" rotWithShape="0">
              <a:schemeClr val="tx1">
                <a:alpha val="4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513" indent="-401638" defTabSz="914400">
              <a:lnSpc>
                <a:spcPct val="100000"/>
              </a:lnSpc>
            </a:pPr>
            <a:r>
              <a:rPr lang="ru-RU" sz="2400" b="1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ФИНАНСОВАЯ МОДЕЛЬ И РЫНОК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126" name="Текст 2"/>
          <p:cNvSpPr/>
          <p:nvPr/>
        </p:nvSpPr>
        <p:spPr>
          <a:xfrm>
            <a:off x="222326" y="4448768"/>
            <a:ext cx="7781760" cy="20166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В первые месяцы планируется привлекать по одному пользователю, в последующие месяцы это число должно увеличиваться.</a:t>
            </a:r>
          </a:p>
          <a:p>
            <a:pPr defTabSz="914400">
              <a:lnSpc>
                <a:spcPct val="100000"/>
              </a:lnSpc>
              <a:buClr>
                <a:srgbClr val="FFFFFF"/>
              </a:buClr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Среднее кол-во продаж в квартал </a:t>
            </a:r>
            <a:r>
              <a:rPr lang="ru-RU" dirty="0" smtClean="0">
                <a:solidFill>
                  <a:srgbClr val="FFFFFF"/>
                </a:solidFill>
                <a:latin typeface="Involve Medium"/>
              </a:rPr>
              <a:t>– 3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Примерная стоимость робота будет составлять 4млн. руб., следовательно, средний чек составит 12млн. руб.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16F71D4-83AF-3A9C-3C29-8DDD793E0F39}"/>
              </a:ext>
            </a:extLst>
          </p:cNvPr>
          <p:cNvGrpSpPr/>
          <p:nvPr/>
        </p:nvGrpSpPr>
        <p:grpSpPr>
          <a:xfrm>
            <a:off x="8557502" y="1522563"/>
            <a:ext cx="3318600" cy="3260880"/>
            <a:chOff x="8693580" y="1529640"/>
            <a:chExt cx="3318600" cy="3260880"/>
          </a:xfrm>
          <a:effectLst>
            <a:outerShdw blurRad="88900" dist="76200" dir="9600000" algn="ctr" rotWithShape="0">
              <a:schemeClr val="tx1">
                <a:alpha val="48000"/>
              </a:schemeClr>
            </a:outerShdw>
          </a:effectLst>
        </p:grpSpPr>
        <p:sp>
          <p:nvSpPr>
            <p:cNvPr id="127" name="Овал 5"/>
            <p:cNvSpPr/>
            <p:nvPr/>
          </p:nvSpPr>
          <p:spPr>
            <a:xfrm>
              <a:off x="8693580" y="1529640"/>
              <a:ext cx="3244653" cy="3260880"/>
            </a:xfrm>
            <a:prstGeom prst="ellipse">
              <a:avLst/>
            </a:prstGeom>
            <a:solidFill>
              <a:srgbClr val="2B1A52"/>
            </a:solidFill>
            <a:ln>
              <a:gradFill flip="none" rotWithShape="1">
                <a:gsLst>
                  <a:gs pos="0">
                    <a:srgbClr val="CFC2EC"/>
                  </a:gs>
                  <a:gs pos="28000">
                    <a:srgbClr val="8E70D2"/>
                  </a:gs>
                  <a:gs pos="63000">
                    <a:srgbClr val="3C2472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Овал 8"/>
            <p:cNvSpPr/>
            <p:nvPr/>
          </p:nvSpPr>
          <p:spPr>
            <a:xfrm>
              <a:off x="9406546" y="1879257"/>
              <a:ext cx="2605634" cy="2516780"/>
            </a:xfrm>
            <a:prstGeom prst="ellipse">
              <a:avLst/>
            </a:prstGeom>
            <a:solidFill>
              <a:srgbClr val="42287C"/>
            </a:solidFill>
            <a:ln>
              <a:gradFill flip="none" rotWithShape="1">
                <a:gsLst>
                  <a:gs pos="0">
                    <a:srgbClr val="CFC2EC"/>
                  </a:gs>
                  <a:gs pos="40000">
                    <a:srgbClr val="42287C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Овал 10"/>
            <p:cNvSpPr/>
            <p:nvPr/>
          </p:nvSpPr>
          <p:spPr>
            <a:xfrm>
              <a:off x="10065388" y="2192192"/>
              <a:ext cx="1946792" cy="1943043"/>
            </a:xfrm>
            <a:prstGeom prst="ellipse">
              <a:avLst/>
            </a:prstGeom>
            <a:solidFill>
              <a:srgbClr val="603AB6"/>
            </a:solidFill>
            <a:ln>
              <a:gradFill flip="none" rotWithShape="1">
                <a:gsLst>
                  <a:gs pos="0">
                    <a:srgbClr val="CFC2EC"/>
                  </a:gs>
                  <a:gs pos="76000">
                    <a:srgbClr val="603AB6"/>
                  </a:gs>
                  <a:gs pos="48000">
                    <a:srgbClr val="42287C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Box 1"/>
            <p:cNvSpPr/>
            <p:nvPr/>
          </p:nvSpPr>
          <p:spPr>
            <a:xfrm>
              <a:off x="8768084" y="2721729"/>
              <a:ext cx="71764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ТАМ</a:t>
              </a:r>
            </a:p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106,4 млрд. руб.</a:t>
              </a:r>
            </a:p>
          </p:txBody>
        </p:sp>
        <p:sp>
          <p:nvSpPr>
            <p:cNvPr id="131" name="TextBox 15"/>
            <p:cNvSpPr/>
            <p:nvPr/>
          </p:nvSpPr>
          <p:spPr>
            <a:xfrm>
              <a:off x="9506608" y="2721728"/>
              <a:ext cx="62710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SAM </a:t>
              </a:r>
            </a:p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26,6 млрд. руб</a:t>
              </a:r>
              <a:r>
                <a:rPr lang="ru-RU" sz="1050" b="0" u="none" strike="noStrike" dirty="0">
                  <a:solidFill>
                    <a:schemeClr val="lt1"/>
                  </a:solidFill>
                  <a:effectLst/>
                  <a:uFillTx/>
                  <a:latin typeface="Century Gothic"/>
                  <a:ea typeface="Gilroy-Light"/>
                </a:rPr>
                <a:t>.</a:t>
              </a:r>
              <a:endParaRPr lang="ru-RU" sz="10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16"/>
            <p:cNvSpPr/>
            <p:nvPr/>
          </p:nvSpPr>
          <p:spPr>
            <a:xfrm>
              <a:off x="10463132" y="2791475"/>
              <a:ext cx="1151303" cy="73721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SOM </a:t>
              </a:r>
              <a:endParaRPr lang="en-US" sz="1400" dirty="0">
                <a:solidFill>
                  <a:srgbClr val="FFFFFF"/>
                </a:solidFill>
                <a:latin typeface="Involve Medium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ru-RU" sz="1400" dirty="0" smtClean="0">
                  <a:solidFill>
                    <a:srgbClr val="FFFFFF"/>
                  </a:solidFill>
                  <a:latin typeface="Involve Medium"/>
                </a:rPr>
                <a:t>665</a:t>
              </a:r>
              <a:r>
                <a:rPr lang="ru-RU" sz="1400" dirty="0" smtClean="0">
                  <a:solidFill>
                    <a:srgbClr val="FFFFFF"/>
                  </a:solidFill>
                  <a:latin typeface="Involve Medium"/>
                </a:rPr>
                <a:t> </a:t>
              </a: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млн. руб.</a:t>
              </a:r>
            </a:p>
          </p:txBody>
        </p:sp>
      </p:grpSp>
      <p:sp>
        <p:nvSpPr>
          <p:cNvPr id="133" name="TextBox 17"/>
          <p:cNvSpPr/>
          <p:nvPr/>
        </p:nvSpPr>
        <p:spPr>
          <a:xfrm>
            <a:off x="8421424" y="4866470"/>
            <a:ext cx="3516808" cy="1598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/>
            <a:r>
              <a:rPr lang="ru-RU" sz="1400" dirty="0">
                <a:solidFill>
                  <a:srgbClr val="FFFFFF"/>
                </a:solidFill>
                <a:latin typeface="Involve Medium"/>
              </a:rPr>
              <a:t>ТАМ – Российский рынок промышленной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r>
              <a:rPr lang="en-US" sz="1400" dirty="0">
                <a:solidFill>
                  <a:srgbClr val="FFFFFF"/>
                </a:solidFill>
                <a:latin typeface="Involve Medium"/>
              </a:rPr>
              <a:t>SAM – 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Российский рынок сельскохозяйственной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Involve Medium"/>
              </a:rPr>
              <a:t>SOM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 – </a:t>
            </a:r>
            <a:r>
              <a:rPr lang="ru-RU" sz="1400" dirty="0" smtClean="0">
                <a:solidFill>
                  <a:srgbClr val="FFFFFF"/>
                </a:solidFill>
                <a:latin typeface="Involve Medium"/>
              </a:rPr>
              <a:t>2.5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% планируемого рынка</a:t>
            </a:r>
          </a:p>
        </p:txBody>
      </p:sp>
      <p:pic>
        <p:nvPicPr>
          <p:cNvPr id="135" name="Picture 7"/>
          <p:cNvPicPr/>
          <p:nvPr/>
        </p:nvPicPr>
        <p:blipFill>
          <a:blip r:embed="rId3"/>
          <a:stretch/>
        </p:blipFill>
        <p:spPr>
          <a:xfrm>
            <a:off x="10352880" y="5842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Рисунок 9"/>
          <p:cNvPicPr/>
          <p:nvPr/>
        </p:nvPicPr>
        <p:blipFill>
          <a:blip r:embed="rId4"/>
          <a:stretch/>
        </p:blipFill>
        <p:spPr>
          <a:xfrm>
            <a:off x="8540280" y="259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Заголовок 2"/>
          <p:cNvSpPr/>
          <p:nvPr/>
        </p:nvSpPr>
        <p:spPr>
          <a:xfrm>
            <a:off x="1476360" y="880843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</a:t>
            </a:r>
            <a:r>
              <a:rPr lang="ru-RU" sz="4400" b="1" u="none" strike="noStrike" dirty="0" err="1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стартап</a:t>
            </a: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-проекта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5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Рисунок 7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Прямоугольник 140"/>
          <p:cNvSpPr/>
          <p:nvPr/>
        </p:nvSpPr>
        <p:spPr>
          <a:xfrm>
            <a:off x="461160" y="1662130"/>
            <a:ext cx="5697360" cy="1245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1. Ключевая техническая задача: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полива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химической обработанности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зрелости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заболевание растения.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400320" y="3054447"/>
            <a:ext cx="524736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2. Ресурсы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пециалисты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из области машинного обучения;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пециалисты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из области электроники;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м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ощности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для обучения искусственного интеллекта;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латформа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Raspberry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PI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, сервоприводы, провода;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3D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-принтеры,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PLA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-пластик.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</p:txBody>
      </p:sp>
      <p:sp>
        <p:nvSpPr>
          <p:cNvPr id="143" name="Прямоугольник 142"/>
          <p:cNvSpPr/>
          <p:nvPr/>
        </p:nvSpPr>
        <p:spPr>
          <a:xfrm>
            <a:off x="461160" y="4699647"/>
            <a:ext cx="458892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3. Затраты на реализацию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з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арплата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рабочим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ренда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помещений;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ренда 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серверных мощностей для обучения нейронной сети.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ырьё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для производства.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143"/>
          <p:cNvSpPr/>
          <p:nvPr/>
        </p:nvSpPr>
        <p:spPr>
          <a:xfrm>
            <a:off x="6158520" y="1662130"/>
            <a:ext cx="5515200" cy="2399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4. Планы по формированию команды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 электронике и робототехнике. 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Опыт работы в сфере – от 5 лет. Опыт в реализации </a:t>
            </a:r>
            <a:r>
              <a:rPr lang="ru-RU" sz="1500" b="0" u="none" strike="noStrike" dirty="0" err="1" smtClean="0">
                <a:solidFill>
                  <a:srgbClr val="FFFFFF"/>
                </a:solidFill>
                <a:effectLst/>
                <a:uFillTx/>
                <a:latin typeface="Involve Medium"/>
              </a:rPr>
              <a:t>стартап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-проектов – от 1 года.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Заключение договора ГПХ.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 машинному обучению.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Опыт работы в сфере – от 5 лет. Опыт в реализации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стартап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-проектов – от 1 года.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Заключение договора ГПХ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.</a:t>
            </a: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err="1" smtClean="0">
                <a:solidFill>
                  <a:srgbClr val="FFFFFF"/>
                </a:solidFill>
                <a:latin typeface="Involve Medium"/>
              </a:rPr>
              <a:t>Фулстек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 разработчик.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Опыт работы в сфере – от 5 лет. Опыт в реализации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стартап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-проектов – от 1 года. Заключение договора ГПХ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.</a:t>
            </a:r>
            <a:endParaRPr lang="ru-RU" sz="15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Прямоугольник 144"/>
          <p:cNvSpPr/>
          <p:nvPr/>
        </p:nvSpPr>
        <p:spPr>
          <a:xfrm>
            <a:off x="6171210" y="4189146"/>
            <a:ext cx="5840893" cy="2399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5. </a:t>
            </a:r>
            <a:r>
              <a:rPr lang="ru-RU" sz="1500" b="1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Планируемый способ получения дохода: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Потоки доходов: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Пробный период с возможностью покупки;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Онлайн-платформы;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Прямые продажи.</a:t>
            </a:r>
            <a:endParaRPr lang="ru-RU" sz="1500" b="0" u="none" strike="noStrike" dirty="0" smtClean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Способ выхода на рынок: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Онлайн и офлайн встречи;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Презентация проекта на тематических форумах;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Специальные предложения ( бесплатный пробный период/подарочная лицензия на определенный срок).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Заголовок 3"/>
          <p:cNvSpPr/>
          <p:nvPr/>
        </p:nvSpPr>
        <p:spPr>
          <a:xfrm>
            <a:off x="1476360" y="959067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</a:t>
            </a:r>
            <a:r>
              <a:rPr lang="ru-RU" sz="4400" b="1" u="none" strike="noStrike" dirty="0" err="1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стартап</a:t>
            </a: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-проекта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6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Рисунок 8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Полилиния: фигура 149"/>
          <p:cNvSpPr/>
          <p:nvPr/>
        </p:nvSpPr>
        <p:spPr>
          <a:xfrm>
            <a:off x="573067" y="206760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Прямоугольник 150"/>
          <p:cNvSpPr/>
          <p:nvPr/>
        </p:nvSpPr>
        <p:spPr>
          <a:xfrm>
            <a:off x="850087" y="2117298"/>
            <a:ext cx="2008800" cy="596880"/>
          </a:xfrm>
          <a:prstGeom prst="rect">
            <a:avLst/>
          </a:prstGeom>
          <a:noFill/>
          <a:ln w="0">
            <a:noFill/>
          </a:ln>
          <a:effectLst>
            <a:glow rad="1282700">
              <a:schemeClr val="accent1">
                <a:alpha val="40000"/>
              </a:schemeClr>
            </a:glow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Прямоугольник 151"/>
          <p:cNvSpPr/>
          <p:nvPr/>
        </p:nvSpPr>
        <p:spPr>
          <a:xfrm>
            <a:off x="659827" y="2722485"/>
            <a:ext cx="2389320" cy="30686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траектории развития.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153" name="Полилиния: фигура 152"/>
          <p:cNvSpPr/>
          <p:nvPr/>
        </p:nvSpPr>
        <p:spPr>
          <a:xfrm>
            <a:off x="3405367" y="20510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Полилиния: фигура 153"/>
          <p:cNvSpPr/>
          <p:nvPr/>
        </p:nvSpPr>
        <p:spPr>
          <a:xfrm>
            <a:off x="9090307" y="20546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Полилиния: фигура 154"/>
          <p:cNvSpPr/>
          <p:nvPr/>
        </p:nvSpPr>
        <p:spPr>
          <a:xfrm>
            <a:off x="6269707" y="20510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Прямоугольник 155"/>
          <p:cNvSpPr/>
          <p:nvPr/>
        </p:nvSpPr>
        <p:spPr>
          <a:xfrm>
            <a:off x="3543967" y="2713083"/>
            <a:ext cx="2389320" cy="3107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разработка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датасетов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бизнес-модели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Оформление презентации.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Прямоугольник 156"/>
          <p:cNvSpPr/>
          <p:nvPr/>
        </p:nvSpPr>
        <p:spPr>
          <a:xfrm>
            <a:off x="3696551" y="2117298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Оберемко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Анна Алексеевна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Прямоугольник 157"/>
          <p:cNvSpPr/>
          <p:nvPr/>
        </p:nvSpPr>
        <p:spPr>
          <a:xfrm>
            <a:off x="6408307" y="2708499"/>
            <a:ext cx="2389320" cy="27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платформы для реализации технической части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Заведующий кафедрой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инжиниринга 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IT-решений </a:t>
            </a:r>
            <a:r>
              <a:rPr lang="ru-RU" sz="1100" b="0" u="none" strike="noStrike" dirty="0" err="1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выпускных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квалификционных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 работ, научный руководитель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стартап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-проектов.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Прямоугольник 158"/>
          <p:cNvSpPr/>
          <p:nvPr/>
        </p:nvSpPr>
        <p:spPr>
          <a:xfrm>
            <a:off x="9228907" y="2719707"/>
            <a:ext cx="2389320" cy="154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Преподаватель кафедры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инжиниринга 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IT-решений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6477970" y="2111619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Шлаев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Дмитрий Валерьевич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Прямоугольник 160"/>
          <p:cNvSpPr/>
          <p:nvPr/>
        </p:nvSpPr>
        <p:spPr>
          <a:xfrm>
            <a:off x="9419167" y="2117957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Огур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Максим Геннадьевич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869358" y="5830323"/>
            <a:ext cx="1976065" cy="468936"/>
            <a:chOff x="1520614" y="6164496"/>
            <a:chExt cx="1676366" cy="410400"/>
          </a:xfrm>
          <a:solidFill>
            <a:srgbClr val="2B1A52"/>
          </a:solidFill>
        </p:grpSpPr>
        <p:sp>
          <p:nvSpPr>
            <p:cNvPr id="162" name="Скругленный прямоугольник 1"/>
            <p:cNvSpPr/>
            <p:nvPr/>
          </p:nvSpPr>
          <p:spPr>
            <a:xfrm>
              <a:off x="1700064" y="6164496"/>
              <a:ext cx="1160496" cy="410400"/>
            </a:xfrm>
            <a:prstGeom prst="roundRect">
              <a:avLst>
                <a:gd name="adj" fmla="val 113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" name="Блок-схема: задержка 2"/>
            <p:cNvSpPr/>
            <p:nvPr/>
          </p:nvSpPr>
          <p:spPr>
            <a:xfrm>
              <a:off x="2824128" y="6164496"/>
              <a:ext cx="372852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Блок-схема: задержка 36"/>
            <p:cNvSpPr/>
            <p:nvPr/>
          </p:nvSpPr>
          <p:spPr>
            <a:xfrm flipH="1">
              <a:off x="1520614" y="6164496"/>
              <a:ext cx="372411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128717" y="5908765"/>
            <a:ext cx="1412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FFFFFF"/>
                </a:solidFill>
                <a:latin typeface="Involve Medium"/>
              </a:rPr>
              <a:t>Лидер проекта</a:t>
            </a:r>
            <a:endParaRPr lang="ru-RU" sz="1400" dirty="0">
              <a:solidFill>
                <a:srgbClr val="FFFFFF"/>
              </a:solidFill>
              <a:latin typeface="Involve Medium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3681474" y="5823950"/>
            <a:ext cx="1976065" cy="468936"/>
            <a:chOff x="3683831" y="5936400"/>
            <a:chExt cx="1976065" cy="468936"/>
          </a:xfrm>
        </p:grpSpPr>
        <p:grpSp>
          <p:nvGrpSpPr>
            <p:cNvPr id="48" name="Группа 47"/>
            <p:cNvGrpSpPr/>
            <p:nvPr/>
          </p:nvGrpSpPr>
          <p:grpSpPr>
            <a:xfrm>
              <a:off x="3683831" y="5936400"/>
              <a:ext cx="1976065" cy="468936"/>
              <a:chOff x="1520614" y="6164496"/>
              <a:chExt cx="1676366" cy="410400"/>
            </a:xfrm>
            <a:solidFill>
              <a:srgbClr val="2B1A52"/>
            </a:solidFill>
          </p:grpSpPr>
          <p:sp>
            <p:nvSpPr>
              <p:cNvPr id="49" name="Скругленный прямоугольник 1"/>
              <p:cNvSpPr/>
              <p:nvPr/>
            </p:nvSpPr>
            <p:spPr>
              <a:xfrm>
                <a:off x="1700064" y="6164496"/>
                <a:ext cx="1160496" cy="410400"/>
              </a:xfrm>
              <a:prstGeom prst="roundRect">
                <a:avLst>
                  <a:gd name="adj" fmla="val 113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0" name="Блок-схема: задержка 49"/>
              <p:cNvSpPr/>
              <p:nvPr/>
            </p:nvSpPr>
            <p:spPr>
              <a:xfrm>
                <a:off x="2824128" y="6164496"/>
                <a:ext cx="372852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Блок-схема: задержка 50"/>
              <p:cNvSpPr/>
              <p:nvPr/>
            </p:nvSpPr>
            <p:spPr>
              <a:xfrm flipH="1">
                <a:off x="1520614" y="6164496"/>
                <a:ext cx="372411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165" name="Прямоугольник 164"/>
            <p:cNvSpPr/>
            <p:nvPr/>
          </p:nvSpPr>
          <p:spPr>
            <a:xfrm>
              <a:off x="3837508" y="6017869"/>
              <a:ext cx="1731600" cy="28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400" b="0" u="none" strike="noStrike" dirty="0">
                  <a:solidFill>
                    <a:srgbClr val="FFFFFF"/>
                  </a:solidFill>
                  <a:effectLst/>
                  <a:uFillTx/>
                  <a:latin typeface="Involve Medium"/>
                </a:rPr>
                <a:t>Участник проекта</a:t>
              </a:r>
              <a:endParaRPr lang="ru-RU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6586854" y="5811693"/>
            <a:ext cx="1976065" cy="468936"/>
            <a:chOff x="1520614" y="6164496"/>
            <a:chExt cx="1676366" cy="410400"/>
          </a:xfrm>
          <a:solidFill>
            <a:srgbClr val="2B1A52"/>
          </a:solidFill>
        </p:grpSpPr>
        <p:sp>
          <p:nvSpPr>
            <p:cNvPr id="53" name="Скругленный прямоугольник 1"/>
            <p:cNvSpPr/>
            <p:nvPr/>
          </p:nvSpPr>
          <p:spPr>
            <a:xfrm>
              <a:off x="1700064" y="6164496"/>
              <a:ext cx="1160496" cy="410400"/>
            </a:xfrm>
            <a:prstGeom prst="roundRect">
              <a:avLst>
                <a:gd name="adj" fmla="val 113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4" name="Блок-схема: задержка 53"/>
            <p:cNvSpPr/>
            <p:nvPr/>
          </p:nvSpPr>
          <p:spPr>
            <a:xfrm>
              <a:off x="2824128" y="6164496"/>
              <a:ext cx="372852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Блок-схема: задержка 54"/>
            <p:cNvSpPr/>
            <p:nvPr/>
          </p:nvSpPr>
          <p:spPr>
            <a:xfrm flipH="1">
              <a:off x="1520614" y="6164496"/>
              <a:ext cx="372411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67" name="Прямоугольник 166"/>
          <p:cNvSpPr/>
          <p:nvPr/>
        </p:nvSpPr>
        <p:spPr>
          <a:xfrm>
            <a:off x="6571759" y="5769267"/>
            <a:ext cx="1991160" cy="48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Научный руководитель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Группа 60"/>
          <p:cNvGrpSpPr/>
          <p:nvPr/>
        </p:nvGrpSpPr>
        <p:grpSpPr>
          <a:xfrm>
            <a:off x="9360060" y="5776359"/>
            <a:ext cx="1976065" cy="468936"/>
            <a:chOff x="3683831" y="5936400"/>
            <a:chExt cx="1976065" cy="468936"/>
          </a:xfrm>
        </p:grpSpPr>
        <p:grpSp>
          <p:nvGrpSpPr>
            <p:cNvPr id="62" name="Группа 61"/>
            <p:cNvGrpSpPr/>
            <p:nvPr/>
          </p:nvGrpSpPr>
          <p:grpSpPr>
            <a:xfrm>
              <a:off x="3683831" y="5936400"/>
              <a:ext cx="1976065" cy="468936"/>
              <a:chOff x="1520614" y="6164496"/>
              <a:chExt cx="1676366" cy="410400"/>
            </a:xfrm>
            <a:solidFill>
              <a:srgbClr val="2B1A52"/>
            </a:solidFill>
          </p:grpSpPr>
          <p:sp>
            <p:nvSpPr>
              <p:cNvPr id="64" name="Скругленный прямоугольник 1"/>
              <p:cNvSpPr/>
              <p:nvPr/>
            </p:nvSpPr>
            <p:spPr>
              <a:xfrm>
                <a:off x="1700064" y="6164496"/>
                <a:ext cx="1160496" cy="410400"/>
              </a:xfrm>
              <a:prstGeom prst="roundRect">
                <a:avLst>
                  <a:gd name="adj" fmla="val 113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5" name="Блок-схема: задержка 64"/>
              <p:cNvSpPr/>
              <p:nvPr/>
            </p:nvSpPr>
            <p:spPr>
              <a:xfrm>
                <a:off x="2824128" y="6164496"/>
                <a:ext cx="372852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Блок-схема: задержка 65"/>
              <p:cNvSpPr/>
              <p:nvPr/>
            </p:nvSpPr>
            <p:spPr>
              <a:xfrm flipH="1">
                <a:off x="1520614" y="6164496"/>
                <a:ext cx="372411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63" name="Прямоугольник 62"/>
            <p:cNvSpPr/>
            <p:nvPr/>
          </p:nvSpPr>
          <p:spPr>
            <a:xfrm>
              <a:off x="3819454" y="6020291"/>
              <a:ext cx="1731600" cy="28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400" b="0" u="none" strike="noStrike" dirty="0">
                  <a:solidFill>
                    <a:srgbClr val="FFFFFF"/>
                  </a:solidFill>
                  <a:effectLst/>
                  <a:uFillTx/>
                  <a:latin typeface="Involve Medium"/>
                </a:rPr>
                <a:t>Участник проекта</a:t>
              </a:r>
              <a:endParaRPr lang="ru-RU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ogle Shape;178;p9"/>
          <p:cNvSpPr/>
          <p:nvPr/>
        </p:nvSpPr>
        <p:spPr>
          <a:xfrm>
            <a:off x="120239" y="538920"/>
            <a:ext cx="5731921" cy="563400"/>
          </a:xfrm>
          <a:prstGeom prst="roundRect">
            <a:avLst>
              <a:gd name="adj" fmla="val 16667"/>
            </a:avLst>
          </a:prstGeom>
          <a:solidFill>
            <a:srgbClr val="13196B"/>
          </a:solidFill>
          <a:ln w="0">
            <a:noFill/>
          </a:ln>
          <a:effectLst>
            <a:outerShdw blurRad="63500" dist="76200" dir="8400000" algn="ctr" rotWithShape="0">
              <a:schemeClr val="tx1">
                <a:alpha val="62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513" indent="136525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СПАСИБО ЗА ВНИМАНИЕ!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79;p9"/>
          <p:cNvSpPr/>
          <p:nvPr/>
        </p:nvSpPr>
        <p:spPr>
          <a:xfrm>
            <a:off x="1990959" y="1429200"/>
            <a:ext cx="6964920" cy="654120"/>
          </a:xfrm>
          <a:prstGeom prst="roundRect">
            <a:avLst>
              <a:gd name="adj" fmla="val 50000"/>
            </a:avLst>
          </a:prstGeom>
          <a:solidFill>
            <a:srgbClr val="13196B"/>
          </a:solidFill>
          <a:ln w="0">
            <a:noFill/>
          </a:ln>
          <a:effectLst>
            <a:outerShdw blurRad="63500" dist="50800" dir="8400000" algn="ctr" rotWithShape="0">
              <a:schemeClr val="tx1">
                <a:alpha val="63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Есть вопросы, которые не успели задать?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80;p9"/>
          <p:cNvSpPr/>
          <p:nvPr/>
        </p:nvSpPr>
        <p:spPr>
          <a:xfrm>
            <a:off x="6333840" y="2092500"/>
            <a:ext cx="3776040" cy="654120"/>
          </a:xfrm>
          <a:prstGeom prst="roundRect">
            <a:avLst>
              <a:gd name="adj" fmla="val 50000"/>
            </a:avLst>
          </a:prstGeom>
          <a:solidFill>
            <a:srgbClr val="868FE2"/>
          </a:solidFill>
          <a:ln w="0">
            <a:noFill/>
          </a:ln>
          <a:effectLst>
            <a:outerShdw blurRad="63500" dist="50800" dir="7800000" algn="ctr" rotWithShape="0">
              <a:schemeClr val="tx1">
                <a:alpha val="47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Свяжитесь с нами!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7439417" y="2990614"/>
            <a:ext cx="2878920" cy="3272931"/>
            <a:chOff x="7344227" y="2972938"/>
            <a:chExt cx="2878920" cy="3272931"/>
          </a:xfrm>
          <a:effectLst>
            <a:outerShdw blurRad="63500" dist="101600" dir="7800000" algn="ctr" rotWithShape="0">
              <a:schemeClr val="tx1">
                <a:alpha val="31000"/>
              </a:schemeClr>
            </a:outerShdw>
          </a:effectLst>
        </p:grpSpPr>
        <p:sp>
          <p:nvSpPr>
            <p:cNvPr id="173" name="Прямоугольник 12"/>
            <p:cNvSpPr/>
            <p:nvPr/>
          </p:nvSpPr>
          <p:spPr>
            <a:xfrm>
              <a:off x="7461947" y="3692218"/>
              <a:ext cx="1215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rgbClr val="14243E"/>
                  </a:solidFill>
                  <a:effectLst/>
                  <a:uFillTx/>
                  <a:latin typeface="Involve SemiBold"/>
                </a:rPr>
                <a:t>Логотип</a:t>
              </a:r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8" name="Изображение 10"/>
            <p:cNvPicPr/>
            <p:nvPr/>
          </p:nvPicPr>
          <p:blipFill rotWithShape="1">
            <a:blip r:embed="rId2"/>
            <a:srcRect b="4338"/>
            <a:stretch/>
          </p:blipFill>
          <p:spPr>
            <a:xfrm>
              <a:off x="7344227" y="2972938"/>
              <a:ext cx="2878920" cy="2750931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9" name="Изображение 12"/>
            <p:cNvPicPr/>
            <p:nvPr/>
          </p:nvPicPr>
          <p:blipFill>
            <a:blip r:embed="rId3"/>
            <a:stretch/>
          </p:blipFill>
          <p:spPr>
            <a:xfrm>
              <a:off x="7344227" y="5723869"/>
              <a:ext cx="2878920" cy="5220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0" name="TextBox 4"/>
          <p:cNvSpPr/>
          <p:nvPr/>
        </p:nvSpPr>
        <p:spPr>
          <a:xfrm>
            <a:off x="825821" y="3300480"/>
            <a:ext cx="5161092" cy="256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  <a:ea typeface="Microsoft YaHei"/>
              </a:rPr>
              <a:t>Номер заявки </a:t>
            </a: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  <a:ea typeface="Tahoma"/>
              </a:rPr>
              <a:t>— СтС-618733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8-906-492-62-05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89064926205</a:t>
            </a:r>
            <a:r>
              <a:rPr lang="en-US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a@gmail.com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</TotalTime>
  <Words>1204</Words>
  <Application>Microsoft Office PowerPoint</Application>
  <PresentationFormat>Широкоэкранный</PresentationFormat>
  <Paragraphs>181</Paragraphs>
  <Slides>9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26" baseType="lpstr">
      <vt:lpstr>Microsoft YaHei</vt:lpstr>
      <vt:lpstr>Aptos</vt:lpstr>
      <vt:lpstr>Arial</vt:lpstr>
      <vt:lpstr>Calibri</vt:lpstr>
      <vt:lpstr>Calibri Light</vt:lpstr>
      <vt:lpstr>Century Gothic</vt:lpstr>
      <vt:lpstr>Cygre ExtraBold</vt:lpstr>
      <vt:lpstr>Gilroy-Light</vt:lpstr>
      <vt:lpstr>Involve Medium</vt:lpstr>
      <vt:lpstr>Involve SemiBold</vt:lpstr>
      <vt:lpstr>Jost</vt:lpstr>
      <vt:lpstr>OpenSymbol</vt:lpstr>
      <vt:lpstr>Symbol</vt:lpstr>
      <vt:lpstr>Tahoma</vt:lpstr>
      <vt:lpstr>Times New Roman</vt:lpstr>
      <vt:lpstr>Wingdings</vt:lpstr>
      <vt:lpstr>Тема Office</vt:lpstr>
      <vt:lpstr>Студенческий стартап </vt:lpstr>
      <vt:lpstr>О продукте</vt:lpstr>
      <vt:lpstr>Технологичность стартап-проекта</vt:lpstr>
      <vt:lpstr>Аналоги и конкуренты</vt:lpstr>
      <vt:lpstr>Рынок и потребитель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Консультация №1</dc:title>
  <dc:subject/>
  <dc:creator>Артём Радченко</dc:creator>
  <dc:description/>
  <cp:lastModifiedBy>user</cp:lastModifiedBy>
  <cp:revision>50</cp:revision>
  <dcterms:created xsi:type="dcterms:W3CDTF">2026-02-12T15:37:00Z</dcterms:created>
  <dcterms:modified xsi:type="dcterms:W3CDTF">2026-03-17T18:21:48Z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7B7741367E084B3399ADB7A88C060550_12</vt:lpwstr>
  </property>
  <property fmtid="{D5CDD505-2E9C-101B-9397-08002B2CF9AE}" pid="3" name="KSOProductBuildVer">
    <vt:lpwstr>1049-12.2.0.23196</vt:lpwstr>
  </property>
  <property fmtid="{D5CDD505-2E9C-101B-9397-08002B2CF9AE}" pid="4" name="PresentationFormat">
    <vt:lpwstr>Широкоэкранный</vt:lpwstr>
  </property>
  <property fmtid="{D5CDD505-2E9C-101B-9397-08002B2CF9AE}" pid="5" name="Slides">
    <vt:i4>8</vt:i4>
  </property>
</Properties>
</file>